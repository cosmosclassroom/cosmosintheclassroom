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1"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Lst>
  <p:sldSz cy="6858000" cx="9144000"/>
  <p:notesSz cx="6858000" cy="9144000"/>
  <p:embeddedFontLst>
    <p:embeddedFont>
      <p:font typeface="Cabin"/>
      <p:regular r:id="rId28"/>
      <p:bold r:id="rId29"/>
      <p:italic r:id="rId30"/>
      <p:boldItalic r:id="rId31"/>
    </p:embeddedFont>
    <p:embeddedFont>
      <p:font typeface="Boogaloo"/>
      <p:regular r:id="rId32"/>
    </p:embeddedFont>
    <p:embeddedFont>
      <p:font typeface="Helvetica Neue"/>
      <p:regular r:id="rId33"/>
      <p:bold r:id="rId34"/>
      <p:italic r:id="rId35"/>
      <p:boldItalic r:id="rId36"/>
    </p:embeddedFont>
    <p:embeddedFont>
      <p:font typeface="Open Sans"/>
      <p:regular r:id="rId37"/>
      <p:bold r:id="rId38"/>
      <p:italic r:id="rId39"/>
      <p:boldItalic r:id="rId40"/>
    </p:embeddedFont>
    <p:embeddedFont>
      <p:font typeface="Cabin Condensed"/>
      <p:regular r:id="rId41"/>
      <p:bold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OpenSans-boldItalic.fntdata"/><Relationship Id="rId20" Type="http://schemas.openxmlformats.org/officeDocument/2006/relationships/slide" Target="slides/slide16.xml"/><Relationship Id="rId42" Type="http://schemas.openxmlformats.org/officeDocument/2006/relationships/font" Target="fonts/CabinCondensed-bold.fntdata"/><Relationship Id="rId41" Type="http://schemas.openxmlformats.org/officeDocument/2006/relationships/font" Target="fonts/CabinCondensed-regular.fntdata"/><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font" Target="fonts/Cabin-regular.fntdata"/><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Cabin-bold.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Cabin-boldItalic.fntdata"/><Relationship Id="rId30" Type="http://schemas.openxmlformats.org/officeDocument/2006/relationships/font" Target="fonts/Cabin-italic.fntdata"/><Relationship Id="rId11" Type="http://schemas.openxmlformats.org/officeDocument/2006/relationships/slide" Target="slides/slide7.xml"/><Relationship Id="rId33" Type="http://schemas.openxmlformats.org/officeDocument/2006/relationships/font" Target="fonts/HelveticaNeue-regular.fntdata"/><Relationship Id="rId10" Type="http://schemas.openxmlformats.org/officeDocument/2006/relationships/slide" Target="slides/slide6.xml"/><Relationship Id="rId32" Type="http://schemas.openxmlformats.org/officeDocument/2006/relationships/font" Target="fonts/Boogaloo-regular.fntdata"/><Relationship Id="rId13" Type="http://schemas.openxmlformats.org/officeDocument/2006/relationships/slide" Target="slides/slide9.xml"/><Relationship Id="rId35" Type="http://schemas.openxmlformats.org/officeDocument/2006/relationships/font" Target="fonts/HelveticaNeue-italic.fntdata"/><Relationship Id="rId12" Type="http://schemas.openxmlformats.org/officeDocument/2006/relationships/slide" Target="slides/slide8.xml"/><Relationship Id="rId34" Type="http://schemas.openxmlformats.org/officeDocument/2006/relationships/font" Target="fonts/HelveticaNeue-bold.fntdata"/><Relationship Id="rId15" Type="http://schemas.openxmlformats.org/officeDocument/2006/relationships/slide" Target="slides/slide11.xml"/><Relationship Id="rId37" Type="http://schemas.openxmlformats.org/officeDocument/2006/relationships/font" Target="fonts/OpenSans-regular.fntdata"/><Relationship Id="rId14" Type="http://schemas.openxmlformats.org/officeDocument/2006/relationships/slide" Target="slides/slide10.xml"/><Relationship Id="rId36" Type="http://schemas.openxmlformats.org/officeDocument/2006/relationships/font" Target="fonts/HelveticaNeue-boldItalic.fntdata"/><Relationship Id="rId17" Type="http://schemas.openxmlformats.org/officeDocument/2006/relationships/slide" Target="slides/slide13.xml"/><Relationship Id="rId39" Type="http://schemas.openxmlformats.org/officeDocument/2006/relationships/font" Target="fonts/OpenSans-italic.fntdata"/><Relationship Id="rId16" Type="http://schemas.openxmlformats.org/officeDocument/2006/relationships/slide" Target="slides/slide12.xml"/><Relationship Id="rId38" Type="http://schemas.openxmlformats.org/officeDocument/2006/relationships/font" Target="fonts/OpenSans-bold.fntdata"/><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1pPr>
            <a:lvl2pPr indent="-317500" lvl="1" marL="9144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2pPr>
            <a:lvl3pPr indent="-317500" lvl="2" marL="13716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3pPr>
            <a:lvl4pPr indent="-317500" lvl="3" marL="18288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4pPr>
            <a:lvl5pPr indent="-317500" lvl="4" marL="22860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5pPr>
            <a:lvl6pPr indent="-317500" lvl="5" marL="27432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6pPr>
            <a:lvl7pPr indent="-317500" lvl="6" marL="32004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7pPr>
            <a:lvl8pPr indent="-317500" lvl="7" marL="36576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8pPr>
            <a:lvl9pPr indent="-317500" lvl="8" marL="41148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7" name="Google Shape;67;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rgbClr val="0B0B0B"/>
                </a:solidFill>
                <a:latin typeface="Cabin"/>
                <a:ea typeface="Cabin"/>
                <a:cs typeface="Cabin"/>
                <a:sym typeface="Cabin"/>
              </a:rPr>
              <a:t>Navigate. </a:t>
            </a:r>
            <a:r>
              <a:rPr lang="en">
                <a:solidFill>
                  <a:srgbClr val="0B0B0B"/>
                </a:solidFill>
                <a:latin typeface="Cabin"/>
                <a:ea typeface="Cabin"/>
                <a:cs typeface="Cabin"/>
                <a:sym typeface="Cabin"/>
              </a:rPr>
              <a:t>Display</a:t>
            </a:r>
            <a:r>
              <a:rPr b="1" lang="en">
                <a:solidFill>
                  <a:srgbClr val="0B0B0B"/>
                </a:solidFill>
                <a:latin typeface="Cabin"/>
                <a:ea typeface="Cabin"/>
                <a:cs typeface="Cabin"/>
                <a:sym typeface="Cabin"/>
              </a:rPr>
              <a:t> slide A</a:t>
            </a:r>
            <a:r>
              <a:rPr lang="en">
                <a:solidFill>
                  <a:srgbClr val="0B0B0B"/>
                </a:solidFill>
                <a:latin typeface="Cabin"/>
                <a:ea typeface="Cabin"/>
                <a:cs typeface="Cabin"/>
                <a:sym typeface="Cabin"/>
              </a:rPr>
              <a:t>. Say, </a:t>
            </a:r>
            <a:r>
              <a:rPr i="1" lang="en">
                <a:solidFill>
                  <a:srgbClr val="0B0B0B"/>
                </a:solidFill>
                <a:latin typeface="Cabin"/>
                <a:ea typeface="Cabin"/>
                <a:cs typeface="Cabin"/>
                <a:sym typeface="Cabin"/>
              </a:rPr>
              <a:t>Even when you can’t prevent a collision, braking can help slow your car down some before it collides with another car. How do you predict the speed of your vehicle at the moment of first contact in a collision will affect the outcomes? </a:t>
            </a:r>
            <a:endParaRPr i="1">
              <a:solidFill>
                <a:srgbClr val="0B0B0B"/>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rgbClr val="0B0B0B"/>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rgbClr val="0B0B0B"/>
                </a:solidFill>
                <a:latin typeface="Cabin"/>
                <a:ea typeface="Cabin"/>
                <a:cs typeface="Cabin"/>
                <a:sym typeface="Cabin"/>
              </a:rPr>
              <a:t>Give students half a minute to consider the question on their own and then ask for ideas. Accept all responses. Some anticipated student responses include:</a:t>
            </a:r>
            <a:endParaRPr>
              <a:solidFill>
                <a:srgbClr val="0B0B0B"/>
              </a:solidFill>
              <a:latin typeface="Cabin"/>
              <a:ea typeface="Cabin"/>
              <a:cs typeface="Cabin"/>
              <a:sym typeface="Cabin"/>
            </a:endParaRPr>
          </a:p>
          <a:p>
            <a:pPr indent="-298450" lvl="0" marL="457200" rtl="0" algn="l">
              <a:lnSpc>
                <a:spcPct val="115000"/>
              </a:lnSpc>
              <a:spcBef>
                <a:spcPts val="0"/>
              </a:spcBef>
              <a:spcAft>
                <a:spcPts val="0"/>
              </a:spcAft>
              <a:buClr>
                <a:srgbClr val="0B0B0B"/>
              </a:buClr>
              <a:buSzPts val="1100"/>
              <a:buFont typeface="Cabin"/>
              <a:buChar char="●"/>
            </a:pPr>
            <a:r>
              <a:rPr i="1" lang="en">
                <a:solidFill>
                  <a:srgbClr val="0B0B0B"/>
                </a:solidFill>
                <a:latin typeface="Cabin"/>
                <a:ea typeface="Cabin"/>
                <a:cs typeface="Cabin"/>
                <a:sym typeface="Cabin"/>
              </a:rPr>
              <a:t>It will be more severe if you don’t slow down.</a:t>
            </a:r>
            <a:endParaRPr i="1">
              <a:solidFill>
                <a:srgbClr val="0B0B0B"/>
              </a:solidFill>
              <a:latin typeface="Cabin"/>
              <a:ea typeface="Cabin"/>
              <a:cs typeface="Cabin"/>
              <a:sym typeface="Cabin"/>
            </a:endParaRPr>
          </a:p>
          <a:p>
            <a:pPr indent="-298450" lvl="0" marL="457200" rtl="0" algn="l">
              <a:lnSpc>
                <a:spcPct val="115000"/>
              </a:lnSpc>
              <a:spcBef>
                <a:spcPts val="0"/>
              </a:spcBef>
              <a:spcAft>
                <a:spcPts val="0"/>
              </a:spcAft>
              <a:buClr>
                <a:srgbClr val="0B0B0B"/>
              </a:buClr>
              <a:buSzPts val="1100"/>
              <a:buFont typeface="Cabin"/>
              <a:buChar char="●"/>
            </a:pPr>
            <a:r>
              <a:rPr i="1" lang="en">
                <a:solidFill>
                  <a:srgbClr val="0B0B0B"/>
                </a:solidFill>
                <a:latin typeface="Cabin"/>
                <a:ea typeface="Cabin"/>
                <a:cs typeface="Cabin"/>
                <a:sym typeface="Cabin"/>
              </a:rPr>
              <a:t>There will be more damage to the car if you don’t slow down, and less if you do.</a:t>
            </a:r>
            <a:endParaRPr i="1">
              <a:solidFill>
                <a:srgbClr val="0B0B0B"/>
              </a:solidFill>
              <a:latin typeface="Cabin"/>
              <a:ea typeface="Cabin"/>
              <a:cs typeface="Cabin"/>
              <a:sym typeface="Cabin"/>
            </a:endParaRPr>
          </a:p>
          <a:p>
            <a:pPr indent="-298450" lvl="0" marL="457200" rtl="0" algn="l">
              <a:lnSpc>
                <a:spcPct val="115000"/>
              </a:lnSpc>
              <a:spcBef>
                <a:spcPts val="0"/>
              </a:spcBef>
              <a:spcAft>
                <a:spcPts val="0"/>
              </a:spcAft>
              <a:buClr>
                <a:srgbClr val="0B0B0B"/>
              </a:buClr>
              <a:buSzPts val="1100"/>
              <a:buFont typeface="Cabin"/>
              <a:buChar char="●"/>
            </a:pPr>
            <a:r>
              <a:rPr i="1" lang="en">
                <a:solidFill>
                  <a:srgbClr val="0B0B0B"/>
                </a:solidFill>
                <a:latin typeface="Cabin"/>
                <a:ea typeface="Cabin"/>
                <a:cs typeface="Cabin"/>
                <a:sym typeface="Cabin"/>
              </a:rPr>
              <a:t>There will be a higher chance of injury (or death) to the person the faster you are going.</a:t>
            </a:r>
            <a:endParaRPr i="1">
              <a:solidFill>
                <a:srgbClr val="0B0B0B"/>
              </a:solidFill>
              <a:latin typeface="Cabin"/>
              <a:ea typeface="Cabin"/>
              <a:cs typeface="Cabin"/>
              <a:sym typeface="Cabin"/>
            </a:endParaRPr>
          </a:p>
          <a:p>
            <a:pPr indent="-298450" lvl="0" marL="457200" rtl="0" algn="l">
              <a:lnSpc>
                <a:spcPct val="115000"/>
              </a:lnSpc>
              <a:spcBef>
                <a:spcPts val="0"/>
              </a:spcBef>
              <a:spcAft>
                <a:spcPts val="0"/>
              </a:spcAft>
              <a:buClr>
                <a:srgbClr val="0B0B0B"/>
              </a:buClr>
              <a:buSzPts val="1100"/>
              <a:buFont typeface="Cabin"/>
              <a:buChar char="●"/>
            </a:pPr>
            <a:r>
              <a:rPr i="1" lang="en">
                <a:solidFill>
                  <a:srgbClr val="0B0B0B"/>
                </a:solidFill>
                <a:latin typeface="Cabin"/>
                <a:ea typeface="Cabin"/>
                <a:cs typeface="Cabin"/>
                <a:sym typeface="Cabin"/>
              </a:rPr>
              <a:t>Maybe it depends on how fast the other car is moving too.</a:t>
            </a:r>
            <a:endParaRPr i="1">
              <a:solidFill>
                <a:srgbClr val="0B0B0B"/>
              </a:solidFill>
              <a:latin typeface="Cabin"/>
              <a:ea typeface="Cabin"/>
              <a:cs typeface="Cabin"/>
              <a:sym typeface="Cabin"/>
            </a:endParaRPr>
          </a:p>
          <a:p>
            <a:pPr indent="-298450" lvl="0" marL="457200" rtl="0" algn="l">
              <a:lnSpc>
                <a:spcPct val="115000"/>
              </a:lnSpc>
              <a:spcBef>
                <a:spcPts val="0"/>
              </a:spcBef>
              <a:spcAft>
                <a:spcPts val="0"/>
              </a:spcAft>
              <a:buClr>
                <a:srgbClr val="0B0B0B"/>
              </a:buClr>
              <a:buSzPts val="1100"/>
              <a:buFont typeface="Cabin"/>
              <a:buChar char="●"/>
            </a:pPr>
            <a:r>
              <a:rPr i="1" lang="en">
                <a:solidFill>
                  <a:srgbClr val="0B0B0B"/>
                </a:solidFill>
                <a:latin typeface="Cabin"/>
                <a:ea typeface="Cabin"/>
                <a:cs typeface="Cabin"/>
                <a:sym typeface="Cabin"/>
              </a:rPr>
              <a:t>The car that is moving faster will have more (kinetic) energy and therefore more energy will be transferred to all parts of the system (all car parts and all people).</a:t>
            </a:r>
            <a:endParaRPr i="1">
              <a:solidFill>
                <a:srgbClr val="0B0B0B"/>
              </a:solidFill>
              <a:latin typeface="Cabin"/>
              <a:ea typeface="Cabin"/>
              <a:cs typeface="Cabin"/>
              <a:sym typeface="Cabin"/>
            </a:endParaRPr>
          </a:p>
          <a:p>
            <a:pPr indent="0" lvl="0" marL="457200" rtl="0" algn="l">
              <a:lnSpc>
                <a:spcPct val="115000"/>
              </a:lnSpc>
              <a:spcBef>
                <a:spcPts val="0"/>
              </a:spcBef>
              <a:spcAft>
                <a:spcPts val="0"/>
              </a:spcAft>
              <a:buClr>
                <a:schemeClr val="dk1"/>
              </a:buClr>
              <a:buSzPts val="1100"/>
              <a:buFont typeface="Arial"/>
              <a:buNone/>
            </a:pPr>
            <a:r>
              <a:t/>
            </a:r>
            <a:endParaRPr i="1">
              <a:solidFill>
                <a:srgbClr val="0B0B0B"/>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b="1" lang="en">
                <a:solidFill>
                  <a:srgbClr val="0B0B0B"/>
                </a:solidFill>
                <a:latin typeface="Cabin"/>
                <a:ea typeface="Cabin"/>
                <a:cs typeface="Cabin"/>
                <a:sym typeface="Cabin"/>
              </a:rPr>
              <a:t>Navigate to looking at a scale model of the system</a:t>
            </a:r>
            <a:r>
              <a:rPr lang="en">
                <a:solidFill>
                  <a:srgbClr val="0B0B0B"/>
                </a:solidFill>
                <a:latin typeface="Cabin"/>
                <a:ea typeface="Cabin"/>
                <a:cs typeface="Cabin"/>
                <a:sym typeface="Cabin"/>
              </a:rPr>
              <a:t>. Say,</a:t>
            </a:r>
            <a:r>
              <a:rPr i="1" lang="en">
                <a:solidFill>
                  <a:srgbClr val="0B0B0B"/>
                </a:solidFill>
                <a:latin typeface="Cabin"/>
                <a:ea typeface="Cabin"/>
                <a:cs typeface="Cabin"/>
                <a:sym typeface="Cabin"/>
              </a:rPr>
              <a:t> We can’t use real cars to test out all our ideas. But we can use a model of a system of two cars that has been scaled down. Some people call these carts, because they do not have engines. They have to be pushed, like a shopping cart.</a:t>
            </a:r>
            <a:endParaRPr>
              <a:solidFill>
                <a:schemeClr val="dk1"/>
              </a:solidFill>
              <a:latin typeface="Cabin"/>
              <a:ea typeface="Cabin"/>
              <a:cs typeface="Cabin"/>
              <a:sym typeface="Cabi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7" name="Google Shape;77;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Make initial observations. </a:t>
            </a:r>
            <a:r>
              <a:rPr lang="en">
                <a:solidFill>
                  <a:schemeClr val="dk1"/>
                </a:solidFill>
                <a:latin typeface="Cabin"/>
                <a:ea typeface="Cabin"/>
                <a:cs typeface="Cabin"/>
                <a:sym typeface="Cabin"/>
              </a:rPr>
              <a:t>Display </a:t>
            </a:r>
            <a:r>
              <a:rPr b="1" lang="en">
                <a:solidFill>
                  <a:schemeClr val="dk1"/>
                </a:solidFill>
                <a:latin typeface="Cabin"/>
                <a:ea typeface="Cabin"/>
                <a:cs typeface="Cabin"/>
                <a:sym typeface="Cabin"/>
              </a:rPr>
              <a:t>slide B.</a:t>
            </a:r>
            <a:r>
              <a:rPr lang="en">
                <a:solidFill>
                  <a:schemeClr val="dk1"/>
                </a:solidFill>
                <a:latin typeface="Cabin"/>
                <a:ea typeface="Cabin"/>
                <a:cs typeface="Cabin"/>
                <a:sym typeface="Cabin"/>
              </a:rPr>
              <a:t> Say, </a:t>
            </a:r>
            <a:r>
              <a:rPr i="1" lang="en">
                <a:solidFill>
                  <a:schemeClr val="dk1"/>
                </a:solidFill>
                <a:latin typeface="Cabin"/>
                <a:ea typeface="Cabin"/>
                <a:cs typeface="Cabin"/>
                <a:sym typeface="Cabin"/>
              </a:rPr>
              <a:t>Let’s take a look at a short video showing three different collisions between two carts and see what we notice happening as a result of the collision in each case</a:t>
            </a:r>
            <a:r>
              <a:rPr lang="en">
                <a:solidFill>
                  <a:schemeClr val="dk1"/>
                </a:solidFill>
                <a:latin typeface="Cabin"/>
                <a:ea typeface="Cabin"/>
                <a:cs typeface="Cabin"/>
                <a:sym typeface="Cabin"/>
              </a:rPr>
              <a:t>. Show video. Students may feel that the videos went too quickly. Do not spend time replaying them right now, rather validate students' complaints, and ask them to describe what they noticed happened to the speed of each cart. Take under two minutes for this brief discussion. See the prompts in the teacher guide for support.</a:t>
            </a:r>
            <a:endParaRPr sz="1000">
              <a:solidFill>
                <a:srgbClr val="304852"/>
              </a:solidFill>
              <a:latin typeface="Open Sans"/>
              <a:ea typeface="Open Sans"/>
              <a:cs typeface="Open Sans"/>
              <a:sym typeface="Open San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8" name="Google Shape;88;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rgbClr val="0B0B0B"/>
                </a:solidFill>
                <a:latin typeface="Cabin"/>
                <a:ea typeface="Cabin"/>
                <a:cs typeface="Cabin"/>
                <a:sym typeface="Cabin"/>
              </a:rPr>
              <a:t>Share Initial Explanations. </a:t>
            </a:r>
            <a:r>
              <a:rPr lang="en">
                <a:solidFill>
                  <a:srgbClr val="0B0B0B"/>
                </a:solidFill>
                <a:latin typeface="Cabin"/>
                <a:ea typeface="Cabin"/>
                <a:cs typeface="Cabin"/>
                <a:sym typeface="Cabin"/>
              </a:rPr>
              <a:t>Display </a:t>
            </a:r>
            <a:r>
              <a:rPr b="1" lang="en">
                <a:solidFill>
                  <a:srgbClr val="0B0B0B"/>
                </a:solidFill>
                <a:latin typeface="Cabin"/>
                <a:ea typeface="Cabin"/>
                <a:cs typeface="Cabin"/>
                <a:sym typeface="Cabin"/>
              </a:rPr>
              <a:t>slide C</a:t>
            </a:r>
            <a:r>
              <a:rPr lang="en">
                <a:solidFill>
                  <a:srgbClr val="0B0B0B"/>
                </a:solidFill>
                <a:latin typeface="Cabin"/>
                <a:ea typeface="Cabin"/>
                <a:cs typeface="Cabin"/>
                <a:sym typeface="Cabin"/>
              </a:rPr>
              <a:t>. Give students 1 minute to discuss the question on the side with a partner (in the prompt response table below). After 2 minutes, discuss this question as a class for another 2 minutes to generate a few different initial ideas. </a:t>
            </a:r>
            <a:r>
              <a:rPr lang="en">
                <a:solidFill>
                  <a:schemeClr val="dk1"/>
                </a:solidFill>
                <a:latin typeface="Cabin"/>
                <a:ea typeface="Cabin"/>
                <a:cs typeface="Cabin"/>
                <a:sym typeface="Cabin"/>
              </a:rPr>
              <a:t>See the prompts in the teacher guide for support.</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b="1" lang="en">
                <a:solidFill>
                  <a:srgbClr val="0B0B0B"/>
                </a:solidFill>
                <a:latin typeface="Cabin"/>
                <a:ea typeface="Cabin"/>
                <a:cs typeface="Cabin"/>
                <a:sym typeface="Cabin"/>
              </a:rPr>
              <a:t>Connect to student sense making from their prior unit. </a:t>
            </a:r>
            <a:r>
              <a:rPr lang="en">
                <a:solidFill>
                  <a:srgbClr val="0B0B0B"/>
                </a:solidFill>
                <a:latin typeface="Cabin"/>
                <a:ea typeface="Cabin"/>
                <a:cs typeface="Cabin"/>
                <a:sym typeface="Cabin"/>
              </a:rPr>
              <a:t>Say, </a:t>
            </a:r>
            <a:r>
              <a:rPr i="1" lang="en">
                <a:solidFill>
                  <a:srgbClr val="0B0B0B"/>
                </a:solidFill>
                <a:latin typeface="Cabin"/>
                <a:ea typeface="Cabin"/>
                <a:cs typeface="Cabin"/>
                <a:sym typeface="Cabin"/>
              </a:rPr>
              <a:t>We’ve heard a few different ways we could try to explain what is causing the changes occuring in the system. Many of these are similar to the ways in which we attempted to explain other types of phenomena in our previous unit, [material:pf.n]. In that unit we developed a model that showed how energy transfer from one object/system to another was the result of force interactions. </a:t>
            </a:r>
            <a:endParaRPr i="1">
              <a:solidFill>
                <a:srgbClr val="0B0B0B"/>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i="1">
              <a:solidFill>
                <a:srgbClr val="0B0B0B"/>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b="1" lang="en">
                <a:solidFill>
                  <a:srgbClr val="0B0B0B"/>
                </a:solidFill>
                <a:latin typeface="Cabin"/>
                <a:ea typeface="Cabin"/>
                <a:cs typeface="Cabin"/>
                <a:sym typeface="Cabin"/>
              </a:rPr>
              <a:t>Reference the M-E-F triangle</a:t>
            </a:r>
            <a:r>
              <a:rPr lang="en">
                <a:solidFill>
                  <a:srgbClr val="0B0B0B"/>
                </a:solidFill>
                <a:latin typeface="Cabin"/>
                <a:ea typeface="Cabin"/>
                <a:cs typeface="Cabin"/>
                <a:sym typeface="Cabin"/>
              </a:rPr>
              <a:t> . Remind students that we developed this M-E-F triangle in our prior unit ([material:PF.n]). Ask for a quick show of hands about which perspective might be helpful for thinking about collisions. </a:t>
            </a:r>
            <a:endParaRPr>
              <a:solidFill>
                <a:srgbClr val="0B0B0B"/>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rgbClr val="0B0B0B"/>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b="1" lang="en">
                <a:solidFill>
                  <a:srgbClr val="0B0B0B"/>
                </a:solidFill>
                <a:latin typeface="Cabin"/>
                <a:ea typeface="Cabin"/>
                <a:cs typeface="Cabin"/>
                <a:sym typeface="Cabin"/>
              </a:rPr>
              <a:t>Discuss the time scale over which these interactions appear to be happening. </a:t>
            </a:r>
            <a:r>
              <a:rPr lang="en">
                <a:solidFill>
                  <a:srgbClr val="0B0B0B"/>
                </a:solidFill>
                <a:latin typeface="Cabin"/>
                <a:ea typeface="Cabin"/>
                <a:cs typeface="Cabin"/>
                <a:sym typeface="Cabin"/>
              </a:rPr>
              <a:t>Use the following prompt to elicit student ideas.</a:t>
            </a:r>
            <a:r>
              <a:rPr lang="en">
                <a:solidFill>
                  <a:schemeClr val="dk1"/>
                </a:solidFill>
                <a:latin typeface="Cabin"/>
                <a:ea typeface="Cabin"/>
                <a:cs typeface="Cabin"/>
                <a:sym typeface="Cabin"/>
              </a:rPr>
              <a:t> See the prompts in the teacher guide for support.</a:t>
            </a:r>
            <a:endParaRPr>
              <a:solidFill>
                <a:srgbClr val="0B0B0B"/>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rgbClr val="0B0B0B"/>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rgbClr val="0B0B0B"/>
                </a:solidFill>
                <a:latin typeface="Cabin"/>
                <a:ea typeface="Cabin"/>
                <a:cs typeface="Cabin"/>
                <a:sym typeface="Cabin"/>
              </a:rPr>
              <a:t>Say, </a:t>
            </a:r>
            <a:r>
              <a:rPr i="1" lang="en">
                <a:solidFill>
                  <a:srgbClr val="0B0B0B"/>
                </a:solidFill>
                <a:latin typeface="Cabin"/>
                <a:ea typeface="Cabin"/>
                <a:cs typeface="Cabin"/>
                <a:sym typeface="Cabin"/>
              </a:rPr>
              <a:t>Since we are claiming that the carts make contact for a relatively brief period of time during a collision, let’s consider a forces perspective and think about how the contact forces between the two cars during that time could help explain the outcomes we observed. </a:t>
            </a:r>
            <a:endParaRPr>
              <a:solidFill>
                <a:srgbClr val="0B0B0B"/>
              </a:solidFill>
              <a:latin typeface="Cabin"/>
              <a:ea typeface="Cabin"/>
              <a:cs typeface="Cabin"/>
              <a:sym typeface="Cabi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0" name="Google Shape;100;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Make Predictions.</a:t>
            </a:r>
            <a:r>
              <a:rPr lang="en">
                <a:solidFill>
                  <a:schemeClr val="dk1"/>
                </a:solidFill>
                <a:latin typeface="Cabin"/>
                <a:ea typeface="Cabin"/>
                <a:cs typeface="Cabin"/>
                <a:sym typeface="Cabin"/>
              </a:rPr>
              <a:t> Display </a:t>
            </a:r>
            <a:r>
              <a:rPr b="1" lang="en">
                <a:solidFill>
                  <a:schemeClr val="dk1"/>
                </a:solidFill>
                <a:latin typeface="Cabin"/>
                <a:ea typeface="Cabin"/>
                <a:cs typeface="Cabin"/>
                <a:sym typeface="Cabin"/>
              </a:rPr>
              <a:t>slide D. </a:t>
            </a:r>
            <a:r>
              <a:rPr lang="en">
                <a:solidFill>
                  <a:schemeClr val="dk1"/>
                </a:solidFill>
                <a:latin typeface="Cabin"/>
                <a:ea typeface="Cabin"/>
                <a:cs typeface="Cabin"/>
                <a:sym typeface="Cabin"/>
              </a:rPr>
              <a:t>Say, </a:t>
            </a:r>
            <a:r>
              <a:rPr i="1" lang="en">
                <a:solidFill>
                  <a:schemeClr val="dk1"/>
                </a:solidFill>
                <a:latin typeface="Cabin"/>
                <a:ea typeface="Cabin"/>
                <a:cs typeface="Cabin"/>
                <a:sym typeface="Cabin"/>
              </a:rPr>
              <a:t>Let’s make some predictions about how the forces would compare on both carts during the brief period of time contact occurs during the collision</a:t>
            </a:r>
            <a:r>
              <a:rPr lang="en">
                <a:solidFill>
                  <a:schemeClr val="dk1"/>
                </a:solidFill>
                <a:latin typeface="Cabin"/>
                <a:ea typeface="Cabin"/>
                <a:cs typeface="Cabin"/>
                <a:sym typeface="Cabin"/>
              </a:rPr>
              <a:t>. Read the question for the poll and all four possible responses.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298450" lvl="0" marL="457200" rtl="0" algn="l">
              <a:lnSpc>
                <a:spcPct val="100000"/>
              </a:lnSpc>
              <a:spcBef>
                <a:spcPts val="0"/>
              </a:spcBef>
              <a:spcAft>
                <a:spcPts val="0"/>
              </a:spcAft>
              <a:buClr>
                <a:schemeClr val="dk1"/>
              </a:buClr>
              <a:buSzPts val="1100"/>
              <a:buFont typeface="Cabin"/>
              <a:buAutoNum type="arabicPeriod"/>
            </a:pPr>
            <a:r>
              <a:rPr i="1" lang="en">
                <a:solidFill>
                  <a:schemeClr val="dk1"/>
                </a:solidFill>
                <a:latin typeface="Cabin"/>
                <a:ea typeface="Cabin"/>
                <a:cs typeface="Cabin"/>
                <a:sym typeface="Cabin"/>
              </a:rPr>
              <a:t>Only cart A would be pushed on by the other cart.</a:t>
            </a:r>
            <a:endParaRPr i="1">
              <a:solidFill>
                <a:schemeClr val="dk1"/>
              </a:solidFill>
              <a:latin typeface="Cabin"/>
              <a:ea typeface="Cabin"/>
              <a:cs typeface="Cabin"/>
              <a:sym typeface="Cabin"/>
            </a:endParaRPr>
          </a:p>
          <a:p>
            <a:pPr indent="-298450" lvl="0" marL="457200" rtl="0" algn="l">
              <a:lnSpc>
                <a:spcPct val="100000"/>
              </a:lnSpc>
              <a:spcBef>
                <a:spcPts val="0"/>
              </a:spcBef>
              <a:spcAft>
                <a:spcPts val="0"/>
              </a:spcAft>
              <a:buClr>
                <a:schemeClr val="dk1"/>
              </a:buClr>
              <a:buSzPts val="1100"/>
              <a:buFont typeface="Cabin"/>
              <a:buAutoNum type="arabicPeriod"/>
            </a:pPr>
            <a:r>
              <a:rPr i="1" lang="en">
                <a:solidFill>
                  <a:schemeClr val="dk1"/>
                </a:solidFill>
                <a:latin typeface="Cabin"/>
                <a:ea typeface="Cabin"/>
                <a:cs typeface="Cabin"/>
                <a:sym typeface="Cabin"/>
              </a:rPr>
              <a:t>Only cart B would be pushed on by the other cart</a:t>
            </a:r>
            <a:endParaRPr i="1">
              <a:solidFill>
                <a:schemeClr val="dk1"/>
              </a:solidFill>
              <a:latin typeface="Cabin"/>
              <a:ea typeface="Cabin"/>
              <a:cs typeface="Cabin"/>
              <a:sym typeface="Cabin"/>
            </a:endParaRPr>
          </a:p>
          <a:p>
            <a:pPr indent="-298450" lvl="0" marL="457200" rtl="0" algn="l">
              <a:lnSpc>
                <a:spcPct val="100000"/>
              </a:lnSpc>
              <a:spcBef>
                <a:spcPts val="0"/>
              </a:spcBef>
              <a:spcAft>
                <a:spcPts val="0"/>
              </a:spcAft>
              <a:buClr>
                <a:schemeClr val="dk1"/>
              </a:buClr>
              <a:buSzPts val="1100"/>
              <a:buFont typeface="Cabin"/>
              <a:buAutoNum type="arabicPeriod"/>
            </a:pPr>
            <a:r>
              <a:rPr i="1" lang="en">
                <a:solidFill>
                  <a:schemeClr val="dk1"/>
                </a:solidFill>
                <a:latin typeface="Cabin"/>
                <a:ea typeface="Cabin"/>
                <a:cs typeface="Cabin"/>
                <a:sym typeface="Cabin"/>
              </a:rPr>
              <a:t>Both carts A and B would be pushed on, but the strength of the forces on each would be different. </a:t>
            </a:r>
            <a:endParaRPr i="1">
              <a:solidFill>
                <a:schemeClr val="dk1"/>
              </a:solidFill>
              <a:latin typeface="Cabin"/>
              <a:ea typeface="Cabin"/>
              <a:cs typeface="Cabin"/>
              <a:sym typeface="Cabin"/>
            </a:endParaRPr>
          </a:p>
          <a:p>
            <a:pPr indent="-298450" lvl="0" marL="457200" rtl="0" algn="l">
              <a:lnSpc>
                <a:spcPct val="100000"/>
              </a:lnSpc>
              <a:spcBef>
                <a:spcPts val="0"/>
              </a:spcBef>
              <a:spcAft>
                <a:spcPts val="0"/>
              </a:spcAft>
              <a:buClr>
                <a:schemeClr val="dk1"/>
              </a:buClr>
              <a:buSzPts val="1100"/>
              <a:buFont typeface="Cabin"/>
              <a:buAutoNum type="arabicPeriod"/>
            </a:pPr>
            <a:r>
              <a:rPr i="1" lang="en">
                <a:solidFill>
                  <a:schemeClr val="dk1"/>
                </a:solidFill>
                <a:latin typeface="Cabin"/>
                <a:ea typeface="Cabin"/>
                <a:cs typeface="Cabin"/>
                <a:sym typeface="Cabin"/>
              </a:rPr>
              <a:t>Both carts A and B  would be pushed on, and the strength of the forces on each would be the same. </a:t>
            </a:r>
            <a:endParaRPr i="1">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Give students half a minute to consider what their own response would be on their own. Then take the poll as a class.</a:t>
            </a:r>
            <a:endParaRPr>
              <a:solidFill>
                <a:schemeClr val="dk1"/>
              </a:solidFill>
              <a:latin typeface="Cabin"/>
              <a:ea typeface="Cabin"/>
              <a:cs typeface="Cabin"/>
              <a:sym typeface="Cabin"/>
            </a:endParaRPr>
          </a:p>
          <a:p>
            <a:pPr indent="-298450" lvl="0" marL="457200" rtl="0" algn="l">
              <a:lnSpc>
                <a:spcPct val="100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You will likely find that the majority of responses are either for predictions #3 or #4, though you may also have a few responses for #2. Use the differences in predictions to emphasize that our different thinking on this is interesting, and that this seems like an important area of competing ideas to resolve in order to make progress on the questions on our driving question board. Suggest that we will need to investigate this further in order to get the data we need to resolve this. </a:t>
            </a:r>
            <a:endParaRPr>
              <a:solidFill>
                <a:schemeClr val="dk1"/>
              </a:solidFill>
              <a:latin typeface="Cabin"/>
              <a:ea typeface="Cabin"/>
              <a:cs typeface="Cabin"/>
              <a:sym typeface="Cabin"/>
            </a:endParaRPr>
          </a:p>
          <a:p>
            <a:pPr indent="-298450" lvl="0" marL="457200" rtl="0" algn="l">
              <a:lnSpc>
                <a:spcPct val="100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In the less likely possibility that there is no controversy in predictions, frame the next step as us (as a class) needing to get some evidence to help support our thinking, so we can build evidence based arguments and design solutions related to what we wanted to figure out on our Driving Question Board.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SzPts val="1400"/>
              <a:buNone/>
            </a:pPr>
            <a:r>
              <a:t/>
            </a:r>
            <a:endParaRPr i="1">
              <a:solidFill>
                <a:schemeClr val="dk1"/>
              </a:solidFill>
              <a:latin typeface="Cabin"/>
              <a:ea typeface="Cabin"/>
              <a:cs typeface="Cabin"/>
              <a:sym typeface="Cabin"/>
            </a:endParaRPr>
          </a:p>
          <a:p>
            <a:pPr indent="0" lvl="0" marL="0" rtl="0" algn="l">
              <a:lnSpc>
                <a:spcPct val="100000"/>
              </a:lnSpc>
              <a:spcBef>
                <a:spcPts val="0"/>
              </a:spcBef>
              <a:spcAft>
                <a:spcPts val="0"/>
              </a:spcAft>
              <a:buSzPts val="1400"/>
              <a:buNone/>
            </a:pPr>
            <a:r>
              <a:t/>
            </a:r>
            <a:endParaRPr i="1">
              <a:solidFill>
                <a:schemeClr val="dk1"/>
              </a:solidFill>
              <a:latin typeface="Cabin"/>
              <a:ea typeface="Cabin"/>
              <a:cs typeface="Cabin"/>
              <a:sym typeface="Cabi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1" name="Google Shape;111;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Foreground ideas about scale as a cross-cutting concept. </a:t>
            </a:r>
            <a:r>
              <a:rPr lang="en">
                <a:solidFill>
                  <a:schemeClr val="dk1"/>
                </a:solidFill>
                <a:latin typeface="Cabin"/>
                <a:ea typeface="Cabin"/>
                <a:cs typeface="Cabin"/>
                <a:sym typeface="Cabin"/>
              </a:rPr>
              <a:t>Show </a:t>
            </a:r>
            <a:r>
              <a:rPr b="1" lang="en">
                <a:solidFill>
                  <a:schemeClr val="dk1"/>
                </a:solidFill>
                <a:latin typeface="Cabin"/>
                <a:ea typeface="Cabin"/>
                <a:cs typeface="Cabin"/>
                <a:sym typeface="Cabin"/>
              </a:rPr>
              <a:t>slide E. </a:t>
            </a:r>
            <a:r>
              <a:rPr lang="en">
                <a:solidFill>
                  <a:schemeClr val="dk1"/>
                </a:solidFill>
                <a:latin typeface="Cabin"/>
                <a:ea typeface="Cabin"/>
                <a:cs typeface="Cabin"/>
                <a:sym typeface="Cabin"/>
              </a:rPr>
              <a:t>Say, </a:t>
            </a:r>
            <a:r>
              <a:rPr i="1" lang="en">
                <a:solidFill>
                  <a:schemeClr val="dk1"/>
                </a:solidFill>
                <a:latin typeface="Cabin"/>
                <a:ea typeface="Cabin"/>
                <a:cs typeface="Cabin"/>
                <a:sym typeface="Cabin"/>
              </a:rPr>
              <a:t>In our prior unit, we discovered that if we observe what is happening in a system at a much smaller or much larger scale then we can directly observe, it helped us see different patterns, which then helped us explain cause and effect relationships for what we could see. In this collision cart system we couldn’t see what was happening during the collision, because of the relatively short time scale over which the carts make contact. Let’s learn more about how different sensors were used in this system to collect force measurements during the collision between the two carts and speed of the carts before, during, and after they make contact. </a:t>
            </a:r>
            <a:endParaRPr i="1">
              <a:solidFill>
                <a:schemeClr val="dk1"/>
              </a:solidFill>
              <a:latin typeface="Cabin"/>
              <a:ea typeface="Cabin"/>
              <a:cs typeface="Cabin"/>
              <a:sym typeface="Cabin"/>
            </a:endParaRPr>
          </a:p>
          <a:p>
            <a:pPr indent="0" lvl="0" marL="0" rtl="0" algn="l">
              <a:lnSpc>
                <a:spcPct val="100000"/>
              </a:lnSpc>
              <a:spcBef>
                <a:spcPts val="0"/>
              </a:spcBef>
              <a:spcAft>
                <a:spcPts val="0"/>
              </a:spcAft>
              <a:buSzPts val="1400"/>
              <a:buNone/>
            </a:pPr>
            <a:r>
              <a:t/>
            </a:r>
            <a:endParaRPr i="1">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b="1" lang="en">
                <a:solidFill>
                  <a:srgbClr val="0B0B0B"/>
                </a:solidFill>
                <a:latin typeface="Cabin"/>
                <a:ea typeface="Cabin"/>
                <a:cs typeface="Cabin"/>
                <a:sym typeface="Cabin"/>
              </a:rPr>
              <a:t>Orient to the Detectors Used in the Collision Cart System.</a:t>
            </a:r>
            <a:r>
              <a:rPr lang="en">
                <a:solidFill>
                  <a:srgbClr val="0B0B0B"/>
                </a:solidFill>
                <a:latin typeface="Cabin"/>
                <a:ea typeface="Cabin"/>
                <a:cs typeface="Cabin"/>
                <a:sym typeface="Cabin"/>
              </a:rPr>
              <a:t> Play video. </a:t>
            </a:r>
            <a:endParaRPr i="1">
              <a:solidFill>
                <a:schemeClr val="dk1"/>
              </a:solidFill>
              <a:latin typeface="Cabin"/>
              <a:ea typeface="Cabin"/>
              <a:cs typeface="Cabin"/>
              <a:sym typeface="Cabin"/>
            </a:endParaRPr>
          </a:p>
          <a:p>
            <a:pPr indent="0" lvl="0" marL="0" rtl="0" algn="l">
              <a:lnSpc>
                <a:spcPct val="100000"/>
              </a:lnSpc>
              <a:spcBef>
                <a:spcPts val="0"/>
              </a:spcBef>
              <a:spcAft>
                <a:spcPts val="0"/>
              </a:spcAft>
              <a:buSzPts val="1400"/>
              <a:buNone/>
            </a:pPr>
            <a:r>
              <a:t/>
            </a:r>
            <a:endParaRPr i="1">
              <a:solidFill>
                <a:schemeClr val="dk1"/>
              </a:solidFill>
              <a:latin typeface="Cabin"/>
              <a:ea typeface="Cabin"/>
              <a:cs typeface="Cabin"/>
              <a:sym typeface="Cabi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1" name="Google Shape;121;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b="1" lang="en">
                <a:solidFill>
                  <a:schemeClr val="dk1"/>
                </a:solidFill>
                <a:latin typeface="Cabin"/>
                <a:ea typeface="Cabin"/>
                <a:cs typeface="Cabin"/>
                <a:sym typeface="Cabin"/>
              </a:rPr>
              <a:t>Prepare to analyze data. </a:t>
            </a:r>
            <a:r>
              <a:rPr lang="en">
                <a:solidFill>
                  <a:schemeClr val="dk1"/>
                </a:solidFill>
                <a:latin typeface="Cabin"/>
                <a:ea typeface="Cabin"/>
                <a:cs typeface="Cabin"/>
                <a:sym typeface="Cabin"/>
              </a:rPr>
              <a:t>Show</a:t>
            </a:r>
            <a:r>
              <a:rPr b="1" lang="en">
                <a:solidFill>
                  <a:schemeClr val="dk1"/>
                </a:solidFill>
                <a:latin typeface="Cabin"/>
                <a:ea typeface="Cabin"/>
                <a:cs typeface="Cabin"/>
                <a:sym typeface="Cabin"/>
              </a:rPr>
              <a:t> slide F</a:t>
            </a:r>
            <a:r>
              <a:rPr lang="en">
                <a:solidFill>
                  <a:schemeClr val="dk1"/>
                </a:solidFill>
                <a:latin typeface="Cabin"/>
                <a:ea typeface="Cabin"/>
                <a:cs typeface="Cabin"/>
                <a:sym typeface="Cabin"/>
              </a:rPr>
              <a:t>. Distribute a copy of the handout to each student. Project a digital version of the handout to provide a color reference.</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SzPts val="1400"/>
              <a:buNone/>
            </a:pPr>
            <a:r>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SzPts val="1400"/>
              <a:buNone/>
            </a:pPr>
            <a:r>
              <a:rPr lang="en">
                <a:solidFill>
                  <a:schemeClr val="dk1"/>
                </a:solidFill>
                <a:latin typeface="Cabin"/>
                <a:ea typeface="Cabin"/>
                <a:cs typeface="Cabin"/>
                <a:sym typeface="Cabin"/>
              </a:rPr>
              <a:t>Say, </a:t>
            </a:r>
            <a:r>
              <a:rPr i="1" lang="en">
                <a:solidFill>
                  <a:schemeClr val="dk1"/>
                </a:solidFill>
                <a:latin typeface="Cabin"/>
                <a:ea typeface="Cabin"/>
                <a:cs typeface="Cabin"/>
                <a:sym typeface="Cabin"/>
              </a:rPr>
              <a:t>A smaller section of the graphs you saw being produced by the sensors on the carts in the video for collision A, B, and C are included on your handout. These graphs are all for a 0.8 second period of time that includes the data collected from right before, during, and right after the collisions.</a:t>
            </a:r>
            <a:endParaRPr i="1">
              <a:solidFill>
                <a:schemeClr val="dk1"/>
              </a:solidFill>
              <a:latin typeface="Cabin"/>
              <a:ea typeface="Cabin"/>
              <a:cs typeface="Cabin"/>
              <a:sym typeface="Cabin"/>
            </a:endParaRPr>
          </a:p>
          <a:p>
            <a:pPr indent="0" lvl="0" marL="0" rtl="0" algn="l">
              <a:lnSpc>
                <a:spcPct val="100000"/>
              </a:lnSpc>
              <a:spcBef>
                <a:spcPts val="0"/>
              </a:spcBef>
              <a:spcAft>
                <a:spcPts val="0"/>
              </a:spcAft>
              <a:buSzPts val="1400"/>
              <a:buNone/>
            </a:pPr>
            <a:r>
              <a:t/>
            </a:r>
            <a:endParaRPr i="1">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Analyze Data with a partner using the prompt on slide F. </a:t>
            </a:r>
            <a:r>
              <a:rPr lang="en">
                <a:solidFill>
                  <a:schemeClr val="dk1"/>
                </a:solidFill>
                <a:latin typeface="Cabin"/>
                <a:ea typeface="Cabin"/>
                <a:cs typeface="Cabin"/>
                <a:sym typeface="Cabin"/>
              </a:rPr>
              <a:t>Encourage students to annotate the handout to highlight any pattern they uncover in the data. Give students 7 minutes for this analysis.  </a:t>
            </a:r>
            <a:endParaRPr i="1">
              <a:solidFill>
                <a:schemeClr val="dk1"/>
              </a:solidFill>
              <a:latin typeface="Cabin"/>
              <a:ea typeface="Cabin"/>
              <a:cs typeface="Cabin"/>
              <a:sym typeface="Cabi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3" name="Google Shape;133;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Share patterns noticed as a class.</a:t>
            </a:r>
            <a:r>
              <a:rPr lang="en">
                <a:solidFill>
                  <a:schemeClr val="dk1"/>
                </a:solidFill>
                <a:latin typeface="Cabin"/>
                <a:ea typeface="Cabin"/>
                <a:cs typeface="Cabin"/>
                <a:sym typeface="Cabin"/>
              </a:rPr>
              <a:t> Show</a:t>
            </a:r>
            <a:r>
              <a:rPr b="1" lang="en">
                <a:solidFill>
                  <a:schemeClr val="dk1"/>
                </a:solidFill>
                <a:latin typeface="Cabin"/>
                <a:ea typeface="Cabin"/>
                <a:cs typeface="Cabin"/>
                <a:sym typeface="Cabin"/>
              </a:rPr>
              <a:t> slide G</a:t>
            </a:r>
            <a:r>
              <a:rPr lang="en">
                <a:solidFill>
                  <a:schemeClr val="dk1"/>
                </a:solidFill>
                <a:latin typeface="Cabin"/>
                <a:ea typeface="Cabin"/>
                <a:cs typeface="Cabin"/>
                <a:sym typeface="Cabin"/>
              </a:rPr>
              <a:t>. This slide will orient students to discuss the top row of graphs first.</a:t>
            </a:r>
            <a:endParaRPr>
              <a:solidFill>
                <a:srgbClr val="9900FF"/>
              </a:solidFill>
              <a:latin typeface="Cabin"/>
              <a:ea typeface="Cabin"/>
              <a:cs typeface="Cabin"/>
              <a:sym typeface="Cabin"/>
            </a:endParaRPr>
          </a:p>
          <a:p>
            <a:pPr indent="0" lvl="0" marL="0" rtl="0" algn="l">
              <a:lnSpc>
                <a:spcPct val="100000"/>
              </a:lnSpc>
              <a:spcBef>
                <a:spcPts val="0"/>
              </a:spcBef>
              <a:spcAft>
                <a:spcPts val="0"/>
              </a:spcAft>
              <a:buSzPts val="1400"/>
              <a:buNone/>
            </a:pPr>
            <a:r>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SzPts val="1400"/>
              <a:buNone/>
            </a:pPr>
            <a:r>
              <a:t/>
            </a:r>
            <a:endParaRPr i="1">
              <a:solidFill>
                <a:schemeClr val="dk1"/>
              </a:solidFill>
              <a:latin typeface="Cabin"/>
              <a:ea typeface="Cabin"/>
              <a:cs typeface="Cabin"/>
              <a:sym typeface="Cabin"/>
            </a:endParaRPr>
          </a:p>
          <a:p>
            <a:pPr indent="0" lvl="0" marL="0" rtl="0" algn="l">
              <a:lnSpc>
                <a:spcPct val="100000"/>
              </a:lnSpc>
              <a:spcBef>
                <a:spcPts val="0"/>
              </a:spcBef>
              <a:spcAft>
                <a:spcPts val="0"/>
              </a:spcAft>
              <a:buSzPts val="1400"/>
              <a:buNone/>
            </a:pPr>
            <a:r>
              <a:t/>
            </a:r>
            <a:endParaRPr b="1">
              <a:solidFill>
                <a:schemeClr val="dk1"/>
              </a:solidFill>
              <a:latin typeface="Cabin"/>
              <a:ea typeface="Cabin"/>
              <a:cs typeface="Cabin"/>
              <a:sym typeface="Cabi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5" name="Google Shape;145;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Foreground the opposing values of the forces on each cart. </a:t>
            </a:r>
            <a:r>
              <a:rPr lang="en">
                <a:solidFill>
                  <a:schemeClr val="dk1"/>
                </a:solidFill>
                <a:latin typeface="Cabin"/>
                <a:ea typeface="Cabin"/>
                <a:cs typeface="Cabin"/>
                <a:sym typeface="Cabin"/>
              </a:rPr>
              <a:t>Show </a:t>
            </a:r>
            <a:r>
              <a:rPr b="1" lang="en">
                <a:solidFill>
                  <a:schemeClr val="dk1"/>
                </a:solidFill>
                <a:latin typeface="Cabin"/>
                <a:ea typeface="Cabin"/>
                <a:cs typeface="Cabin"/>
                <a:sym typeface="Cabin"/>
              </a:rPr>
              <a:t>slide H. </a:t>
            </a:r>
            <a:r>
              <a:rPr lang="en">
                <a:solidFill>
                  <a:schemeClr val="dk1"/>
                </a:solidFill>
                <a:latin typeface="Cabin"/>
                <a:ea typeface="Cabin"/>
                <a:cs typeface="Cabin"/>
                <a:sym typeface="Cabin"/>
              </a:rPr>
              <a:t>Say,</a:t>
            </a:r>
            <a:r>
              <a:rPr i="1" lang="en">
                <a:solidFill>
                  <a:schemeClr val="dk1"/>
                </a:solidFill>
                <a:latin typeface="Cabin"/>
                <a:ea typeface="Cabin"/>
                <a:cs typeface="Cabin"/>
                <a:sym typeface="Cabin"/>
              </a:rPr>
              <a:t> we noticed that the force measured on the green cart is negative and the force measured on the blue cart is positive. Turn and talk quickly, what could a negative force mean? </a:t>
            </a:r>
            <a:r>
              <a:rPr lang="en">
                <a:solidFill>
                  <a:schemeClr val="dk1"/>
                </a:solidFill>
                <a:latin typeface="Cabin"/>
                <a:ea typeface="Cabin"/>
                <a:cs typeface="Cabin"/>
                <a:sym typeface="Cabin"/>
              </a:rPr>
              <a:t>Listen in on a couple of conversations.</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i="1">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After no more than a minute, bring back everyone’s attention and say, </a:t>
            </a:r>
            <a:r>
              <a:rPr i="1" lang="en">
                <a:solidFill>
                  <a:schemeClr val="dk1"/>
                </a:solidFill>
                <a:latin typeface="Cabin"/>
                <a:ea typeface="Cabin"/>
                <a:cs typeface="Cabin"/>
                <a:sym typeface="Cabin"/>
              </a:rPr>
              <a:t>I heard some ideas about direction. This difference in sign is related to which direction the force is acting, in other words, what direction the cart is being pushed. The negative sign indicates a force is being applied toward the left, a push to the left, like here  on the green cart, and the positive force is being applied to the right, like this indicating a push to the right on the blue cart. </a:t>
            </a:r>
            <a:endParaRPr i="1">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i="1">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Connect to prior work with forces as vectors. </a:t>
            </a:r>
            <a:r>
              <a:rPr lang="en">
                <a:solidFill>
                  <a:schemeClr val="dk1"/>
                </a:solidFill>
                <a:latin typeface="Cabin"/>
                <a:ea typeface="Cabin"/>
                <a:cs typeface="Cabin"/>
                <a:sym typeface="Cabin"/>
              </a:rPr>
              <a:t>Say</a:t>
            </a:r>
            <a:r>
              <a:rPr i="1" lang="en">
                <a:solidFill>
                  <a:schemeClr val="dk1"/>
                </a:solidFill>
                <a:latin typeface="Cabin"/>
                <a:ea typeface="Cabin"/>
                <a:cs typeface="Cabin"/>
                <a:sym typeface="Cabin"/>
              </a:rPr>
              <a:t>, This sign helps us think about these forces as vectors. We thought about forces as vectors in our prior unit, [material:pf.n], when we paid attention to the direction of forces on an object sliding down an incline,  as well as the relative strength of those forces. Here the positive and negative signs can help us keep track of which direction the force is acting along a single dimension - the horizontal dimension that the track is oriented in. It is totally arbitrary which direction is positive, but we are sticking with the convention that we use in graphing, that to the right is positive, and to the left is negative.</a:t>
            </a:r>
            <a:endParaRPr i="1">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i="1">
              <a:solidFill>
                <a:schemeClr val="dk1"/>
              </a:solidFill>
              <a:latin typeface="Cabin"/>
              <a:ea typeface="Cabin"/>
              <a:cs typeface="Cabin"/>
              <a:sym typeface="Cabin"/>
            </a:endParaRPr>
          </a:p>
          <a:p>
            <a:pPr indent="0" lvl="0" marL="0" rtl="0" algn="l">
              <a:lnSpc>
                <a:spcPct val="100000"/>
              </a:lnSpc>
              <a:spcBef>
                <a:spcPts val="0"/>
              </a:spcBef>
              <a:spcAft>
                <a:spcPts val="0"/>
              </a:spcAft>
              <a:buSzPts val="1400"/>
              <a:buNone/>
            </a:pPr>
            <a:r>
              <a:rPr b="1" lang="en">
                <a:solidFill>
                  <a:schemeClr val="dk1"/>
                </a:solidFill>
                <a:latin typeface="Cabin"/>
                <a:ea typeface="Cabin"/>
                <a:cs typeface="Cabin"/>
                <a:sym typeface="Cabin"/>
              </a:rPr>
              <a:t>Review the word magnitude. </a:t>
            </a:r>
            <a:r>
              <a:rPr lang="en">
                <a:solidFill>
                  <a:schemeClr val="dk1"/>
                </a:solidFill>
                <a:latin typeface="Cabin"/>
                <a:ea typeface="Cabin"/>
                <a:cs typeface="Cabin"/>
                <a:sym typeface="Cabin"/>
              </a:rPr>
              <a:t>Say, </a:t>
            </a:r>
            <a:r>
              <a:rPr i="1" lang="en">
                <a:solidFill>
                  <a:schemeClr val="dk1"/>
                </a:solidFill>
                <a:latin typeface="Cabin"/>
                <a:ea typeface="Cabin"/>
                <a:cs typeface="Cabin"/>
                <a:sym typeface="Cabin"/>
              </a:rPr>
              <a:t>When scientists compare the relative strength of forces without being concerned about the direction they are in, they will ignore the negative and positive sign associated with the force, and just compare its absolute value. When they compare the absolute value of the force, they refer to that as the magnitude of the force. </a:t>
            </a:r>
            <a:endParaRPr i="1">
              <a:solidFill>
                <a:schemeClr val="dk1"/>
              </a:solidFill>
              <a:latin typeface="Cabin"/>
              <a:ea typeface="Cabin"/>
              <a:cs typeface="Cabin"/>
              <a:sym typeface="Cabin"/>
            </a:endParaRPr>
          </a:p>
          <a:p>
            <a:pPr indent="0" lvl="0" marL="0" rtl="0" algn="l">
              <a:lnSpc>
                <a:spcPct val="100000"/>
              </a:lnSpc>
              <a:spcBef>
                <a:spcPts val="0"/>
              </a:spcBef>
              <a:spcAft>
                <a:spcPts val="0"/>
              </a:spcAft>
              <a:buSzPts val="1400"/>
              <a:buNone/>
            </a:pPr>
            <a:r>
              <a:t/>
            </a:r>
            <a:endParaRPr i="1">
              <a:solidFill>
                <a:schemeClr val="dk1"/>
              </a:solidFill>
              <a:latin typeface="Cabin"/>
              <a:ea typeface="Cabin"/>
              <a:cs typeface="Cabin"/>
              <a:sym typeface="Cabin"/>
            </a:endParaRPr>
          </a:p>
          <a:p>
            <a:pPr indent="0" lvl="0" marL="0" rtl="0" algn="l">
              <a:lnSpc>
                <a:spcPct val="100000"/>
              </a:lnSpc>
              <a:spcBef>
                <a:spcPts val="0"/>
              </a:spcBef>
              <a:spcAft>
                <a:spcPts val="0"/>
              </a:spcAft>
              <a:buSzPts val="1400"/>
              <a:buNone/>
            </a:pPr>
            <a:r>
              <a:rPr lang="en">
                <a:solidFill>
                  <a:srgbClr val="0B0B0B"/>
                </a:solidFill>
                <a:latin typeface="Cabin"/>
                <a:ea typeface="Cabin"/>
                <a:cs typeface="Cabin"/>
                <a:sym typeface="Cabin"/>
              </a:rPr>
              <a:t>Record the following near the front of the classroom.</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SzPts val="1400"/>
              <a:buNone/>
            </a:pPr>
            <a:r>
              <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SzPts val="1400"/>
              <a:buNone/>
            </a:pPr>
            <a:r>
              <a:rPr i="1" lang="en">
                <a:solidFill>
                  <a:srgbClr val="0B0B0B"/>
                </a:solidFill>
                <a:latin typeface="Cabin"/>
                <a:ea typeface="Cabin"/>
                <a:cs typeface="Cabin"/>
                <a:sym typeface="Cabin"/>
              </a:rPr>
              <a:t>Force:</a:t>
            </a:r>
            <a:endParaRPr i="1">
              <a:solidFill>
                <a:srgbClr val="0B0B0B"/>
              </a:solidFill>
              <a:latin typeface="Cabin"/>
              <a:ea typeface="Cabin"/>
              <a:cs typeface="Cabin"/>
              <a:sym typeface="Cabin"/>
            </a:endParaRPr>
          </a:p>
          <a:p>
            <a:pPr indent="-298450" lvl="0" marL="457200" rtl="0" algn="l">
              <a:lnSpc>
                <a:spcPct val="100000"/>
              </a:lnSpc>
              <a:spcBef>
                <a:spcPts val="0"/>
              </a:spcBef>
              <a:spcAft>
                <a:spcPts val="0"/>
              </a:spcAft>
              <a:buClr>
                <a:srgbClr val="0B0B0B"/>
              </a:buClr>
              <a:buSzPts val="1100"/>
              <a:buFont typeface="Cabin"/>
              <a:buChar char="●"/>
            </a:pPr>
            <a:r>
              <a:rPr i="1" lang="en">
                <a:solidFill>
                  <a:srgbClr val="0B0B0B"/>
                </a:solidFill>
                <a:latin typeface="Cabin"/>
                <a:ea typeface="Cabin"/>
                <a:cs typeface="Cabin"/>
                <a:sym typeface="Cabin"/>
              </a:rPr>
              <a:t>It is a vector quantity; it has size (magnitude) and direction.</a:t>
            </a:r>
            <a:endParaRPr i="1">
              <a:solidFill>
                <a:srgbClr val="0B0B0B"/>
              </a:solidFill>
              <a:latin typeface="Cabin"/>
              <a:ea typeface="Cabin"/>
              <a:cs typeface="Cabin"/>
              <a:sym typeface="Cabin"/>
            </a:endParaRPr>
          </a:p>
          <a:p>
            <a:pPr indent="-298450" lvl="0" marL="457200" rtl="0" algn="l">
              <a:lnSpc>
                <a:spcPct val="100000"/>
              </a:lnSpc>
              <a:spcBef>
                <a:spcPts val="0"/>
              </a:spcBef>
              <a:spcAft>
                <a:spcPts val="0"/>
              </a:spcAft>
              <a:buClr>
                <a:srgbClr val="0B0B0B"/>
              </a:buClr>
              <a:buSzPts val="1100"/>
              <a:buFont typeface="Cabin"/>
              <a:buChar char="●"/>
            </a:pPr>
            <a:r>
              <a:rPr b="1" i="1" lang="en">
                <a:solidFill>
                  <a:srgbClr val="0B0B0B"/>
                </a:solidFill>
                <a:latin typeface="Cabin"/>
                <a:ea typeface="Cabin"/>
                <a:cs typeface="Cabin"/>
                <a:sym typeface="Cabin"/>
              </a:rPr>
              <a:t>magnitude</a:t>
            </a:r>
            <a:r>
              <a:rPr i="1" lang="en">
                <a:solidFill>
                  <a:srgbClr val="0B0B0B"/>
                </a:solidFill>
                <a:latin typeface="Cabin"/>
                <a:ea typeface="Cabin"/>
                <a:cs typeface="Cabin"/>
                <a:sym typeface="Cabin"/>
              </a:rPr>
              <a:t> = the absolute value of a quantity (ignoring its direction).</a:t>
            </a:r>
            <a:endParaRPr i="1">
              <a:solidFill>
                <a:srgbClr val="0B0B0B"/>
              </a:solidFill>
              <a:latin typeface="Cabin"/>
              <a:ea typeface="Cabin"/>
              <a:cs typeface="Cabin"/>
              <a:sym typeface="Cabin"/>
            </a:endParaRPr>
          </a:p>
          <a:p>
            <a:pPr indent="-298450" lvl="0" marL="457200" rtl="0" algn="l">
              <a:lnSpc>
                <a:spcPct val="100000"/>
              </a:lnSpc>
              <a:spcBef>
                <a:spcPts val="0"/>
              </a:spcBef>
              <a:spcAft>
                <a:spcPts val="0"/>
              </a:spcAft>
              <a:buClr>
                <a:srgbClr val="0B0B0B"/>
              </a:buClr>
              <a:buSzPts val="1100"/>
              <a:buFont typeface="Cabin"/>
              <a:buChar char="●"/>
            </a:pPr>
            <a:r>
              <a:rPr i="1" lang="en">
                <a:solidFill>
                  <a:srgbClr val="0B0B0B"/>
                </a:solidFill>
                <a:latin typeface="Cabin"/>
                <a:ea typeface="Cabin"/>
                <a:cs typeface="Cabin"/>
                <a:sym typeface="Cabin"/>
              </a:rPr>
              <a:t>forces acting in opposite directions are assigned opposite signs.</a:t>
            </a:r>
            <a:endParaRPr i="1">
              <a:solidFill>
                <a:srgbClr val="0B0B0B"/>
              </a:solidFill>
              <a:latin typeface="Cabin"/>
              <a:ea typeface="Cabin"/>
              <a:cs typeface="Cabin"/>
              <a:sym typeface="Cabin"/>
            </a:endParaRPr>
          </a:p>
          <a:p>
            <a:pPr indent="0" lvl="0" marL="0" rtl="0" algn="l">
              <a:lnSpc>
                <a:spcPct val="100000"/>
              </a:lnSpc>
              <a:spcBef>
                <a:spcPts val="0"/>
              </a:spcBef>
              <a:spcAft>
                <a:spcPts val="0"/>
              </a:spcAft>
              <a:buSzPts val="1400"/>
              <a:buNone/>
            </a:pPr>
            <a:r>
              <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SzPts val="1400"/>
              <a:buNone/>
            </a:pPr>
            <a:r>
              <a:rPr b="1" lang="en">
                <a:solidFill>
                  <a:srgbClr val="0B0B0B"/>
                </a:solidFill>
                <a:latin typeface="Cabin"/>
                <a:ea typeface="Cabin"/>
                <a:cs typeface="Cabin"/>
                <a:sym typeface="Cabin"/>
              </a:rPr>
              <a:t>Make an explicit connection to how we can figure out the length of time the carts were in contact from the graph</a:t>
            </a:r>
            <a:r>
              <a:rPr lang="en">
                <a:solidFill>
                  <a:srgbClr val="0B0B0B"/>
                </a:solidFill>
                <a:latin typeface="Cabin"/>
                <a:ea typeface="Cabin"/>
                <a:cs typeface="Cabin"/>
                <a:sym typeface="Cabin"/>
              </a:rPr>
              <a:t>. </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SzPts val="1400"/>
              <a:buNone/>
            </a:pPr>
            <a:r>
              <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SzPts val="1400"/>
              <a:buNone/>
            </a:pPr>
            <a:r>
              <a:rPr lang="en">
                <a:solidFill>
                  <a:schemeClr val="dk1"/>
                </a:solidFill>
                <a:latin typeface="Cabin"/>
                <a:ea typeface="Cabin"/>
                <a:cs typeface="Cabin"/>
                <a:sym typeface="Cabin"/>
              </a:rPr>
              <a:t>Explain that the subscript indicates first which object is applying the force, and then which object the force is being applied to. Say, </a:t>
            </a:r>
            <a:r>
              <a:rPr i="1" lang="en">
                <a:solidFill>
                  <a:schemeClr val="dk1"/>
                </a:solidFill>
                <a:latin typeface="Cabin"/>
                <a:ea typeface="Cabin"/>
                <a:cs typeface="Cabin"/>
                <a:sym typeface="Cabin"/>
              </a:rPr>
              <a:t>We saw some interesting symmetry in these two forces as well as symmetry related to when those forces are applied. </a:t>
            </a:r>
            <a:r>
              <a:rPr lang="en">
                <a:solidFill>
                  <a:schemeClr val="dk1"/>
                </a:solidFill>
                <a:latin typeface="Cabin"/>
                <a:ea typeface="Cabin"/>
                <a:cs typeface="Cabin"/>
                <a:sym typeface="Cabin"/>
              </a:rPr>
              <a:t>Tape this card to the left side of the poster as shown.</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SzPts val="1400"/>
              <a:buNone/>
            </a:pPr>
            <a:r>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SzPts val="1400"/>
              <a:buNone/>
            </a:pPr>
            <a:r>
              <a:rPr b="1" lang="en">
                <a:solidFill>
                  <a:schemeClr val="dk1"/>
                </a:solidFill>
                <a:latin typeface="Cabin"/>
                <a:ea typeface="Cabin"/>
                <a:cs typeface="Cabin"/>
                <a:sym typeface="Cabin"/>
              </a:rPr>
              <a:t>Introduce the Δt card.</a:t>
            </a:r>
            <a:r>
              <a:rPr lang="en">
                <a:solidFill>
                  <a:schemeClr val="dk1"/>
                </a:solidFill>
                <a:latin typeface="Cabin"/>
                <a:ea typeface="Cabin"/>
                <a:cs typeface="Cabin"/>
                <a:sym typeface="Cabin"/>
              </a:rPr>
              <a:t> Say,</a:t>
            </a:r>
            <a:r>
              <a:rPr i="1" lang="en">
                <a:solidFill>
                  <a:schemeClr val="dk1"/>
                </a:solidFill>
                <a:latin typeface="Cabin"/>
                <a:ea typeface="Cabin"/>
                <a:cs typeface="Cabin"/>
                <a:sym typeface="Cabin"/>
              </a:rPr>
              <a:t> let’s identify a variable to represent the length of time over which the forces are applied as well.</a:t>
            </a:r>
            <a:r>
              <a:rPr b="1" lang="en">
                <a:solidFill>
                  <a:schemeClr val="dk1"/>
                </a:solidFill>
                <a:latin typeface="Cabin"/>
                <a:ea typeface="Cabin"/>
                <a:cs typeface="Cabin"/>
                <a:sym typeface="Cabin"/>
              </a:rPr>
              <a:t> </a:t>
            </a:r>
            <a:r>
              <a:rPr lang="en">
                <a:solidFill>
                  <a:schemeClr val="dk1"/>
                </a:solidFill>
                <a:latin typeface="Cabin"/>
                <a:ea typeface="Cabin"/>
                <a:cs typeface="Cabin"/>
                <a:sym typeface="Cabin"/>
              </a:rPr>
              <a:t>Hold up the card (page 2 of the teacher reference). Read the definition on it.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SzPts val="1400"/>
              <a:buNone/>
            </a:pPr>
            <a:r>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SzPts val="1400"/>
              <a:buNone/>
            </a:pPr>
            <a:r>
              <a:rPr lang="en">
                <a:solidFill>
                  <a:schemeClr val="dk1"/>
                </a:solidFill>
                <a:latin typeface="Cabin"/>
                <a:ea typeface="Cabin"/>
                <a:cs typeface="Cabin"/>
                <a:sym typeface="Cabin"/>
              </a:rPr>
              <a:t>Say, </a:t>
            </a:r>
            <a:r>
              <a:rPr i="1" lang="en">
                <a:solidFill>
                  <a:schemeClr val="dk1"/>
                </a:solidFill>
                <a:latin typeface="Cabin"/>
                <a:ea typeface="Cabin"/>
                <a:cs typeface="Cabin"/>
                <a:sym typeface="Cabin"/>
              </a:rPr>
              <a:t>So in this case delta t represents the difference between the time at which the collision starts and when it ends, which is the duration of the collision. start and the end of the collision, represents a change in or difference in t, or time.</a:t>
            </a:r>
            <a:r>
              <a:rPr lang="en">
                <a:solidFill>
                  <a:schemeClr val="dk1"/>
                </a:solidFill>
                <a:latin typeface="Cabin"/>
                <a:ea typeface="Cabin"/>
                <a:cs typeface="Cabin"/>
                <a:sym typeface="Cabin"/>
              </a:rPr>
              <a:t> Tape this card to the left side of the poster as shown.</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SzPts val="1400"/>
              <a:buNone/>
            </a:pPr>
            <a:r>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SzPts val="1400"/>
              <a:buNone/>
            </a:pPr>
            <a:r>
              <a:rPr lang="en">
                <a:solidFill>
                  <a:schemeClr val="dk1"/>
                </a:solidFill>
                <a:latin typeface="Cabin"/>
                <a:ea typeface="Cabin"/>
                <a:cs typeface="Cabin"/>
                <a:sym typeface="Cabin"/>
              </a:rPr>
              <a:t>Add a large post-it note or half sheet of paper as shown to indicate there was symmetry in these variables on both objects.</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SzPts val="1400"/>
              <a:buNone/>
            </a:pPr>
            <a:r>
              <a:t/>
            </a:r>
            <a:endParaRPr b="1" sz="900">
              <a:solidFill>
                <a:schemeClr val="dk1"/>
              </a:solidFill>
              <a:latin typeface="Cabin"/>
              <a:ea typeface="Cabin"/>
              <a:cs typeface="Cabin"/>
              <a:sym typeface="Cabin"/>
            </a:endParaRPr>
          </a:p>
          <a:p>
            <a:pPr indent="0" lvl="0" marL="0" rtl="0" algn="l">
              <a:lnSpc>
                <a:spcPct val="100000"/>
              </a:lnSpc>
              <a:spcBef>
                <a:spcPts val="0"/>
              </a:spcBef>
              <a:spcAft>
                <a:spcPts val="0"/>
              </a:spcAft>
              <a:buSzPts val="1400"/>
              <a:buNone/>
            </a:pPr>
            <a:r>
              <a:rPr lang="en">
                <a:solidFill>
                  <a:srgbClr val="0B0B0B"/>
                </a:solidFill>
                <a:latin typeface="Cabin"/>
                <a:ea typeface="Cabin"/>
                <a:cs typeface="Cabin"/>
                <a:sym typeface="Cabin"/>
              </a:rPr>
              <a:t>Record the following</a:t>
            </a:r>
            <a:r>
              <a:rPr i="1" lang="en">
                <a:solidFill>
                  <a:srgbClr val="0B0B0B"/>
                </a:solidFill>
                <a:latin typeface="Cabin"/>
                <a:ea typeface="Cabin"/>
                <a:cs typeface="Cabin"/>
                <a:sym typeface="Cabin"/>
              </a:rPr>
              <a:t> </a:t>
            </a:r>
            <a:r>
              <a:rPr lang="en">
                <a:solidFill>
                  <a:srgbClr val="0B0B0B"/>
                </a:solidFill>
                <a:latin typeface="Cabin"/>
                <a:ea typeface="Cabin"/>
                <a:cs typeface="Cabin"/>
                <a:sym typeface="Cabin"/>
              </a:rPr>
              <a:t>near the front of the classroom:</a:t>
            </a:r>
            <a:endParaRPr b="1">
              <a:solidFill>
                <a:srgbClr val="0B0B0B"/>
              </a:solidFill>
              <a:latin typeface="Cabin"/>
              <a:ea typeface="Cabin"/>
              <a:cs typeface="Cabin"/>
              <a:sym typeface="Cabin"/>
            </a:endParaRPr>
          </a:p>
          <a:p>
            <a:pPr indent="-317500" lvl="0" marL="457200" rtl="0" algn="l">
              <a:lnSpc>
                <a:spcPct val="100000"/>
              </a:lnSpc>
              <a:spcBef>
                <a:spcPts val="0"/>
              </a:spcBef>
              <a:spcAft>
                <a:spcPts val="0"/>
              </a:spcAft>
              <a:buClr>
                <a:srgbClr val="0B0B0B"/>
              </a:buClr>
              <a:buSzPts val="1400"/>
              <a:buFont typeface="Cabin"/>
              <a:buChar char="●"/>
            </a:pPr>
            <a:r>
              <a:rPr i="1" lang="en">
                <a:solidFill>
                  <a:srgbClr val="0B0B0B"/>
                </a:solidFill>
                <a:latin typeface="Cabin"/>
                <a:ea typeface="Cabin"/>
                <a:cs typeface="Cabin"/>
                <a:sym typeface="Cabin"/>
              </a:rPr>
              <a:t>Δ is a delta symbol. It stands for a change in something or difference in a quantity.</a:t>
            </a:r>
            <a:endParaRPr>
              <a:solidFill>
                <a:srgbClr val="0B0B0B"/>
              </a:solidFill>
              <a:latin typeface="Cabin"/>
              <a:ea typeface="Cabin"/>
              <a:cs typeface="Cabin"/>
              <a:sym typeface="Cabi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6" name="Google Shape;156;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Share patterns in speeds that we noticed as a class.</a:t>
            </a:r>
            <a:r>
              <a:rPr lang="en">
                <a:solidFill>
                  <a:schemeClr val="dk1"/>
                </a:solidFill>
                <a:latin typeface="Cabin"/>
                <a:ea typeface="Cabin"/>
                <a:cs typeface="Cabin"/>
                <a:sym typeface="Cabin"/>
              </a:rPr>
              <a:t> Show</a:t>
            </a:r>
            <a:r>
              <a:rPr b="1" lang="en">
                <a:solidFill>
                  <a:schemeClr val="dk1"/>
                </a:solidFill>
                <a:latin typeface="Cabin"/>
                <a:ea typeface="Cabin"/>
                <a:cs typeface="Cabin"/>
                <a:sym typeface="Cabin"/>
              </a:rPr>
              <a:t> slide I.</a:t>
            </a:r>
            <a:endParaRPr i="1">
              <a:solidFill>
                <a:schemeClr val="dk1"/>
              </a:solidFill>
              <a:latin typeface="Cabin"/>
              <a:ea typeface="Cabin"/>
              <a:cs typeface="Cabin"/>
              <a:sym typeface="Cabin"/>
            </a:endParaRPr>
          </a:p>
          <a:p>
            <a:pPr indent="0" lvl="0" marL="0" rtl="0" algn="l">
              <a:lnSpc>
                <a:spcPct val="100000"/>
              </a:lnSpc>
              <a:spcBef>
                <a:spcPts val="0"/>
              </a:spcBef>
              <a:spcAft>
                <a:spcPts val="0"/>
              </a:spcAft>
              <a:buSzPts val="1400"/>
              <a:buNone/>
            </a:pPr>
            <a:r>
              <a:t/>
            </a:r>
            <a:endParaRPr>
              <a:solidFill>
                <a:srgbClr val="9900FF"/>
              </a:solidFill>
              <a:latin typeface="Cabin"/>
              <a:ea typeface="Cabin"/>
              <a:cs typeface="Cabin"/>
              <a:sym typeface="Cabin"/>
            </a:endParaRPr>
          </a:p>
          <a:p>
            <a:pPr indent="0" lvl="0" marL="0" rtl="0" algn="l">
              <a:lnSpc>
                <a:spcPct val="100000"/>
              </a:lnSpc>
              <a:spcBef>
                <a:spcPts val="0"/>
              </a:spcBef>
              <a:spcAft>
                <a:spcPts val="0"/>
              </a:spcAft>
              <a:buSzPts val="1400"/>
              <a:buNone/>
            </a:pPr>
            <a:r>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SzPts val="1400"/>
              <a:buNone/>
            </a:pPr>
            <a:r>
              <a:t/>
            </a:r>
            <a:endParaRPr i="1">
              <a:solidFill>
                <a:schemeClr val="dk1"/>
              </a:solidFill>
              <a:latin typeface="Cabin"/>
              <a:ea typeface="Cabin"/>
              <a:cs typeface="Cabin"/>
              <a:sym typeface="Cabin"/>
            </a:endParaRPr>
          </a:p>
          <a:p>
            <a:pPr indent="0" lvl="0" marL="0" rtl="0" algn="l">
              <a:lnSpc>
                <a:spcPct val="100000"/>
              </a:lnSpc>
              <a:spcBef>
                <a:spcPts val="0"/>
              </a:spcBef>
              <a:spcAft>
                <a:spcPts val="0"/>
              </a:spcAft>
              <a:buSzPts val="1400"/>
              <a:buNone/>
            </a:pPr>
            <a:r>
              <a:t/>
            </a:r>
            <a:endParaRPr b="1">
              <a:solidFill>
                <a:schemeClr val="dk1"/>
              </a:solidFill>
              <a:latin typeface="Cabin"/>
              <a:ea typeface="Cabin"/>
              <a:cs typeface="Cabin"/>
              <a:sym typeface="Cabi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8" name="Google Shape;168;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Foreground the difference in signs on the speeds for collision C. Present slide J. </a:t>
            </a:r>
            <a:r>
              <a:rPr lang="en">
                <a:solidFill>
                  <a:schemeClr val="dk1"/>
                </a:solidFill>
                <a:latin typeface="Cabin"/>
                <a:ea typeface="Cabin"/>
                <a:cs typeface="Cabin"/>
                <a:sym typeface="Cabin"/>
              </a:rPr>
              <a:t>Ask students why the initial speed of green is negative before the collision and the blue cart is negative after the collision as well as what that negative sign tells us about the direction it is moving. Students should say it indicates that it is moving in the opposite direction as the other cart or that it is moving to the left, rather than to the right.</a:t>
            </a:r>
            <a:endParaRPr i="1">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i="1">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Build off students’ ideas to introduce velocity to capture direction and speed. </a:t>
            </a:r>
            <a:r>
              <a:rPr lang="en">
                <a:solidFill>
                  <a:schemeClr val="dk1"/>
                </a:solidFill>
                <a:latin typeface="Cabin"/>
                <a:ea typeface="Cabin"/>
                <a:cs typeface="Cabin"/>
                <a:sym typeface="Cabin"/>
              </a:rPr>
              <a:t>Say</a:t>
            </a:r>
            <a:r>
              <a:rPr i="1" lang="en">
                <a:solidFill>
                  <a:schemeClr val="dk1"/>
                </a:solidFill>
                <a:latin typeface="Cabin"/>
                <a:ea typeface="Cabin"/>
                <a:cs typeface="Cabin"/>
                <a:sym typeface="Cabin"/>
              </a:rPr>
              <a:t>, As you suggested the differences in sign indicates the differences in the direction the cart is moving. Negative values indicate movement to the left and positive values indicate movement to the right. Scientists use the term </a:t>
            </a:r>
            <a:r>
              <a:rPr b="1" i="1" lang="en">
                <a:solidFill>
                  <a:schemeClr val="dk1"/>
                </a:solidFill>
                <a:latin typeface="Cabin"/>
                <a:ea typeface="Cabin"/>
                <a:cs typeface="Cabin"/>
                <a:sym typeface="Cabin"/>
              </a:rPr>
              <a:t>velocity</a:t>
            </a:r>
            <a:r>
              <a:rPr i="1" lang="en">
                <a:solidFill>
                  <a:schemeClr val="dk1"/>
                </a:solidFill>
                <a:latin typeface="Cabin"/>
                <a:ea typeface="Cabin"/>
                <a:cs typeface="Cabin"/>
                <a:sym typeface="Cabin"/>
              </a:rPr>
              <a:t> when they think about the speed of an object as a vector. </a:t>
            </a:r>
            <a:endParaRPr i="1">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i="1" lang="en">
                <a:solidFill>
                  <a:schemeClr val="dk1"/>
                </a:solidFill>
                <a:latin typeface="Cabin"/>
                <a:ea typeface="Cabin"/>
                <a:cs typeface="Cabin"/>
                <a:sym typeface="Cabin"/>
              </a:rPr>
              <a:t>Velocity :</a:t>
            </a:r>
            <a:endParaRPr i="1">
              <a:solidFill>
                <a:schemeClr val="dk1"/>
              </a:solidFill>
              <a:latin typeface="Cabin"/>
              <a:ea typeface="Cabin"/>
              <a:cs typeface="Cabin"/>
              <a:sym typeface="Cabin"/>
            </a:endParaRPr>
          </a:p>
          <a:p>
            <a:pPr indent="-317500" lvl="0" marL="457200" rtl="0" algn="l">
              <a:lnSpc>
                <a:spcPct val="115000"/>
              </a:lnSpc>
              <a:spcBef>
                <a:spcPts val="0"/>
              </a:spcBef>
              <a:spcAft>
                <a:spcPts val="0"/>
              </a:spcAft>
              <a:buClr>
                <a:schemeClr val="dk1"/>
              </a:buClr>
              <a:buSzPts val="1400"/>
              <a:buFont typeface="Cabin"/>
              <a:buChar char="●"/>
            </a:pPr>
            <a:r>
              <a:rPr i="1" lang="en">
                <a:solidFill>
                  <a:schemeClr val="dk1"/>
                </a:solidFill>
                <a:latin typeface="Cabin"/>
                <a:ea typeface="Cabin"/>
                <a:cs typeface="Cabin"/>
                <a:sym typeface="Cabin"/>
              </a:rPr>
              <a:t>It is the directional speed of a object</a:t>
            </a:r>
            <a:endParaRPr i="1">
              <a:solidFill>
                <a:schemeClr val="dk1"/>
              </a:solidFill>
              <a:latin typeface="Cabin"/>
              <a:ea typeface="Cabin"/>
              <a:cs typeface="Cabin"/>
              <a:sym typeface="Cabin"/>
            </a:endParaRPr>
          </a:p>
          <a:p>
            <a:pPr indent="-317500" lvl="0" marL="457200" rtl="0" algn="l">
              <a:lnSpc>
                <a:spcPct val="115000"/>
              </a:lnSpc>
              <a:spcBef>
                <a:spcPts val="0"/>
              </a:spcBef>
              <a:spcAft>
                <a:spcPts val="0"/>
              </a:spcAft>
              <a:buClr>
                <a:schemeClr val="dk1"/>
              </a:buClr>
              <a:buSzPts val="1400"/>
              <a:buChar char="●"/>
            </a:pPr>
            <a:r>
              <a:rPr i="1" lang="en">
                <a:solidFill>
                  <a:schemeClr val="dk1"/>
                </a:solidFill>
                <a:latin typeface="Cabin"/>
                <a:ea typeface="Cabin"/>
                <a:cs typeface="Cabin"/>
                <a:sym typeface="Cabin"/>
              </a:rPr>
              <a:t>It is a vector quantity; it possesses magnitude (size) and direction.</a:t>
            </a:r>
            <a:endParaRPr i="1">
              <a:solidFill>
                <a:schemeClr val="dk1"/>
              </a:solidFill>
              <a:latin typeface="Cabin"/>
              <a:ea typeface="Cabin"/>
              <a:cs typeface="Cabin"/>
              <a:sym typeface="Cabin"/>
            </a:endParaRPr>
          </a:p>
          <a:p>
            <a:pPr indent="-317500" lvl="0" marL="457200" rtl="0" algn="l">
              <a:lnSpc>
                <a:spcPct val="100000"/>
              </a:lnSpc>
              <a:spcBef>
                <a:spcPts val="0"/>
              </a:spcBef>
              <a:spcAft>
                <a:spcPts val="0"/>
              </a:spcAft>
              <a:buClr>
                <a:schemeClr val="dk1"/>
              </a:buClr>
              <a:buSzPts val="1400"/>
              <a:buFont typeface="Cabin"/>
              <a:buChar char="●"/>
            </a:pPr>
            <a:r>
              <a:rPr i="1" lang="en">
                <a:solidFill>
                  <a:schemeClr val="dk1"/>
                </a:solidFill>
                <a:latin typeface="Cabin"/>
                <a:ea typeface="Cabin"/>
                <a:cs typeface="Cabin"/>
                <a:sym typeface="Cabin"/>
              </a:rPr>
              <a:t>Opposite directions are assigned opposite signs.</a:t>
            </a:r>
            <a:endParaRPr i="1">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Replace speed with velocity on the graphs.</a:t>
            </a:r>
            <a:r>
              <a:rPr lang="en">
                <a:solidFill>
                  <a:schemeClr val="dk1"/>
                </a:solidFill>
                <a:latin typeface="Cabin"/>
                <a:ea typeface="Cabin"/>
                <a:cs typeface="Cabin"/>
                <a:sym typeface="Cabin"/>
              </a:rPr>
              <a:t> Have students cross out the labels on the y-axis on all the speed graphs of the carts on the handout and replace the word “speed” with “velocity” to more accurately reflect what is being plotted on those graphs. </a:t>
            </a:r>
            <a:endParaRPr>
              <a:solidFill>
                <a:schemeClr val="dk1"/>
              </a:solidFill>
              <a:latin typeface="Cabin"/>
              <a:ea typeface="Cabin"/>
              <a:cs typeface="Cabin"/>
              <a:sym typeface="Cabi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9" name="Google Shape;179;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solidFill>
                  <a:srgbClr val="0B0B0B"/>
                </a:solidFill>
                <a:latin typeface="Cabin"/>
                <a:ea typeface="Cabin"/>
                <a:cs typeface="Cabin"/>
                <a:sym typeface="Cabin"/>
              </a:rPr>
              <a:t>Present </a:t>
            </a:r>
            <a:r>
              <a:rPr b="1" lang="en">
                <a:solidFill>
                  <a:srgbClr val="0B0B0B"/>
                </a:solidFill>
                <a:latin typeface="Cabin"/>
                <a:ea typeface="Cabin"/>
                <a:cs typeface="Cabin"/>
                <a:sym typeface="Cabin"/>
              </a:rPr>
              <a:t>slide K</a:t>
            </a:r>
            <a:r>
              <a:rPr lang="en">
                <a:solidFill>
                  <a:srgbClr val="0B0B0B"/>
                </a:solidFill>
                <a:latin typeface="Cabin"/>
                <a:ea typeface="Cabin"/>
                <a:cs typeface="Cabin"/>
                <a:sym typeface="Cabin"/>
              </a:rPr>
              <a:t>. Record the following near the front of the classroom, and give students a moment to add  new entries to their personal glossaries, for speed, velocity, and force.</a:t>
            </a:r>
            <a:endParaRPr>
              <a:solidFill>
                <a:schemeClr val="dk1"/>
              </a:solidFill>
              <a:latin typeface="Cabin"/>
              <a:ea typeface="Cabin"/>
              <a:cs typeface="Cabin"/>
              <a:sym typeface="Cabi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8" name="Google Shape;188;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Administer an Exit Ticket. </a:t>
            </a:r>
            <a:r>
              <a:rPr lang="en">
                <a:solidFill>
                  <a:schemeClr val="dk1"/>
                </a:solidFill>
                <a:latin typeface="Cabin"/>
                <a:ea typeface="Cabin"/>
                <a:cs typeface="Cabin"/>
                <a:sym typeface="Cabin"/>
              </a:rPr>
              <a:t>Display</a:t>
            </a:r>
            <a:r>
              <a:rPr b="1" lang="en">
                <a:solidFill>
                  <a:schemeClr val="dk1"/>
                </a:solidFill>
                <a:latin typeface="Cabin"/>
                <a:ea typeface="Cabin"/>
                <a:cs typeface="Cabin"/>
                <a:sym typeface="Cabin"/>
              </a:rPr>
              <a:t> slide L. </a:t>
            </a:r>
            <a:r>
              <a:rPr lang="en">
                <a:solidFill>
                  <a:schemeClr val="dk1"/>
                </a:solidFill>
                <a:latin typeface="Cabin"/>
                <a:ea typeface="Cabin"/>
                <a:cs typeface="Cabin"/>
                <a:sym typeface="Cabin"/>
              </a:rPr>
              <a:t>Ask students to take a minute to look at their graphs again and determine which collision produced the largest changes in velocity for each cart and how much the velocity of both the carts changed in those collisions. Point out that the symbol shown in the first prompt uses a delta (Δ), which again signifies a change in or difference in a quantity, so in this prompt Δ(V), is shorthand for a difference in v, or a change in velocity.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Prompt students to record a response to these questions on the bottom of the handout and either collect this as an exit ticket or have students turn in a copy of these responses on a separate sheet of paper as well.</a:t>
            </a:r>
            <a:endParaRPr>
              <a:solidFill>
                <a:schemeClr val="dk1"/>
              </a:solidFill>
              <a:latin typeface="Cabin"/>
              <a:ea typeface="Cabin"/>
              <a:cs typeface="Cabin"/>
              <a:sym typeface="Cabin"/>
            </a:endParaRPr>
          </a:p>
          <a:p>
            <a:pPr indent="0" lvl="0" marL="457200" rtl="0" algn="l">
              <a:lnSpc>
                <a:spcPct val="115000"/>
              </a:lnSpc>
              <a:spcBef>
                <a:spcPts val="0"/>
              </a:spcBef>
              <a:spcAft>
                <a:spcPts val="0"/>
              </a:spcAft>
              <a:buSzPts val="1400"/>
              <a:buNone/>
            </a:pPr>
            <a:r>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SzPts val="1400"/>
              <a:buNone/>
            </a:pPr>
            <a:r>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SzPts val="1400"/>
              <a:buNone/>
            </a:pPr>
            <a:r>
              <a:t/>
            </a:r>
            <a:endParaRPr>
              <a:solidFill>
                <a:schemeClr val="dk1"/>
              </a:solidFill>
              <a:latin typeface="Cabin"/>
              <a:ea typeface="Cabin"/>
              <a:cs typeface="Cabin"/>
              <a:sym typeface="Cabin"/>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0" name="Google Shape;200;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b="1" lang="en">
                <a:solidFill>
                  <a:schemeClr val="dk1"/>
                </a:solidFill>
                <a:latin typeface="Cabin"/>
                <a:ea typeface="Cabin"/>
                <a:cs typeface="Cabin"/>
                <a:sym typeface="Cabin"/>
              </a:rPr>
              <a:t>Share responses from the Exit Ticket.</a:t>
            </a:r>
            <a:r>
              <a:rPr lang="en">
                <a:solidFill>
                  <a:schemeClr val="dk1"/>
                </a:solidFill>
                <a:latin typeface="Cabin"/>
                <a:ea typeface="Cabin"/>
                <a:cs typeface="Cabin"/>
                <a:sym typeface="Cabin"/>
              </a:rPr>
              <a:t> Display </a:t>
            </a:r>
            <a:r>
              <a:rPr b="1" lang="en">
                <a:solidFill>
                  <a:schemeClr val="dk1"/>
                </a:solidFill>
                <a:latin typeface="Cabin"/>
                <a:ea typeface="Cabin"/>
                <a:cs typeface="Cabin"/>
                <a:sym typeface="Cabin"/>
              </a:rPr>
              <a:t>slide M. </a:t>
            </a:r>
            <a:r>
              <a:rPr lang="en">
                <a:solidFill>
                  <a:schemeClr val="dk1"/>
                </a:solidFill>
                <a:latin typeface="Cabin"/>
                <a:ea typeface="Cabin"/>
                <a:cs typeface="Cabin"/>
                <a:sym typeface="Cabin"/>
              </a:rPr>
              <a:t>Distribute the handout, which you collected last class. Ask students to look back at the responses they recorded on the bottom of the page to prepare to share their answers to the questions on the slide. After doing so, have students share out.</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SzPts val="1400"/>
              <a:buNone/>
            </a:pPr>
            <a:r>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SzPts val="1400"/>
              <a:buNone/>
            </a:pPr>
            <a:r>
              <a:rPr b="1" lang="en">
                <a:solidFill>
                  <a:schemeClr val="dk1"/>
                </a:solidFill>
                <a:latin typeface="Cabin"/>
                <a:ea typeface="Cabin"/>
                <a:cs typeface="Cabin"/>
                <a:sym typeface="Cabin"/>
              </a:rPr>
              <a:t>Add velocity change cards to the poster</a:t>
            </a:r>
            <a:r>
              <a:rPr lang="en">
                <a:solidFill>
                  <a:schemeClr val="dk1"/>
                </a:solidFill>
                <a:latin typeface="Cabin"/>
                <a:ea typeface="Cabin"/>
                <a:cs typeface="Cabin"/>
                <a:sym typeface="Cabin"/>
              </a:rPr>
              <a:t>. Say, </a:t>
            </a:r>
            <a:r>
              <a:rPr i="1" lang="en">
                <a:solidFill>
                  <a:schemeClr val="dk1"/>
                </a:solidFill>
                <a:latin typeface="Cabin"/>
                <a:ea typeface="Cabin"/>
                <a:cs typeface="Cabin"/>
                <a:sym typeface="Cabin"/>
              </a:rPr>
              <a:t>Since</a:t>
            </a:r>
            <a:r>
              <a:rPr lang="en">
                <a:solidFill>
                  <a:schemeClr val="dk1"/>
                </a:solidFill>
                <a:latin typeface="Cabin"/>
                <a:ea typeface="Cabin"/>
                <a:cs typeface="Cabin"/>
                <a:sym typeface="Cabin"/>
              </a:rPr>
              <a:t> </a:t>
            </a:r>
            <a:r>
              <a:rPr i="1" lang="en">
                <a:solidFill>
                  <a:schemeClr val="dk1"/>
                </a:solidFill>
                <a:latin typeface="Cabin"/>
                <a:ea typeface="Cabin"/>
                <a:cs typeface="Cabin"/>
                <a:sym typeface="Cabin"/>
              </a:rPr>
              <a:t>we’ve started calculating and comparing the changes in the velocities of the two objects as another way to analyze the outcomes of the collision, let’s add these variables to our poster too.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SzPts val="1400"/>
              <a:buNone/>
            </a:pPr>
            <a:r>
              <a:t/>
            </a:r>
            <a:endParaRPr>
              <a:solidFill>
                <a:schemeClr val="dk1"/>
              </a:solidFill>
              <a:highlight>
                <a:srgbClr val="FFFF00"/>
              </a:highlight>
              <a:latin typeface="Cabin"/>
              <a:ea typeface="Cabin"/>
              <a:cs typeface="Cabin"/>
              <a:sym typeface="Cabin"/>
            </a:endParaRPr>
          </a:p>
          <a:p>
            <a:pPr indent="0" lvl="0" marL="0" rtl="0" algn="l">
              <a:lnSpc>
                <a:spcPct val="100000"/>
              </a:lnSpc>
              <a:spcBef>
                <a:spcPts val="0"/>
              </a:spcBef>
              <a:spcAft>
                <a:spcPts val="0"/>
              </a:spcAft>
              <a:buSzPts val="1400"/>
              <a:buNone/>
            </a:pPr>
            <a:r>
              <a:rPr lang="en">
                <a:solidFill>
                  <a:schemeClr val="dk1"/>
                </a:solidFill>
                <a:latin typeface="Cabin"/>
                <a:ea typeface="Cabin"/>
                <a:cs typeface="Cabin"/>
                <a:sym typeface="Cabin"/>
              </a:rPr>
              <a:t>Hold up page 3 of the teacher reference. Add the velocity change cards to the poster.  Point out the delta sign again represents a change in the quantity v, which represents velocity.</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SzPts val="1400"/>
              <a:buNone/>
            </a:pPr>
            <a:r>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Establish some initial relationships between the variables on the poster. </a:t>
            </a:r>
            <a:r>
              <a:rPr lang="en">
                <a:solidFill>
                  <a:schemeClr val="dk1"/>
                </a:solidFill>
                <a:latin typeface="Cabin"/>
                <a:ea typeface="Cabin"/>
                <a:cs typeface="Cabin"/>
                <a:sym typeface="Cabin"/>
              </a:rPr>
              <a:t>Ask students to consider how the variables on the left side of the poster appear to be related to the variables on the right side of the poster. Suggest that they look back at the three collisions and rank order them from where the velocity changes were the largest to the smallest and then compare the magnitude of the forces across the duration of the collision. </a:t>
            </a:r>
            <a:endParaRPr>
              <a:solidFill>
                <a:schemeClr val="dk1"/>
              </a:solidFill>
              <a:latin typeface="Cabin"/>
              <a:ea typeface="Cabin"/>
              <a:cs typeface="Cabin"/>
              <a:sym typeface="Cabi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1" name="Google Shape;211;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
                <a:solidFill>
                  <a:schemeClr val="dk1"/>
                </a:solidFill>
                <a:latin typeface="Cabin"/>
                <a:ea typeface="Cabin"/>
                <a:cs typeface="Cabin"/>
                <a:sym typeface="Cabin"/>
              </a:rPr>
              <a:t>Display</a:t>
            </a:r>
            <a:r>
              <a:rPr b="1" lang="en">
                <a:solidFill>
                  <a:schemeClr val="dk1"/>
                </a:solidFill>
                <a:latin typeface="Cabin"/>
                <a:ea typeface="Cabin"/>
                <a:cs typeface="Cabin"/>
                <a:sym typeface="Cabin"/>
              </a:rPr>
              <a:t> slide N</a:t>
            </a:r>
            <a:r>
              <a:rPr lang="en">
                <a:solidFill>
                  <a:schemeClr val="dk1"/>
                </a:solidFill>
                <a:latin typeface="Cabin"/>
                <a:ea typeface="Cabin"/>
                <a:cs typeface="Cabin"/>
                <a:sym typeface="Cabin"/>
              </a:rPr>
              <a:t>, if needed, to prompt this. Give students 1 minute to do this. Then discuss what patterns they noticed.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SzPts val="1400"/>
              <a:buNone/>
            </a:pPr>
            <a:r>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SzPts val="1400"/>
              <a:buNone/>
            </a:pPr>
            <a:r>
              <a:rPr lang="en">
                <a:solidFill>
                  <a:schemeClr val="dk1"/>
                </a:solidFill>
                <a:latin typeface="Cabin"/>
                <a:ea typeface="Cabin"/>
                <a:cs typeface="Cabin"/>
                <a:sym typeface="Cabin"/>
              </a:rPr>
              <a:t>Suggest that we make note of this relationship we noticed between the magnitude of velocity changes and the magnitude of the forces.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SzPts val="1400"/>
              <a:buNone/>
            </a:pPr>
            <a:r>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Add a large post-it note or half sheet of paper as shown to indicate these variables are positively associated with each other. You will replace this paper later, so tape it to the poster for now.</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SzPts val="1400"/>
              <a:buNone/>
            </a:pPr>
            <a:r>
              <a:t/>
            </a:r>
            <a:endParaRPr>
              <a:solidFill>
                <a:schemeClr val="dk1"/>
              </a:solidFill>
              <a:latin typeface="Cabin"/>
              <a:ea typeface="Cabin"/>
              <a:cs typeface="Cabin"/>
              <a:sym typeface="Cabi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2" name="Google Shape;222;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Discuss reasons for symmetry in forces and velocity changes on both carts.</a:t>
            </a:r>
            <a:r>
              <a:rPr lang="en">
                <a:solidFill>
                  <a:schemeClr val="dk1"/>
                </a:solidFill>
                <a:latin typeface="Cabin"/>
                <a:ea typeface="Cabin"/>
                <a:cs typeface="Cabin"/>
                <a:sym typeface="Cabin"/>
              </a:rPr>
              <a:t> Display </a:t>
            </a:r>
            <a:r>
              <a:rPr b="1" lang="en">
                <a:solidFill>
                  <a:schemeClr val="dk1"/>
                </a:solidFill>
                <a:latin typeface="Cabin"/>
                <a:ea typeface="Cabin"/>
                <a:cs typeface="Cabin"/>
                <a:sym typeface="Cabin"/>
              </a:rPr>
              <a:t>slide O. </a:t>
            </a:r>
            <a:r>
              <a:rPr lang="en">
                <a:solidFill>
                  <a:schemeClr val="dk1"/>
                </a:solidFill>
                <a:latin typeface="Cabin"/>
                <a:ea typeface="Cabin"/>
                <a:cs typeface="Cabin"/>
                <a:sym typeface="Cabin"/>
              </a:rPr>
              <a:t>Read the top of the slide, to summarize the aspects of symmetry that were previously noted, and make sure everyone agrees with these statements. Then </a:t>
            </a:r>
            <a:r>
              <a:rPr lang="en">
                <a:solidFill>
                  <a:srgbClr val="0B0B0B"/>
                </a:solidFill>
                <a:latin typeface="Cabin"/>
                <a:ea typeface="Cabin"/>
                <a:cs typeface="Cabin"/>
                <a:sym typeface="Cabin"/>
              </a:rPr>
              <a:t>d</a:t>
            </a:r>
            <a:r>
              <a:rPr lang="en">
                <a:solidFill>
                  <a:schemeClr val="dk1"/>
                </a:solidFill>
                <a:latin typeface="Cabin"/>
                <a:ea typeface="Cabin"/>
                <a:cs typeface="Cabin"/>
                <a:sym typeface="Cabin"/>
              </a:rPr>
              <a:t>iscuss the question on the slide.</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Consider further connections to the masses of the carts. </a:t>
            </a:r>
            <a:r>
              <a:rPr lang="en">
                <a:solidFill>
                  <a:schemeClr val="dk1"/>
                </a:solidFill>
                <a:latin typeface="Cabin"/>
                <a:ea typeface="Cabin"/>
                <a:cs typeface="Cabin"/>
                <a:sym typeface="Cabin"/>
              </a:rPr>
              <a:t>Say, </a:t>
            </a:r>
            <a:r>
              <a:rPr i="1" lang="en">
                <a:solidFill>
                  <a:schemeClr val="dk1"/>
                </a:solidFill>
                <a:latin typeface="Cabin"/>
                <a:ea typeface="Cabin"/>
                <a:cs typeface="Cabin"/>
                <a:sym typeface="Cabin"/>
              </a:rPr>
              <a:t>if I were to hold the green cart in one hand and the blue cart in another hand, I would feel the same amount of force downward on each hand. </a:t>
            </a:r>
            <a:r>
              <a:rPr lang="en">
                <a:solidFill>
                  <a:schemeClr val="dk1"/>
                </a:solidFill>
                <a:latin typeface="Cabin"/>
                <a:ea typeface="Cabin"/>
                <a:cs typeface="Cabin"/>
                <a:sym typeface="Cabin"/>
              </a:rPr>
              <a:t>Ask students why this would be.</a:t>
            </a:r>
            <a:r>
              <a:rPr i="1" lang="en">
                <a:solidFill>
                  <a:schemeClr val="dk1"/>
                </a:solidFill>
                <a:latin typeface="Cabin"/>
                <a:ea typeface="Cabin"/>
                <a:cs typeface="Cabin"/>
                <a:sym typeface="Cabin"/>
              </a:rPr>
              <a:t> </a:t>
            </a:r>
            <a:r>
              <a:rPr lang="en">
                <a:solidFill>
                  <a:schemeClr val="dk1"/>
                </a:solidFill>
                <a:latin typeface="Cabin"/>
                <a:ea typeface="Cabin"/>
                <a:cs typeface="Cabin"/>
                <a:sym typeface="Cabin"/>
              </a:rPr>
              <a:t>Look for students to suggest things like:</a:t>
            </a:r>
            <a:endParaRPr>
              <a:solidFill>
                <a:schemeClr val="dk1"/>
              </a:solidFill>
              <a:latin typeface="Cabin"/>
              <a:ea typeface="Cabin"/>
              <a:cs typeface="Cabin"/>
              <a:sym typeface="Cabin"/>
            </a:endParaRPr>
          </a:p>
          <a:p>
            <a:pPr indent="-298450" lvl="0" marL="457200" rtl="0" algn="l">
              <a:lnSpc>
                <a:spcPct val="100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They have the same mass</a:t>
            </a:r>
            <a:endParaRPr>
              <a:solidFill>
                <a:schemeClr val="dk1"/>
              </a:solidFill>
              <a:latin typeface="Cabin"/>
              <a:ea typeface="Cabin"/>
              <a:cs typeface="Cabin"/>
              <a:sym typeface="Cabin"/>
            </a:endParaRPr>
          </a:p>
          <a:p>
            <a:pPr indent="-298450" lvl="0" marL="457200" rtl="0" algn="l">
              <a:lnSpc>
                <a:spcPct val="100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Gravity pulls on them the same amount </a:t>
            </a:r>
            <a:endParaRPr>
              <a:solidFill>
                <a:schemeClr val="dk1"/>
              </a:solidFill>
              <a:latin typeface="Cabin"/>
              <a:ea typeface="Cabin"/>
              <a:cs typeface="Cabin"/>
              <a:sym typeface="Cabin"/>
            </a:endParaRPr>
          </a:p>
          <a:p>
            <a:pPr indent="-298450" lvl="0" marL="457200" rtl="0" algn="l">
              <a:lnSpc>
                <a:spcPct val="100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They weigh the same</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Mention that we make note that the relationship we are suggesting is related to the masses of both carts are the same.</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Add the mass card, from page 1 of the teacher reference to the poster.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Make Predictions for different mass carts. </a:t>
            </a:r>
            <a:r>
              <a:rPr lang="en">
                <a:solidFill>
                  <a:schemeClr val="dk1"/>
                </a:solidFill>
                <a:latin typeface="Cabin"/>
                <a:ea typeface="Cabin"/>
                <a:cs typeface="Cabin"/>
                <a:sym typeface="Cabin"/>
              </a:rPr>
              <a:t>Ask something like, </a:t>
            </a:r>
            <a:r>
              <a:rPr i="1" lang="en">
                <a:solidFill>
                  <a:schemeClr val="dk1"/>
                </a:solidFill>
                <a:latin typeface="Cabin"/>
                <a:ea typeface="Cabin"/>
                <a:cs typeface="Cabin"/>
                <a:sym typeface="Cabin"/>
              </a:rPr>
              <a:t>But what do we predict would happen if we changed the mass of the carts in the system? What, if any, effect would that have on any or all of these other variables on our poster? Let’s individually think about this.</a:t>
            </a:r>
            <a:endParaRPr i="1">
              <a:solidFill>
                <a:schemeClr val="dk1"/>
              </a:solidFill>
              <a:latin typeface="Cabin"/>
              <a:ea typeface="Cabin"/>
              <a:cs typeface="Cabin"/>
              <a:sym typeface="Cabin"/>
            </a:endParaRPr>
          </a:p>
          <a:p>
            <a:pPr indent="0" lvl="0" marL="0" rtl="0" algn="l">
              <a:lnSpc>
                <a:spcPct val="100000"/>
              </a:lnSpc>
              <a:spcBef>
                <a:spcPts val="0"/>
              </a:spcBef>
              <a:spcAft>
                <a:spcPts val="0"/>
              </a:spcAft>
              <a:buSzPts val="1400"/>
              <a:buNone/>
            </a:pPr>
            <a:r>
              <a:t/>
            </a:r>
            <a:endParaRPr i="1">
              <a:solidFill>
                <a:schemeClr val="dk1"/>
              </a:solidFill>
              <a:latin typeface="Cabin"/>
              <a:ea typeface="Cabin"/>
              <a:cs typeface="Cabin"/>
              <a:sym typeface="Cabin"/>
            </a:endParaRPr>
          </a:p>
          <a:p>
            <a:pPr indent="0" lvl="0" marL="0" rtl="0" algn="l">
              <a:lnSpc>
                <a:spcPct val="100000"/>
              </a:lnSpc>
              <a:spcBef>
                <a:spcPts val="0"/>
              </a:spcBef>
              <a:spcAft>
                <a:spcPts val="0"/>
              </a:spcAft>
              <a:buSzPts val="1400"/>
              <a:buNone/>
            </a:pPr>
            <a:r>
              <a:t/>
            </a:r>
            <a:endParaRPr i="1">
              <a:solidFill>
                <a:schemeClr val="dk1"/>
              </a:solidFill>
              <a:latin typeface="Cabin"/>
              <a:ea typeface="Cabin"/>
              <a:cs typeface="Cabin"/>
              <a:sym typeface="Cabin"/>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1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3" name="Google Shape;233;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Display </a:t>
            </a:r>
            <a:r>
              <a:rPr b="1" lang="en">
                <a:solidFill>
                  <a:schemeClr val="dk1"/>
                </a:solidFill>
                <a:latin typeface="Cabin"/>
                <a:ea typeface="Cabin"/>
                <a:cs typeface="Cabin"/>
                <a:sym typeface="Cabin"/>
              </a:rPr>
              <a:t>slide P. </a:t>
            </a:r>
            <a:r>
              <a:rPr lang="en">
                <a:solidFill>
                  <a:schemeClr val="dk1"/>
                </a:solidFill>
                <a:latin typeface="Cabin"/>
                <a:ea typeface="Cabin"/>
                <a:cs typeface="Cabin"/>
                <a:sym typeface="Cabin"/>
              </a:rPr>
              <a:t>Read through the slide. Give students three minutes to record their predictions in their notebook. </a:t>
            </a:r>
            <a:endParaRPr i="1">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i="1">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Share predictions for both collision sets as a class. </a:t>
            </a:r>
            <a:r>
              <a:rPr lang="en">
                <a:solidFill>
                  <a:schemeClr val="dk1"/>
                </a:solidFill>
                <a:latin typeface="Cabin"/>
                <a:ea typeface="Cabin"/>
                <a:cs typeface="Cabin"/>
                <a:sym typeface="Cabin"/>
              </a:rPr>
              <a:t>Discuss these for two to three minutes and accept all responses.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sz="1000">
              <a:solidFill>
                <a:srgbClr val="9900FF"/>
              </a:solidFill>
              <a:latin typeface="Open Sans"/>
              <a:ea typeface="Open Sans"/>
              <a:cs typeface="Open Sans"/>
              <a:sym typeface="Open Sans"/>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Use the differences in predictions to emphasize that we have some competing ideas of how forces and changes in the mass and changes in velocity are related to each other in a collision. Suggest that we will need to resolve this in order to make progress on some of the questions on our driving question board.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In the unlikely event that there is no controversy in predictions, frame the next step as us needing to get some data to help support (or confirm) our thinking, so we can build evidence based arguments and design solutions related to what we wanted to figure out on our Driving Question Board.</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SzPts val="1400"/>
              <a:buNone/>
            </a:pPr>
            <a:r>
              <a:rPr b="1" lang="en">
                <a:solidFill>
                  <a:schemeClr val="dk1"/>
                </a:solidFill>
                <a:latin typeface="Cabin"/>
                <a:ea typeface="Cabin"/>
                <a:cs typeface="Cabin"/>
                <a:sym typeface="Cabin"/>
              </a:rPr>
              <a:t>Refer to the representation of showing some uncertainty in the relationship students predicted.</a:t>
            </a:r>
            <a:r>
              <a:rPr lang="en">
                <a:solidFill>
                  <a:schemeClr val="dk1"/>
                </a:solidFill>
                <a:latin typeface="Cabin"/>
                <a:ea typeface="Cabin"/>
                <a:cs typeface="Cabin"/>
                <a:sym typeface="Cabin"/>
              </a:rPr>
              <a:t> Add two half sheets of paper to the poster with double headed arrows on them in different colors, and suggest that we include the question “How are these related?” on each.</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1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6" name="Google Shape;246;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Analyze videos of collision scenarios.</a:t>
            </a:r>
            <a:r>
              <a:rPr lang="en">
                <a:solidFill>
                  <a:schemeClr val="dk1"/>
                </a:solidFill>
                <a:latin typeface="Cabin"/>
                <a:ea typeface="Cabin"/>
                <a:cs typeface="Cabin"/>
                <a:sym typeface="Cabin"/>
              </a:rPr>
              <a:t> Say,</a:t>
            </a:r>
            <a:r>
              <a:rPr i="1" lang="en">
                <a:solidFill>
                  <a:schemeClr val="dk1"/>
                </a:solidFill>
                <a:latin typeface="Cabin"/>
                <a:ea typeface="Cabin"/>
                <a:cs typeface="Cabin"/>
                <a:sym typeface="Cabin"/>
              </a:rPr>
              <a:t> We have videos and the related set of graphs from the sensors on the carts from the 3 collisions we just made predictions about for us to analyze. </a:t>
            </a:r>
            <a:r>
              <a:rPr lang="en">
                <a:solidFill>
                  <a:schemeClr val="dk1"/>
                </a:solidFill>
                <a:latin typeface="Cabin"/>
                <a:ea typeface="Cabin"/>
                <a:cs typeface="Cabin"/>
                <a:sym typeface="Cabin"/>
              </a:rPr>
              <a:t>Cue students to take out</a:t>
            </a:r>
            <a:r>
              <a:rPr i="1" lang="en">
                <a:solidFill>
                  <a:schemeClr val="dk1"/>
                </a:solidFill>
                <a:latin typeface="Cabin"/>
                <a:ea typeface="Cabin"/>
                <a:cs typeface="Cabin"/>
                <a:sym typeface="Cabin"/>
              </a:rPr>
              <a:t> </a:t>
            </a:r>
            <a:r>
              <a:rPr lang="en">
                <a:solidFill>
                  <a:srgbClr val="0B0B0B"/>
                </a:solidFill>
                <a:latin typeface="Cabin"/>
                <a:ea typeface="Cabin"/>
                <a:cs typeface="Cabin"/>
                <a:sym typeface="Cabin"/>
              </a:rPr>
              <a:t>the handout as a reference document. </a:t>
            </a:r>
            <a:r>
              <a:rPr lang="en">
                <a:solidFill>
                  <a:schemeClr val="dk1"/>
                </a:solidFill>
                <a:latin typeface="Cabin"/>
                <a:ea typeface="Cabin"/>
                <a:cs typeface="Cabin"/>
                <a:sym typeface="Cabin"/>
              </a:rPr>
              <a:t>Display</a:t>
            </a:r>
            <a:r>
              <a:rPr b="1" lang="en">
                <a:solidFill>
                  <a:schemeClr val="dk1"/>
                </a:solidFill>
                <a:latin typeface="Cabin"/>
                <a:ea typeface="Cabin"/>
                <a:cs typeface="Cabin"/>
                <a:sym typeface="Cabin"/>
              </a:rPr>
              <a:t> slide Q</a:t>
            </a:r>
            <a:r>
              <a:rPr lang="en">
                <a:solidFill>
                  <a:schemeClr val="dk1"/>
                </a:solidFill>
                <a:latin typeface="Cabin"/>
                <a:ea typeface="Cabin"/>
                <a:cs typeface="Cabin"/>
                <a:sym typeface="Cabin"/>
              </a:rPr>
              <a:t>. Review the directions on the slide. Share the video link with students to watch with a partner as you distribute a copy of the handout</a:t>
            </a:r>
            <a:r>
              <a:rPr lang="en">
                <a:solidFill>
                  <a:srgbClr val="0B0B0B"/>
                </a:solidFill>
                <a:latin typeface="Cabin"/>
                <a:ea typeface="Cabin"/>
                <a:cs typeface="Cabin"/>
                <a:sym typeface="Cabin"/>
              </a:rPr>
              <a:t> to each student.</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Give students up to 8 minutes to analyze the data and work with a partner to annotate their handouts to make note of how changes in mass affected the outcomes of the collision.</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SzPts val="1400"/>
              <a:buNone/>
            </a:pPr>
            <a:r>
              <a:t/>
            </a:r>
            <a:endParaRPr>
              <a:solidFill>
                <a:srgbClr val="304852"/>
              </a:solidFill>
              <a:latin typeface="Cabin"/>
              <a:ea typeface="Cabin"/>
              <a:cs typeface="Cabin"/>
              <a:sym typeface="Cabin"/>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1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5" name="Google Shape;255;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Argue from evidence. </a:t>
            </a:r>
            <a:r>
              <a:rPr lang="en">
                <a:solidFill>
                  <a:schemeClr val="dk1"/>
                </a:solidFill>
                <a:latin typeface="Cabin"/>
                <a:ea typeface="Cabin"/>
                <a:cs typeface="Cabin"/>
                <a:sym typeface="Cabin"/>
              </a:rPr>
              <a:t>Present</a:t>
            </a:r>
            <a:r>
              <a:rPr b="1" lang="en">
                <a:solidFill>
                  <a:schemeClr val="dk1"/>
                </a:solidFill>
                <a:latin typeface="Cabin"/>
                <a:ea typeface="Cabin"/>
                <a:cs typeface="Cabin"/>
                <a:sym typeface="Cabin"/>
              </a:rPr>
              <a:t> slide R. </a:t>
            </a:r>
            <a:r>
              <a:rPr lang="en">
                <a:solidFill>
                  <a:schemeClr val="dk1"/>
                </a:solidFill>
                <a:latin typeface="Cabin"/>
                <a:ea typeface="Cabin"/>
                <a:cs typeface="Cabin"/>
                <a:sym typeface="Cabin"/>
              </a:rPr>
              <a:t>Discuss the question on the slide: </a:t>
            </a:r>
            <a:endParaRPr>
              <a:solidFill>
                <a:schemeClr val="dk1"/>
              </a:solidFill>
              <a:latin typeface="Cabin"/>
              <a:ea typeface="Cabin"/>
              <a:cs typeface="Cabin"/>
              <a:sym typeface="Cabin"/>
            </a:endParaRPr>
          </a:p>
          <a:p>
            <a:pPr indent="-298450" lvl="0" marL="457200" rtl="0" algn="l">
              <a:lnSpc>
                <a:spcPct val="115000"/>
              </a:lnSpc>
              <a:spcBef>
                <a:spcPts val="0"/>
              </a:spcBef>
              <a:spcAft>
                <a:spcPts val="0"/>
              </a:spcAft>
              <a:buClr>
                <a:schemeClr val="dk1"/>
              </a:buClr>
              <a:buSzPts val="1100"/>
              <a:buFont typeface="Cabin"/>
              <a:buChar char="●"/>
            </a:pPr>
            <a:r>
              <a:rPr i="1" lang="en">
                <a:solidFill>
                  <a:schemeClr val="dk1"/>
                </a:solidFill>
                <a:latin typeface="Cabin"/>
                <a:ea typeface="Cabin"/>
                <a:cs typeface="Cabin"/>
                <a:sym typeface="Cabin"/>
              </a:rPr>
              <a:t>How does mass affect the forces on each object in a collision?</a:t>
            </a:r>
            <a:endParaRPr i="1">
              <a:solidFill>
                <a:schemeClr val="dk1"/>
              </a:solidFill>
              <a:latin typeface="Cabin"/>
              <a:ea typeface="Cabin"/>
              <a:cs typeface="Cabin"/>
              <a:sym typeface="Cabin"/>
            </a:endParaRPr>
          </a:p>
          <a:p>
            <a:pPr indent="-298450" lvl="0" marL="457200" rtl="0" algn="l">
              <a:lnSpc>
                <a:spcPct val="115000"/>
              </a:lnSpc>
              <a:spcBef>
                <a:spcPts val="0"/>
              </a:spcBef>
              <a:spcAft>
                <a:spcPts val="0"/>
              </a:spcAft>
              <a:buClr>
                <a:schemeClr val="dk1"/>
              </a:buClr>
              <a:buSzPts val="1100"/>
              <a:buFont typeface="Cabin"/>
              <a:buChar char="●"/>
            </a:pPr>
            <a:r>
              <a:rPr i="1" lang="en">
                <a:solidFill>
                  <a:schemeClr val="dk1"/>
                </a:solidFill>
                <a:latin typeface="Cabin"/>
                <a:ea typeface="Cabin"/>
                <a:cs typeface="Cabin"/>
                <a:sym typeface="Cabin"/>
              </a:rPr>
              <a:t>How does mass affect the change in velocity of each object in a collision?</a:t>
            </a:r>
            <a:endParaRPr i="1">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i="1">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Make it clear to students that we are arguing from evidence, and that your role in the discussion is to press them for evidence from the graphs of the collisions.</a:t>
            </a:r>
            <a:r>
              <a:rPr i="1" lang="en">
                <a:solidFill>
                  <a:schemeClr val="dk1"/>
                </a:solidFill>
                <a:latin typeface="Cabin"/>
                <a:ea typeface="Cabin"/>
                <a:cs typeface="Cabin"/>
                <a:sym typeface="Cabin"/>
              </a:rPr>
              <a:t> </a:t>
            </a:r>
            <a:endParaRPr i="1">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i="1">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Make a public record of our findings.</a:t>
            </a:r>
            <a:r>
              <a:rPr lang="en">
                <a:solidFill>
                  <a:schemeClr val="dk1"/>
                </a:solidFill>
                <a:latin typeface="Cabin"/>
                <a:ea typeface="Cabin"/>
                <a:cs typeface="Cabin"/>
                <a:sym typeface="Cabin"/>
              </a:rPr>
              <a:t> Suggest that we add our two categories of discoveries to our poster. Say, </a:t>
            </a:r>
            <a:r>
              <a:rPr i="1" lang="en">
                <a:solidFill>
                  <a:schemeClr val="dk1"/>
                </a:solidFill>
                <a:latin typeface="Cabin"/>
                <a:ea typeface="Cabin"/>
                <a:cs typeface="Cabin"/>
                <a:sym typeface="Cabin"/>
              </a:rPr>
              <a:t>One finding I heard you noticing was related to collision A, that increases in mass in the system resulted in increases in the magnitude of the forces.</a:t>
            </a:r>
            <a:r>
              <a:rPr lang="en">
                <a:solidFill>
                  <a:schemeClr val="dk1"/>
                </a:solidFill>
                <a:latin typeface="Cabin"/>
                <a:ea typeface="Cabin"/>
                <a:cs typeface="Cabin"/>
                <a:sym typeface="Cabin"/>
              </a:rPr>
              <a:t> Add this summary on a half-sheet paper with an arrow pointing from the masses to the forces and swap it onto the poster over the spot on the left that previously said “How are these related?”</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Then summarize the finding related to velocity changes by saying, </a:t>
            </a:r>
            <a:r>
              <a:rPr i="1" lang="en">
                <a:solidFill>
                  <a:schemeClr val="dk1"/>
                </a:solidFill>
                <a:latin typeface="Cabin"/>
                <a:ea typeface="Cabin"/>
                <a:cs typeface="Cabin"/>
                <a:sym typeface="Cabin"/>
              </a:rPr>
              <a:t>I also heard you saying that when masses are unequal in a collision the smaller mass changes velocity more than the bigger mass.</a:t>
            </a:r>
            <a:r>
              <a:rPr lang="en">
                <a:solidFill>
                  <a:schemeClr val="dk1"/>
                </a:solidFill>
                <a:latin typeface="Cabin"/>
                <a:ea typeface="Cabin"/>
                <a:cs typeface="Cabin"/>
                <a:sym typeface="Cabin"/>
              </a:rPr>
              <a:t> Add this summary on a half-sheet paper</a:t>
            </a:r>
            <a:r>
              <a:rPr lang="en">
                <a:solidFill>
                  <a:srgbClr val="0B0B0B"/>
                </a:solidFill>
                <a:latin typeface="Cabin"/>
                <a:ea typeface="Cabin"/>
                <a:cs typeface="Cabin"/>
                <a:sym typeface="Cabin"/>
              </a:rPr>
              <a:t>, </a:t>
            </a:r>
            <a:r>
              <a:rPr lang="en">
                <a:solidFill>
                  <a:schemeClr val="dk1"/>
                </a:solidFill>
                <a:latin typeface="Cabin"/>
                <a:ea typeface="Cabin"/>
                <a:cs typeface="Cabin"/>
                <a:sym typeface="Cabin"/>
              </a:rPr>
              <a:t>with an arrow pointing from the masses to the changes in velocity and swap it onto the poster over the spot on the right that says “How are these related?”</a:t>
            </a:r>
            <a:endParaRPr i="1">
              <a:solidFill>
                <a:schemeClr val="dk1"/>
              </a:solidFill>
              <a:latin typeface="Cabin"/>
              <a:ea typeface="Cabin"/>
              <a:cs typeface="Cabin"/>
              <a:sym typeface="Cabin"/>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1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4" name="Google Shape;264;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Foreground a relationship between mass differences and velocity differences. </a:t>
            </a:r>
            <a:r>
              <a:rPr lang="en">
                <a:solidFill>
                  <a:schemeClr val="dk1"/>
                </a:solidFill>
                <a:latin typeface="Cabin"/>
                <a:ea typeface="Cabin"/>
                <a:cs typeface="Cabin"/>
                <a:sym typeface="Cabin"/>
              </a:rPr>
              <a:t>Present </a:t>
            </a:r>
            <a:r>
              <a:rPr b="1" lang="en">
                <a:solidFill>
                  <a:schemeClr val="dk1"/>
                </a:solidFill>
                <a:latin typeface="Cabin"/>
                <a:ea typeface="Cabin"/>
                <a:cs typeface="Cabin"/>
                <a:sym typeface="Cabin"/>
              </a:rPr>
              <a:t>slide S</a:t>
            </a:r>
            <a:r>
              <a:rPr lang="en">
                <a:solidFill>
                  <a:schemeClr val="dk1"/>
                </a:solidFill>
                <a:latin typeface="Cabin"/>
                <a:ea typeface="Cabin"/>
                <a:cs typeface="Cabin"/>
                <a:sym typeface="Cabin"/>
              </a:rPr>
              <a:t>, which has the change in velocity results from collisions E and F.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Say, </a:t>
            </a:r>
            <a:r>
              <a:rPr i="1" lang="en">
                <a:solidFill>
                  <a:schemeClr val="dk1"/>
                </a:solidFill>
                <a:latin typeface="Cabin"/>
                <a:ea typeface="Cabin"/>
                <a:cs typeface="Cabin"/>
                <a:sym typeface="Cabin"/>
              </a:rPr>
              <a:t>In these collisions, the masses of the carts are not equal anymore. The ratio of our masses is no longer 1 to 1. What is the ratio of the masses here again?</a:t>
            </a:r>
            <a:endParaRPr i="1">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i="1">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i="1" lang="en">
                <a:solidFill>
                  <a:schemeClr val="dk1"/>
                </a:solidFill>
                <a:latin typeface="Cabin"/>
                <a:ea typeface="Cabin"/>
                <a:cs typeface="Cabin"/>
                <a:sym typeface="Cabin"/>
              </a:rPr>
              <a:t> </a:t>
            </a:r>
            <a:r>
              <a:rPr lang="en">
                <a:solidFill>
                  <a:schemeClr val="dk1"/>
                </a:solidFill>
                <a:latin typeface="Cabin"/>
                <a:ea typeface="Cabin"/>
                <a:cs typeface="Cabin"/>
                <a:sym typeface="Cabin"/>
              </a:rPr>
              <a:t>Calculate and record this ratio at the front of the room as shown for collision E and F.</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Ask students how this compares to the ratios of the velocity changes for the two carts.  Write this symbolically on the board.</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If students already noticed that the change in velocity was twice as large as the larger cart compared to the smaller one, remind them of this noticing. Suggest that we try to calculate the  amount of velocity change for each cart, using the initial and final velocities of both. </a:t>
            </a:r>
            <a:endParaRPr b="1">
              <a:solidFill>
                <a:schemeClr val="accent3"/>
              </a:solidFill>
              <a:latin typeface="Cabin"/>
              <a:ea typeface="Cabin"/>
              <a:cs typeface="Cabin"/>
              <a:sym typeface="Cabin"/>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2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4" name="Google Shape;284;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Determine the exact values for initial and final velocities.</a:t>
            </a:r>
            <a:r>
              <a:rPr lang="en">
                <a:solidFill>
                  <a:schemeClr val="dk1"/>
                </a:solidFill>
                <a:latin typeface="Cabin"/>
                <a:ea typeface="Cabin"/>
                <a:cs typeface="Cabin"/>
                <a:sym typeface="Cabin"/>
              </a:rPr>
              <a:t> Use </a:t>
            </a:r>
            <a:r>
              <a:rPr b="1" lang="en">
                <a:solidFill>
                  <a:schemeClr val="dk1"/>
                </a:solidFill>
                <a:latin typeface="Cabin"/>
                <a:ea typeface="Cabin"/>
                <a:cs typeface="Cabin"/>
                <a:sym typeface="Cabin"/>
              </a:rPr>
              <a:t>slide T</a:t>
            </a:r>
            <a:r>
              <a:rPr lang="en">
                <a:solidFill>
                  <a:schemeClr val="dk1"/>
                </a:solidFill>
                <a:latin typeface="Cabin"/>
                <a:ea typeface="Cabin"/>
                <a:cs typeface="Cabin"/>
                <a:sym typeface="Cabin"/>
              </a:rPr>
              <a:t> to provide the data students need to determine the exact values for initial and final velocities. Have half of the room determine the change in velocity for each cart for collision E and the other half determine it for collison F. Ask students to quickly do the math on their whiteboards to see if the changes in velocity really are double.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Students should find that when the mass of one object in a collision is double that of the other object, the velocity change of that object is halved (and the velocity change of the smaller object is also doubled). Make sure to point out that this ratio has a negative sign.  Record this ratio at the front of the room as shown.  Ask them about which cart had a decrease in velocity in collision.  Students should say the green cart in both collision E and F.  Add a negative sign in front of the value of the numerator in collision to indicate this, and in front of the denominator of collision F to represent.  Then reduce these to the equivalent fractions.</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Describe the relationship we discovered between these ratios symbolically.</a:t>
            </a:r>
            <a:r>
              <a:rPr lang="en">
                <a:solidFill>
                  <a:schemeClr val="dk1"/>
                </a:solidFill>
                <a:latin typeface="Cabin"/>
                <a:ea typeface="Cabin"/>
                <a:cs typeface="Cabin"/>
                <a:sym typeface="Cabin"/>
              </a:rPr>
              <a:t> Write the mass ratio again symbolically as shown below.  Write the negative reciprocal of the change in velocity ratio on the other side of the equal side, as shown, asking students how this represents what we saw in the data.  Students should say the fraction for the ratio of the velocity changes is flipped and opposite sign compared to the fraction for the ratio of the masses.</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Ask students what we call it when we flip a fraction like this. Students may remember that in math we call this a reciprocal fraction and with an opposite sign in front of it, we refer to it as a “negative reciprocal”. Write “negative reciprocal” at the front of the room in front of the fraction on the right side of the equation.</a:t>
            </a:r>
            <a:endParaRPr b="1">
              <a:solidFill>
                <a:schemeClr val="accent3"/>
              </a:solidFill>
              <a:latin typeface="Cabin"/>
              <a:ea typeface="Cabin"/>
              <a:cs typeface="Cabin"/>
              <a:sym typeface="Cabin"/>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2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7" name="Google Shape;307;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Make predictions in a Turn and Talk.</a:t>
            </a:r>
            <a:r>
              <a:rPr lang="en">
                <a:solidFill>
                  <a:schemeClr val="dk1"/>
                </a:solidFill>
                <a:latin typeface="Cabin"/>
                <a:ea typeface="Cabin"/>
                <a:cs typeface="Cabin"/>
                <a:sym typeface="Cabin"/>
              </a:rPr>
              <a:t> Present </a:t>
            </a:r>
            <a:r>
              <a:rPr b="1" lang="en">
                <a:solidFill>
                  <a:schemeClr val="dk1"/>
                </a:solidFill>
                <a:latin typeface="Cabin"/>
                <a:ea typeface="Cabin"/>
                <a:cs typeface="Cabin"/>
                <a:sym typeface="Cabin"/>
              </a:rPr>
              <a:t>slide U</a:t>
            </a:r>
            <a:r>
              <a:rPr lang="en">
                <a:solidFill>
                  <a:schemeClr val="dk1"/>
                </a:solidFill>
                <a:latin typeface="Cabin"/>
                <a:ea typeface="Cabin"/>
                <a:cs typeface="Cabin"/>
                <a:sym typeface="Cabin"/>
              </a:rPr>
              <a:t>. Say, </a:t>
            </a:r>
            <a:r>
              <a:rPr i="1" lang="en">
                <a:solidFill>
                  <a:schemeClr val="dk1"/>
                </a:solidFill>
                <a:latin typeface="Cabin"/>
                <a:ea typeface="Cabin"/>
                <a:cs typeface="Cabin"/>
                <a:sym typeface="Cabin"/>
              </a:rPr>
              <a:t>If we think this represents what happens when the mass of one object in a collision is doubled, what about other mass ratios? What do you predict would happen if the mass of one cart was five times the mass of the other cart and they collided? </a:t>
            </a:r>
            <a:r>
              <a:rPr lang="en">
                <a:solidFill>
                  <a:schemeClr val="dk1"/>
                </a:solidFill>
                <a:latin typeface="Cabin"/>
                <a:ea typeface="Cabin"/>
                <a:cs typeface="Cabin"/>
                <a:sym typeface="Cabin"/>
              </a:rPr>
              <a:t>Give students a minute to discuss this with their partner. Then share out ideas as a whole class. Students should suggest that the ratio might hold true for other numbers, and that the velocity change of an object in the system will be five times that of the other object. Make sure to press students to identify which object will have the larger velocity change (the smaller mass object).</a:t>
            </a:r>
            <a:endParaRPr b="1">
              <a:solidFill>
                <a:schemeClr val="accent3"/>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b="1">
              <a:solidFill>
                <a:schemeClr val="accent3"/>
              </a:solidFill>
              <a:latin typeface="Cabin"/>
              <a:ea typeface="Cabin"/>
              <a:cs typeface="Cabin"/>
              <a:sym typeface="Cabin"/>
            </a:endParaRPr>
          </a:p>
          <a:p>
            <a:pPr indent="0" lvl="0" marL="0" rtl="0" algn="l">
              <a:lnSpc>
                <a:spcPct val="115000"/>
              </a:lnSpc>
              <a:spcBef>
                <a:spcPts val="0"/>
              </a:spcBef>
              <a:spcAft>
                <a:spcPts val="0"/>
              </a:spcAft>
              <a:buSzPts val="1400"/>
              <a:buNone/>
            </a:pPr>
            <a:r>
              <a:t/>
            </a:r>
            <a:endParaRPr>
              <a:solidFill>
                <a:srgbClr val="304852"/>
              </a:solidFill>
              <a:latin typeface="Cabin"/>
              <a:ea typeface="Cabin"/>
              <a:cs typeface="Cabin"/>
              <a:sym typeface="Cabin"/>
            </a:endParaRPr>
          </a:p>
          <a:p>
            <a:pPr indent="0" lvl="0" marL="0" rtl="0" algn="l">
              <a:lnSpc>
                <a:spcPct val="115000"/>
              </a:lnSpc>
              <a:spcBef>
                <a:spcPts val="0"/>
              </a:spcBef>
              <a:spcAft>
                <a:spcPts val="0"/>
              </a:spcAft>
              <a:buSzPts val="1400"/>
              <a:buNone/>
            </a:pPr>
            <a:r>
              <a:t/>
            </a:r>
            <a:endParaRPr>
              <a:solidFill>
                <a:srgbClr val="304852"/>
              </a:solidFill>
              <a:latin typeface="Cabin"/>
              <a:ea typeface="Cabin"/>
              <a:cs typeface="Cabin"/>
              <a:sym typeface="Cabin"/>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2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7" name="Google Shape;317;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t/>
            </a:r>
            <a:endParaRPr b="1">
              <a:solidFill>
                <a:schemeClr val="accent3"/>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Make connections to a real world collision scenario.</a:t>
            </a:r>
            <a:r>
              <a:rPr lang="en">
                <a:solidFill>
                  <a:schemeClr val="dk1"/>
                </a:solidFill>
                <a:latin typeface="Cabin"/>
                <a:ea typeface="Cabin"/>
                <a:cs typeface="Cabin"/>
                <a:sym typeface="Cabin"/>
              </a:rPr>
              <a:t> Present </a:t>
            </a:r>
            <a:r>
              <a:rPr b="1" lang="en">
                <a:solidFill>
                  <a:schemeClr val="dk1"/>
                </a:solidFill>
                <a:latin typeface="Cabin"/>
                <a:ea typeface="Cabin"/>
                <a:cs typeface="Cabin"/>
                <a:sym typeface="Cabin"/>
              </a:rPr>
              <a:t>slide V</a:t>
            </a:r>
            <a:r>
              <a:rPr lang="en">
                <a:solidFill>
                  <a:schemeClr val="dk1"/>
                </a:solidFill>
                <a:latin typeface="Cabin"/>
                <a:ea typeface="Cabin"/>
                <a:cs typeface="Cabin"/>
                <a:sym typeface="Cabin"/>
              </a:rPr>
              <a:t>. Point to the equation on the slide, that we also have recorded at the front of the room. Ask, </a:t>
            </a:r>
            <a:r>
              <a:rPr i="1" lang="en">
                <a:solidFill>
                  <a:schemeClr val="dk1"/>
                </a:solidFill>
                <a:latin typeface="Cabin"/>
                <a:ea typeface="Cabin"/>
                <a:cs typeface="Cabin"/>
                <a:sym typeface="Cabin"/>
              </a:rPr>
              <a:t>What does this equation mean in real life? Let’s see whether we think it has any application to a more extreme mass ratio situation. </a:t>
            </a:r>
            <a:r>
              <a:rPr lang="en">
                <a:solidFill>
                  <a:schemeClr val="dk1"/>
                </a:solidFill>
                <a:latin typeface="Cabin"/>
                <a:ea typeface="Cabin"/>
                <a:cs typeface="Cabin"/>
                <a:sym typeface="Cabin"/>
              </a:rPr>
              <a:t>Push students to make connections to real life by grounding their understanding in a scenario, like the big truck and the shopping cart. Say, </a:t>
            </a:r>
            <a:r>
              <a:rPr i="1" lang="en">
                <a:solidFill>
                  <a:schemeClr val="dk1"/>
                </a:solidFill>
                <a:latin typeface="Cabin"/>
                <a:ea typeface="Cabin"/>
                <a:cs typeface="Cabin"/>
                <a:sym typeface="Cabin"/>
              </a:rPr>
              <a:t>A big truck is approximately 20,000 kg and a shopping cart is approximately 20 kg.  So the truck has  1000 times the mass of a shopping cart. If the truck is coasting along at a constant velocity and hits a stationary shopping cart, does that mean that the shopping cart will really undergo a change in velocity that is 1000 times larger in magnitude than that of the truck?</a:t>
            </a:r>
            <a:endParaRPr i="1">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lang="en">
                <a:solidFill>
                  <a:srgbClr val="0B0B0B"/>
                </a:solidFill>
                <a:latin typeface="Cabin"/>
                <a:ea typeface="Cabin"/>
                <a:cs typeface="Cabin"/>
                <a:sym typeface="Cabin"/>
              </a:rPr>
              <a:t>Accept all ideas here. Some students may argue that it should because it matches the patterns we have seen so far. Some students may not be convinced, since it seems hard to believe. If there is disagreement here, highlight it, saying something like </a:t>
            </a:r>
            <a:r>
              <a:rPr i="1" lang="en">
                <a:solidFill>
                  <a:srgbClr val="0B0B0B"/>
                </a:solidFill>
                <a:latin typeface="Cabin"/>
                <a:ea typeface="Cabin"/>
                <a:cs typeface="Cabin"/>
                <a:sym typeface="Cabin"/>
              </a:rPr>
              <a:t> It sounds like we are going to need more data in order to resolve this.  </a:t>
            </a:r>
            <a:r>
              <a:rPr lang="en">
                <a:solidFill>
                  <a:srgbClr val="0B0B0B"/>
                </a:solidFill>
                <a:latin typeface="Cabin"/>
                <a:ea typeface="Cabin"/>
                <a:cs typeface="Cabin"/>
                <a:sym typeface="Cabin"/>
              </a:rPr>
              <a:t>If there is consensus, say,</a:t>
            </a:r>
            <a:r>
              <a:rPr i="1" lang="en">
                <a:solidFill>
                  <a:srgbClr val="0B0B0B"/>
                </a:solidFill>
                <a:latin typeface="Cabin"/>
                <a:ea typeface="Cabin"/>
                <a:cs typeface="Cabin"/>
                <a:sym typeface="Cabin"/>
              </a:rPr>
              <a:t> It sounds like we think this relationship is going to hold even for these extreme scenarios. </a:t>
            </a:r>
            <a:endParaRPr i="1">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i="1">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b="1" lang="en">
                <a:solidFill>
                  <a:srgbClr val="0B0B0B"/>
                </a:solidFill>
                <a:latin typeface="Cabin"/>
                <a:ea typeface="Cabin"/>
                <a:cs typeface="Cabin"/>
                <a:sym typeface="Cabin"/>
              </a:rPr>
              <a:t>Motivate the need to test even more scenarios.</a:t>
            </a:r>
            <a:r>
              <a:rPr lang="en">
                <a:solidFill>
                  <a:srgbClr val="0B0B0B"/>
                </a:solidFill>
                <a:latin typeface="Cabin"/>
                <a:ea typeface="Cabin"/>
                <a:cs typeface="Cabin"/>
                <a:sym typeface="Cabin"/>
              </a:rPr>
              <a:t> Ask, </a:t>
            </a:r>
            <a:r>
              <a:rPr i="1" lang="en">
                <a:solidFill>
                  <a:srgbClr val="0B0B0B"/>
                </a:solidFill>
                <a:latin typeface="Cabin"/>
                <a:ea typeface="Cabin"/>
                <a:cs typeface="Cabin"/>
                <a:sym typeface="Cabin"/>
              </a:rPr>
              <a:t>And what about situations where we aren’t changing just mass ratios. Our empirical evidence is pretty limited right now. All we have different mass related data for is for collision E and F, both of which had one object that was moving initially and one that was stationary initially. What if both the objects are moving? What if they don’t bounce off each other, and instead they stick together, which is considered an “inelastic” collision?   </a:t>
            </a:r>
            <a:r>
              <a:rPr lang="en">
                <a:solidFill>
                  <a:schemeClr val="dk1"/>
                </a:solidFill>
                <a:latin typeface="Cabin"/>
                <a:ea typeface="Cabin"/>
                <a:cs typeface="Cabin"/>
                <a:sym typeface="Cabin"/>
              </a:rPr>
              <a:t>Ask, </a:t>
            </a:r>
            <a:r>
              <a:rPr i="1" lang="en">
                <a:solidFill>
                  <a:schemeClr val="dk1"/>
                </a:solidFill>
                <a:latin typeface="Cabin"/>
                <a:ea typeface="Cabin"/>
                <a:cs typeface="Cabin"/>
                <a:sym typeface="Cabin"/>
              </a:rPr>
              <a:t>Can you think of a collision where you’ve seen two things collide and they stuck together instead of bouncing off each other? </a:t>
            </a:r>
            <a:r>
              <a:rPr lang="en">
                <a:solidFill>
                  <a:schemeClr val="dk1"/>
                </a:solidFill>
                <a:latin typeface="Cabin"/>
                <a:ea typeface="Cabin"/>
                <a:cs typeface="Cabin"/>
                <a:sym typeface="Cabin"/>
              </a:rPr>
              <a:t>Accept all ideas.</a:t>
            </a:r>
            <a:endParaRPr b="1">
              <a:solidFill>
                <a:schemeClr val="accent3"/>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b="1">
              <a:solidFill>
                <a:schemeClr val="accent3"/>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b="1">
              <a:solidFill>
                <a:schemeClr val="accent3"/>
              </a:solidFill>
              <a:latin typeface="Cabin"/>
              <a:ea typeface="Cabin"/>
              <a:cs typeface="Cabin"/>
              <a:sym typeface="Cabin"/>
            </a:endParaRPr>
          </a:p>
          <a:p>
            <a:pPr indent="0" lvl="0" marL="0" rtl="0" algn="l">
              <a:lnSpc>
                <a:spcPct val="115000"/>
              </a:lnSpc>
              <a:spcBef>
                <a:spcPts val="0"/>
              </a:spcBef>
              <a:spcAft>
                <a:spcPts val="0"/>
              </a:spcAft>
              <a:buSzPts val="1400"/>
              <a:buNone/>
            </a:pPr>
            <a:r>
              <a:t/>
            </a:r>
            <a:endParaRPr>
              <a:solidFill>
                <a:srgbClr val="304852"/>
              </a:solidFill>
              <a:latin typeface="Cabin"/>
              <a:ea typeface="Cabin"/>
              <a:cs typeface="Cabin"/>
              <a:sym typeface="Cabin"/>
            </a:endParaRPr>
          </a:p>
          <a:p>
            <a:pPr indent="0" lvl="0" marL="0" rtl="0" algn="l">
              <a:lnSpc>
                <a:spcPct val="115000"/>
              </a:lnSpc>
              <a:spcBef>
                <a:spcPts val="0"/>
              </a:spcBef>
              <a:spcAft>
                <a:spcPts val="0"/>
              </a:spcAft>
              <a:buSzPts val="1400"/>
              <a:buNone/>
            </a:pPr>
            <a:r>
              <a:t/>
            </a:r>
            <a:endParaRPr>
              <a:solidFill>
                <a:srgbClr val="304852"/>
              </a:solidFill>
              <a:latin typeface="Cabin"/>
              <a:ea typeface="Cabin"/>
              <a:cs typeface="Cabin"/>
              <a:sym typeface="Cabin"/>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2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1" name="Google Shape;331;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Take a quick poll.</a:t>
            </a:r>
            <a:r>
              <a:rPr lang="en">
                <a:solidFill>
                  <a:schemeClr val="dk1"/>
                </a:solidFill>
                <a:latin typeface="Cabin"/>
                <a:ea typeface="Cabin"/>
                <a:cs typeface="Cabin"/>
                <a:sym typeface="Cabin"/>
              </a:rPr>
              <a:t>  Display</a:t>
            </a:r>
            <a:r>
              <a:rPr b="1" lang="en">
                <a:solidFill>
                  <a:schemeClr val="dk1"/>
                </a:solidFill>
                <a:latin typeface="Cabin"/>
                <a:ea typeface="Cabin"/>
                <a:cs typeface="Cabin"/>
                <a:sym typeface="Cabin"/>
              </a:rPr>
              <a:t> slide W.</a:t>
            </a:r>
            <a:r>
              <a:rPr lang="en">
                <a:solidFill>
                  <a:schemeClr val="dk1"/>
                </a:solidFill>
                <a:latin typeface="Cabin"/>
                <a:ea typeface="Cabin"/>
                <a:cs typeface="Cabin"/>
                <a:sym typeface="Cabin"/>
              </a:rPr>
              <a:t>  Accept all responses, again emphasizing either areas of controversy or the need for additional data to support a prediction we are largely in agreement on.</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Introduce the idea of using a simulation next time to explore this question further. </a:t>
            </a:r>
            <a:r>
              <a:rPr lang="en">
                <a:solidFill>
                  <a:schemeClr val="dk1"/>
                </a:solidFill>
                <a:latin typeface="Cabin"/>
                <a:ea typeface="Cabin"/>
                <a:cs typeface="Cabin"/>
                <a:sym typeface="Cabin"/>
              </a:rPr>
              <a:t>Say,</a:t>
            </a:r>
            <a:r>
              <a:rPr i="1" lang="en">
                <a:solidFill>
                  <a:schemeClr val="dk1"/>
                </a:solidFill>
                <a:latin typeface="Cabin"/>
                <a:ea typeface="Cabin"/>
                <a:cs typeface="Cabin"/>
                <a:sym typeface="Cabin"/>
              </a:rPr>
              <a:t> </a:t>
            </a:r>
            <a:r>
              <a:rPr i="1" lang="en">
                <a:solidFill>
                  <a:srgbClr val="0B0B0B"/>
                </a:solidFill>
                <a:latin typeface="Cabin"/>
                <a:ea typeface="Cabin"/>
                <a:cs typeface="Cabin"/>
                <a:sym typeface="Cabin"/>
              </a:rPr>
              <a:t>I do have a sim that we can use next time that will allow us to explore whether this relationship holds for any of these  other collision conditions</a:t>
            </a:r>
            <a:r>
              <a:rPr i="1" lang="en">
                <a:solidFill>
                  <a:schemeClr val="dk1"/>
                </a:solidFill>
                <a:latin typeface="Cabin"/>
                <a:ea typeface="Cabin"/>
                <a:cs typeface="Cabin"/>
                <a:sym typeface="Cabin"/>
              </a:rPr>
              <a:t> we’ve been considering and/or determine what limitations it might have.</a:t>
            </a:r>
            <a:endParaRPr b="1">
              <a:solidFill>
                <a:schemeClr val="accent3"/>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b="1">
              <a:solidFill>
                <a:schemeClr val="accent3"/>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b="1">
              <a:solidFill>
                <a:schemeClr val="accent3"/>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b="1">
              <a:solidFill>
                <a:schemeClr val="accent3"/>
              </a:solidFill>
              <a:latin typeface="Cabin"/>
              <a:ea typeface="Cabin"/>
              <a:cs typeface="Cabin"/>
              <a:sym typeface="Cabin"/>
            </a:endParaRPr>
          </a:p>
          <a:p>
            <a:pPr indent="0" lvl="0" marL="0" rtl="0" algn="l">
              <a:lnSpc>
                <a:spcPct val="115000"/>
              </a:lnSpc>
              <a:spcBef>
                <a:spcPts val="0"/>
              </a:spcBef>
              <a:spcAft>
                <a:spcPts val="0"/>
              </a:spcAft>
              <a:buSzPts val="1400"/>
              <a:buNone/>
            </a:pPr>
            <a:r>
              <a:t/>
            </a:r>
            <a:endParaRPr>
              <a:solidFill>
                <a:srgbClr val="304852"/>
              </a:solidFill>
              <a:latin typeface="Cabin"/>
              <a:ea typeface="Cabin"/>
              <a:cs typeface="Cabin"/>
              <a:sym typeface="Cabin"/>
            </a:endParaRPr>
          </a:p>
          <a:p>
            <a:pPr indent="0" lvl="0" marL="0" rtl="0" algn="l">
              <a:lnSpc>
                <a:spcPct val="115000"/>
              </a:lnSpc>
              <a:spcBef>
                <a:spcPts val="0"/>
              </a:spcBef>
              <a:spcAft>
                <a:spcPts val="0"/>
              </a:spcAft>
              <a:buSzPts val="1400"/>
              <a:buNone/>
            </a:pPr>
            <a:r>
              <a:t/>
            </a:r>
            <a:endParaRPr>
              <a:solidFill>
                <a:srgbClr val="304852"/>
              </a:solidFill>
              <a:latin typeface="Cabin"/>
              <a:ea typeface="Cabin"/>
              <a:cs typeface="Cabin"/>
              <a:sym typeface="Cabi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2">
    <p:spTree>
      <p:nvGrpSpPr>
        <p:cNvPr id="7" name="Shape 7"/>
        <p:cNvGrpSpPr/>
        <p:nvPr/>
      </p:nvGrpSpPr>
      <p:grpSpPr>
        <a:xfrm>
          <a:off x="0" y="0"/>
          <a:ext cx="0" cy="0"/>
          <a:chOff x="0" y="0"/>
          <a:chExt cx="0" cy="0"/>
        </a:xfrm>
      </p:grpSpPr>
      <p:sp>
        <p:nvSpPr>
          <p:cNvPr id="8" name="Google Shape;8;p2"/>
          <p:cNvSpPr txBox="1"/>
          <p:nvPr>
            <p:ph idx="1" type="body"/>
          </p:nvPr>
        </p:nvSpPr>
        <p:spPr>
          <a:xfrm>
            <a:off x="457200" y="1536625"/>
            <a:ext cx="8229600" cy="4555200"/>
          </a:xfrm>
          <a:prstGeom prst="rect">
            <a:avLst/>
          </a:prstGeom>
          <a:noFill/>
          <a:ln>
            <a:noFill/>
          </a:ln>
        </p:spPr>
        <p:txBody>
          <a:bodyPr anchorCtr="0" anchor="t" bIns="91425" lIns="91425" spcFirstLastPara="1" rIns="91425" wrap="square" tIns="91425">
            <a:noAutofit/>
          </a:bodyPr>
          <a:lstStyle>
            <a:lvl1pPr indent="-457200" lvl="0" marL="457200" algn="l">
              <a:lnSpc>
                <a:spcPct val="115000"/>
              </a:lnSpc>
              <a:spcBef>
                <a:spcPts val="0"/>
              </a:spcBef>
              <a:spcAft>
                <a:spcPts val="0"/>
              </a:spcAft>
              <a:buSzPts val="3600"/>
              <a:buChar char="●"/>
              <a:defRPr/>
            </a:lvl1pPr>
            <a:lvl2pPr indent="-431800" lvl="1" marL="914400" algn="l">
              <a:lnSpc>
                <a:spcPct val="115000"/>
              </a:lnSpc>
              <a:spcBef>
                <a:spcPts val="1600"/>
              </a:spcBef>
              <a:spcAft>
                <a:spcPts val="0"/>
              </a:spcAft>
              <a:buSzPts val="3200"/>
              <a:buChar char="○"/>
              <a:defRPr/>
            </a:lvl2pPr>
            <a:lvl3pPr indent="-381000" lvl="2" marL="1371600" algn="l">
              <a:lnSpc>
                <a:spcPct val="115000"/>
              </a:lnSpc>
              <a:spcBef>
                <a:spcPts val="1600"/>
              </a:spcBef>
              <a:spcAft>
                <a:spcPts val="0"/>
              </a:spcAft>
              <a:buSzPts val="2400"/>
              <a:buChar char="■"/>
              <a:defRPr/>
            </a:lvl3pPr>
            <a:lvl4pPr indent="-381000" lvl="3" marL="1828800" algn="l">
              <a:lnSpc>
                <a:spcPct val="115000"/>
              </a:lnSpc>
              <a:spcBef>
                <a:spcPts val="1600"/>
              </a:spcBef>
              <a:spcAft>
                <a:spcPts val="0"/>
              </a:spcAft>
              <a:buSzPts val="2400"/>
              <a:buChar char="●"/>
              <a:defRPr/>
            </a:lvl4pPr>
            <a:lvl5pPr indent="-342900" lvl="4" marL="2286000" algn="l">
              <a:lnSpc>
                <a:spcPct val="115000"/>
              </a:lnSpc>
              <a:spcBef>
                <a:spcPts val="1600"/>
              </a:spcBef>
              <a:spcAft>
                <a:spcPts val="0"/>
              </a:spcAft>
              <a:buSzPts val="18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9" name="Google Shape;9;p2"/>
          <p:cNvSpPr txBox="1"/>
          <p:nvPr>
            <p:ph type="title"/>
          </p:nvPr>
        </p:nvSpPr>
        <p:spPr>
          <a:xfrm>
            <a:off x="457200" y="548650"/>
            <a:ext cx="8229600" cy="685800"/>
          </a:xfrm>
          <a:prstGeom prst="rect">
            <a:avLst/>
          </a:prstGeom>
          <a:solidFill>
            <a:srgbClr val="304852"/>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2800"/>
              <a:buFont typeface="Arial"/>
              <a:buNone/>
              <a:defRPr b="1" i="0" sz="2800" u="none" cap="none" strike="noStrike">
                <a:solidFill>
                  <a:srgbClr val="FFFFFF"/>
                </a:solidFill>
                <a:latin typeface="Open Sans"/>
                <a:ea typeface="Open Sans"/>
                <a:cs typeface="Open Sans"/>
                <a:sym typeface="Open Sans"/>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10" name="Google Shape;10;p2"/>
          <p:cNvSpPr txBox="1"/>
          <p:nvPr>
            <p:ph idx="2" type="subTitle"/>
          </p:nvPr>
        </p:nvSpPr>
        <p:spPr>
          <a:xfrm>
            <a:off x="457200" y="106750"/>
            <a:ext cx="2916900" cy="458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11" name="Google Shape;11;p2"/>
          <p:cNvSpPr txBox="1"/>
          <p:nvPr>
            <p:ph idx="3" type="subTitle"/>
          </p:nvPr>
        </p:nvSpPr>
        <p:spPr>
          <a:xfrm>
            <a:off x="5769900" y="106750"/>
            <a:ext cx="2916900" cy="4584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sz="1800"/>
            </a:lvl1pPr>
            <a:lvl2pPr lvl="1" algn="r">
              <a:lnSpc>
                <a:spcPct val="115000"/>
              </a:lnSpc>
              <a:spcBef>
                <a:spcPts val="1600"/>
              </a:spcBef>
              <a:spcAft>
                <a:spcPts val="0"/>
              </a:spcAft>
              <a:buSzPts val="3200"/>
              <a:buNone/>
              <a:defRPr/>
            </a:lvl2pPr>
            <a:lvl3pPr lvl="2" algn="r">
              <a:lnSpc>
                <a:spcPct val="115000"/>
              </a:lnSpc>
              <a:spcBef>
                <a:spcPts val="1600"/>
              </a:spcBef>
              <a:spcAft>
                <a:spcPts val="0"/>
              </a:spcAft>
              <a:buSzPts val="2400"/>
              <a:buNone/>
              <a:defRPr/>
            </a:lvl3pPr>
            <a:lvl4pPr lvl="3" algn="r">
              <a:lnSpc>
                <a:spcPct val="115000"/>
              </a:lnSpc>
              <a:spcBef>
                <a:spcPts val="1600"/>
              </a:spcBef>
              <a:spcAft>
                <a:spcPts val="0"/>
              </a:spcAft>
              <a:buSzPts val="2400"/>
              <a:buNone/>
              <a:defRPr/>
            </a:lvl4pPr>
            <a:lvl5pPr lvl="4" algn="r">
              <a:lnSpc>
                <a:spcPct val="115000"/>
              </a:lnSpc>
              <a:spcBef>
                <a:spcPts val="1600"/>
              </a:spcBef>
              <a:spcAft>
                <a:spcPts val="0"/>
              </a:spcAft>
              <a:buSzPts val="1800"/>
              <a:buNone/>
              <a:defRPr/>
            </a:lvl5pPr>
            <a:lvl6pPr lvl="5" algn="r">
              <a:lnSpc>
                <a:spcPct val="115000"/>
              </a:lnSpc>
              <a:spcBef>
                <a:spcPts val="1600"/>
              </a:spcBef>
              <a:spcAft>
                <a:spcPts val="0"/>
              </a:spcAft>
              <a:buSzPts val="1400"/>
              <a:buNone/>
              <a:defRPr/>
            </a:lvl6pPr>
            <a:lvl7pPr lvl="6" algn="r">
              <a:lnSpc>
                <a:spcPct val="115000"/>
              </a:lnSpc>
              <a:spcBef>
                <a:spcPts val="1600"/>
              </a:spcBef>
              <a:spcAft>
                <a:spcPts val="0"/>
              </a:spcAft>
              <a:buSzPts val="1400"/>
              <a:buNone/>
              <a:defRPr/>
            </a:lvl7pPr>
            <a:lvl8pPr lvl="7" algn="r">
              <a:lnSpc>
                <a:spcPct val="115000"/>
              </a:lnSpc>
              <a:spcBef>
                <a:spcPts val="1600"/>
              </a:spcBef>
              <a:spcAft>
                <a:spcPts val="0"/>
              </a:spcAft>
              <a:buSzPts val="1400"/>
              <a:buNone/>
              <a:defRPr/>
            </a:lvl8pPr>
            <a:lvl9pPr lvl="8" algn="r">
              <a:lnSpc>
                <a:spcPct val="115000"/>
              </a:lnSpc>
              <a:spcBef>
                <a:spcPts val="1600"/>
              </a:spcBef>
              <a:spcAft>
                <a:spcPts val="160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F3F3F3"/>
        </a:solidFill>
      </p:bgPr>
    </p:bg>
    <p:spTree>
      <p:nvGrpSpPr>
        <p:cNvPr id="12" name="Shape 12"/>
        <p:cNvGrpSpPr/>
        <p:nvPr/>
      </p:nvGrpSpPr>
      <p:grpSpPr>
        <a:xfrm>
          <a:off x="0" y="0"/>
          <a:ext cx="0" cy="0"/>
          <a:chOff x="0" y="0"/>
          <a:chExt cx="0" cy="0"/>
        </a:xfrm>
      </p:grpSpPr>
      <p:sp>
        <p:nvSpPr>
          <p:cNvPr id="13" name="Google Shape;13;p3"/>
          <p:cNvSpPr txBox="1"/>
          <p:nvPr>
            <p:ph type="ctrTitle"/>
          </p:nvPr>
        </p:nvSpPr>
        <p:spPr>
          <a:xfrm>
            <a:off x="457200" y="992775"/>
            <a:ext cx="8229600" cy="2736900"/>
          </a:xfrm>
          <a:prstGeom prst="rect">
            <a:avLst/>
          </a:prstGeom>
          <a:noFill/>
          <a:ln>
            <a:noFill/>
          </a:ln>
        </p:spPr>
        <p:txBody>
          <a:bodyPr anchorCtr="0" anchor="b" bIns="91425" lIns="91425" spcFirstLastPara="1" rIns="91425" wrap="square" tIns="91425">
            <a:noAutofit/>
          </a:bodyPr>
          <a:lstStyle>
            <a:lvl1pPr lvl="0" marR="0" rtl="0" algn="ctr">
              <a:lnSpc>
                <a:spcPct val="100000"/>
              </a:lnSpc>
              <a:spcBef>
                <a:spcPts val="0"/>
              </a:spcBef>
              <a:spcAft>
                <a:spcPts val="0"/>
              </a:spcAft>
              <a:buClr>
                <a:srgbClr val="304852"/>
              </a:buClr>
              <a:buSzPts val="3600"/>
              <a:buFont typeface="Open Sans"/>
              <a:buChar char="●"/>
              <a:defRPr b="1" i="0" sz="3600" u="none" cap="none" strike="noStrike">
                <a:solidFill>
                  <a:srgbClr val="304852"/>
                </a:solidFill>
                <a:latin typeface="Open Sans"/>
                <a:ea typeface="Open Sans"/>
                <a:cs typeface="Open Sans"/>
                <a:sym typeface="Open Sans"/>
              </a:defRPr>
            </a:lvl1pPr>
            <a:lvl2pPr lvl="1"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9pPr>
          </a:lstStyle>
          <a:p/>
        </p:txBody>
      </p:sp>
      <p:sp>
        <p:nvSpPr>
          <p:cNvPr id="14" name="Google Shape;14;p3"/>
          <p:cNvSpPr txBox="1"/>
          <p:nvPr>
            <p:ph idx="1" type="subTitle"/>
          </p:nvPr>
        </p:nvSpPr>
        <p:spPr>
          <a:xfrm>
            <a:off x="457200" y="3778825"/>
            <a:ext cx="8229600" cy="10569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2400"/>
              <a:buFont typeface="Cabin Condensed"/>
              <a:buNone/>
              <a:defRPr sz="2400">
                <a:solidFill>
                  <a:schemeClr val="dk1"/>
                </a:solidFill>
                <a:latin typeface="Cabin Condensed"/>
                <a:ea typeface="Cabin Condensed"/>
                <a:cs typeface="Cabin Condensed"/>
                <a:sym typeface="Cabin Condensed"/>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5" name="Google Shape;15;p3"/>
          <p:cNvSpPr txBox="1"/>
          <p:nvPr>
            <p:ph idx="2" type="title"/>
          </p:nvPr>
        </p:nvSpPr>
        <p:spPr>
          <a:xfrm>
            <a:off x="457200" y="548650"/>
            <a:ext cx="8229600" cy="685800"/>
          </a:xfrm>
          <a:prstGeom prst="rect">
            <a:avLst/>
          </a:prstGeom>
          <a:solidFill>
            <a:srgbClr val="27697B"/>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2800"/>
              <a:buFont typeface="Arial"/>
              <a:buNone/>
              <a:defRPr b="1" i="0" sz="2800" u="none" cap="none" strike="noStrike">
                <a:solidFill>
                  <a:srgbClr val="FFFFFF"/>
                </a:solidFill>
                <a:latin typeface="Open Sans"/>
                <a:ea typeface="Open Sans"/>
                <a:cs typeface="Open Sans"/>
                <a:sym typeface="Open Sans"/>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16" name="Google Shape;16;p3"/>
          <p:cNvSpPr txBox="1"/>
          <p:nvPr>
            <p:ph idx="3" type="subTitle"/>
          </p:nvPr>
        </p:nvSpPr>
        <p:spPr>
          <a:xfrm>
            <a:off x="457200" y="106750"/>
            <a:ext cx="4073400" cy="458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b="0" sz="1500">
                <a:solidFill>
                  <a:srgbClr val="304852"/>
                </a:solidFill>
              </a:defRPr>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17" name="Google Shape;17;p3"/>
          <p:cNvSpPr txBox="1"/>
          <p:nvPr>
            <p:ph idx="4" type="subTitle"/>
          </p:nvPr>
        </p:nvSpPr>
        <p:spPr>
          <a:xfrm>
            <a:off x="5114300" y="106750"/>
            <a:ext cx="3572400" cy="4584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b="0" sz="1500">
                <a:solidFill>
                  <a:srgbClr val="304852"/>
                </a:solidFill>
              </a:defRPr>
            </a:lvl1pPr>
            <a:lvl2pPr lvl="1" algn="r">
              <a:lnSpc>
                <a:spcPct val="115000"/>
              </a:lnSpc>
              <a:spcBef>
                <a:spcPts val="1600"/>
              </a:spcBef>
              <a:spcAft>
                <a:spcPts val="0"/>
              </a:spcAft>
              <a:buSzPts val="3200"/>
              <a:buNone/>
              <a:defRPr/>
            </a:lvl2pPr>
            <a:lvl3pPr lvl="2" algn="r">
              <a:lnSpc>
                <a:spcPct val="115000"/>
              </a:lnSpc>
              <a:spcBef>
                <a:spcPts val="1600"/>
              </a:spcBef>
              <a:spcAft>
                <a:spcPts val="0"/>
              </a:spcAft>
              <a:buSzPts val="2400"/>
              <a:buNone/>
              <a:defRPr/>
            </a:lvl3pPr>
            <a:lvl4pPr lvl="3" algn="r">
              <a:lnSpc>
                <a:spcPct val="115000"/>
              </a:lnSpc>
              <a:spcBef>
                <a:spcPts val="1600"/>
              </a:spcBef>
              <a:spcAft>
                <a:spcPts val="0"/>
              </a:spcAft>
              <a:buSzPts val="2400"/>
              <a:buNone/>
              <a:defRPr/>
            </a:lvl4pPr>
            <a:lvl5pPr lvl="4" algn="r">
              <a:lnSpc>
                <a:spcPct val="115000"/>
              </a:lnSpc>
              <a:spcBef>
                <a:spcPts val="1600"/>
              </a:spcBef>
              <a:spcAft>
                <a:spcPts val="0"/>
              </a:spcAft>
              <a:buSzPts val="1800"/>
              <a:buNone/>
              <a:defRPr/>
            </a:lvl5pPr>
            <a:lvl6pPr lvl="5" algn="r">
              <a:lnSpc>
                <a:spcPct val="115000"/>
              </a:lnSpc>
              <a:spcBef>
                <a:spcPts val="1600"/>
              </a:spcBef>
              <a:spcAft>
                <a:spcPts val="0"/>
              </a:spcAft>
              <a:buSzPts val="1400"/>
              <a:buNone/>
              <a:defRPr/>
            </a:lvl6pPr>
            <a:lvl7pPr lvl="6" algn="r">
              <a:lnSpc>
                <a:spcPct val="115000"/>
              </a:lnSpc>
              <a:spcBef>
                <a:spcPts val="1600"/>
              </a:spcBef>
              <a:spcAft>
                <a:spcPts val="0"/>
              </a:spcAft>
              <a:buSzPts val="1400"/>
              <a:buNone/>
              <a:defRPr/>
            </a:lvl7pPr>
            <a:lvl8pPr lvl="7" algn="r">
              <a:lnSpc>
                <a:spcPct val="115000"/>
              </a:lnSpc>
              <a:spcBef>
                <a:spcPts val="1600"/>
              </a:spcBef>
              <a:spcAft>
                <a:spcPts val="0"/>
              </a:spcAft>
              <a:buSzPts val="1400"/>
              <a:buNone/>
              <a:defRPr/>
            </a:lvl8pPr>
            <a:lvl9pPr lvl="8" algn="r">
              <a:lnSpc>
                <a:spcPct val="115000"/>
              </a:lnSpc>
              <a:spcBef>
                <a:spcPts val="1600"/>
              </a:spcBef>
              <a:spcAft>
                <a:spcPts val="160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8" name="Shape 18"/>
        <p:cNvGrpSpPr/>
        <p:nvPr/>
      </p:nvGrpSpPr>
      <p:grpSpPr>
        <a:xfrm>
          <a:off x="0" y="0"/>
          <a:ext cx="0" cy="0"/>
          <a:chOff x="0" y="0"/>
          <a:chExt cx="0" cy="0"/>
        </a:xfrm>
      </p:grpSpPr>
      <p:sp>
        <p:nvSpPr>
          <p:cNvPr id="19" name="Google Shape;19;p4"/>
          <p:cNvSpPr txBox="1"/>
          <p:nvPr>
            <p:ph type="title"/>
          </p:nvPr>
        </p:nvSpPr>
        <p:spPr>
          <a:xfrm>
            <a:off x="457200" y="2867800"/>
            <a:ext cx="8229600" cy="1122300"/>
          </a:xfrm>
          <a:prstGeom prst="rect">
            <a:avLst/>
          </a:prstGeom>
          <a:noFill/>
          <a:ln>
            <a:noFill/>
          </a:ln>
        </p:spPr>
        <p:txBody>
          <a:bodyPr anchorCtr="0" anchor="ctr" bIns="91425" lIns="91425" spcFirstLastPara="1" rIns="91425" wrap="square" tIns="91425">
            <a:noAutofit/>
          </a:bodyPr>
          <a:lstStyle>
            <a:lvl1pPr lvl="0" marR="0" rtl="0" algn="ctr">
              <a:lnSpc>
                <a:spcPct val="100000"/>
              </a:lnSpc>
              <a:spcBef>
                <a:spcPts val="0"/>
              </a:spcBef>
              <a:spcAft>
                <a:spcPts val="0"/>
              </a:spcAft>
              <a:buClr>
                <a:srgbClr val="304852"/>
              </a:buClr>
              <a:buSzPts val="3600"/>
              <a:buFont typeface="Open Sans"/>
              <a:buChar char="●"/>
              <a:defRPr b="0" i="0" sz="3600" u="none" cap="none" strike="noStrike">
                <a:solidFill>
                  <a:srgbClr val="304852"/>
                </a:solidFill>
                <a:latin typeface="Open Sans"/>
                <a:ea typeface="Open Sans"/>
                <a:cs typeface="Open Sans"/>
                <a:sym typeface="Open Sans"/>
              </a:defRPr>
            </a:lvl1pPr>
            <a:lvl2pPr lvl="1"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9pPr>
          </a:lstStyle>
          <a:p/>
        </p:txBody>
      </p:sp>
      <p:sp>
        <p:nvSpPr>
          <p:cNvPr id="20" name="Google Shape;20;p4"/>
          <p:cNvSpPr txBox="1"/>
          <p:nvPr>
            <p:ph idx="2" type="title"/>
          </p:nvPr>
        </p:nvSpPr>
        <p:spPr>
          <a:xfrm>
            <a:off x="457200" y="548650"/>
            <a:ext cx="8229600" cy="685800"/>
          </a:xfrm>
          <a:prstGeom prst="rect">
            <a:avLst/>
          </a:prstGeom>
          <a:solidFill>
            <a:srgbClr val="27697B"/>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2800"/>
              <a:buFont typeface="Arial"/>
              <a:buNone/>
              <a:defRPr b="1" i="0" sz="2800" u="none" cap="none" strike="noStrike">
                <a:solidFill>
                  <a:srgbClr val="FFFFFF"/>
                </a:solidFill>
                <a:latin typeface="Open Sans"/>
                <a:ea typeface="Open Sans"/>
                <a:cs typeface="Open Sans"/>
                <a:sym typeface="Open Sans"/>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21" name="Google Shape;21;p4"/>
          <p:cNvSpPr txBox="1"/>
          <p:nvPr>
            <p:ph idx="1" type="subTitle"/>
          </p:nvPr>
        </p:nvSpPr>
        <p:spPr>
          <a:xfrm>
            <a:off x="457200" y="106750"/>
            <a:ext cx="4369200" cy="458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b="0" sz="15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22" name="Google Shape;22;p4"/>
          <p:cNvSpPr txBox="1"/>
          <p:nvPr>
            <p:ph idx="3" type="subTitle"/>
          </p:nvPr>
        </p:nvSpPr>
        <p:spPr>
          <a:xfrm>
            <a:off x="4678375" y="106750"/>
            <a:ext cx="4008300" cy="4584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b="0" sz="1500"/>
            </a:lvl1pPr>
            <a:lvl2pPr lvl="1" algn="r">
              <a:lnSpc>
                <a:spcPct val="115000"/>
              </a:lnSpc>
              <a:spcBef>
                <a:spcPts val="1600"/>
              </a:spcBef>
              <a:spcAft>
                <a:spcPts val="0"/>
              </a:spcAft>
              <a:buSzPts val="3200"/>
              <a:buNone/>
              <a:defRPr/>
            </a:lvl2pPr>
            <a:lvl3pPr lvl="2" algn="r">
              <a:lnSpc>
                <a:spcPct val="115000"/>
              </a:lnSpc>
              <a:spcBef>
                <a:spcPts val="1600"/>
              </a:spcBef>
              <a:spcAft>
                <a:spcPts val="0"/>
              </a:spcAft>
              <a:buSzPts val="2400"/>
              <a:buNone/>
              <a:defRPr/>
            </a:lvl3pPr>
            <a:lvl4pPr lvl="3" algn="r">
              <a:lnSpc>
                <a:spcPct val="115000"/>
              </a:lnSpc>
              <a:spcBef>
                <a:spcPts val="1600"/>
              </a:spcBef>
              <a:spcAft>
                <a:spcPts val="0"/>
              </a:spcAft>
              <a:buSzPts val="2400"/>
              <a:buNone/>
              <a:defRPr/>
            </a:lvl4pPr>
            <a:lvl5pPr lvl="4" algn="r">
              <a:lnSpc>
                <a:spcPct val="115000"/>
              </a:lnSpc>
              <a:spcBef>
                <a:spcPts val="1600"/>
              </a:spcBef>
              <a:spcAft>
                <a:spcPts val="0"/>
              </a:spcAft>
              <a:buSzPts val="1800"/>
              <a:buNone/>
              <a:defRPr/>
            </a:lvl5pPr>
            <a:lvl6pPr lvl="5" algn="r">
              <a:lnSpc>
                <a:spcPct val="115000"/>
              </a:lnSpc>
              <a:spcBef>
                <a:spcPts val="1600"/>
              </a:spcBef>
              <a:spcAft>
                <a:spcPts val="0"/>
              </a:spcAft>
              <a:buSzPts val="1400"/>
              <a:buNone/>
              <a:defRPr/>
            </a:lvl6pPr>
            <a:lvl7pPr lvl="6" algn="r">
              <a:lnSpc>
                <a:spcPct val="115000"/>
              </a:lnSpc>
              <a:spcBef>
                <a:spcPts val="1600"/>
              </a:spcBef>
              <a:spcAft>
                <a:spcPts val="0"/>
              </a:spcAft>
              <a:buSzPts val="1400"/>
              <a:buNone/>
              <a:defRPr/>
            </a:lvl7pPr>
            <a:lvl8pPr lvl="7" algn="r">
              <a:lnSpc>
                <a:spcPct val="115000"/>
              </a:lnSpc>
              <a:spcBef>
                <a:spcPts val="1600"/>
              </a:spcBef>
              <a:spcAft>
                <a:spcPts val="0"/>
              </a:spcAft>
              <a:buSzPts val="1400"/>
              <a:buNone/>
              <a:defRPr/>
            </a:lvl8pPr>
            <a:lvl9pPr lvl="8" algn="r">
              <a:lnSpc>
                <a:spcPct val="115000"/>
              </a:lnSpc>
              <a:spcBef>
                <a:spcPts val="1600"/>
              </a:spcBef>
              <a:spcAft>
                <a:spcPts val="160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5"/>
          <p:cNvSpPr txBox="1"/>
          <p:nvPr>
            <p:ph idx="1" type="body"/>
          </p:nvPr>
        </p:nvSpPr>
        <p:spPr>
          <a:xfrm>
            <a:off x="457200" y="1536625"/>
            <a:ext cx="8229600" cy="4555200"/>
          </a:xfrm>
          <a:prstGeom prst="rect">
            <a:avLst/>
          </a:prstGeom>
          <a:noFill/>
          <a:ln>
            <a:noFill/>
          </a:ln>
        </p:spPr>
        <p:txBody>
          <a:bodyPr anchorCtr="0" anchor="t" bIns="91425" lIns="91425" spcFirstLastPara="1" rIns="91425" wrap="square" tIns="91425">
            <a:noAutofit/>
          </a:bodyPr>
          <a:lstStyle>
            <a:lvl1pPr indent="-457200" lvl="0" marL="457200" algn="l">
              <a:lnSpc>
                <a:spcPct val="115000"/>
              </a:lnSpc>
              <a:spcBef>
                <a:spcPts val="0"/>
              </a:spcBef>
              <a:spcAft>
                <a:spcPts val="0"/>
              </a:spcAft>
              <a:buSzPts val="3600"/>
              <a:buChar char="●"/>
              <a:defRPr/>
            </a:lvl1pPr>
            <a:lvl2pPr indent="-431800" lvl="1" marL="914400" algn="l">
              <a:lnSpc>
                <a:spcPct val="115000"/>
              </a:lnSpc>
              <a:spcBef>
                <a:spcPts val="1600"/>
              </a:spcBef>
              <a:spcAft>
                <a:spcPts val="0"/>
              </a:spcAft>
              <a:buSzPts val="3200"/>
              <a:buChar char="○"/>
              <a:defRPr/>
            </a:lvl2pPr>
            <a:lvl3pPr indent="-381000" lvl="2" marL="1371600" algn="l">
              <a:lnSpc>
                <a:spcPct val="115000"/>
              </a:lnSpc>
              <a:spcBef>
                <a:spcPts val="1600"/>
              </a:spcBef>
              <a:spcAft>
                <a:spcPts val="0"/>
              </a:spcAft>
              <a:buSzPts val="2400"/>
              <a:buChar char="■"/>
              <a:defRPr/>
            </a:lvl3pPr>
            <a:lvl4pPr indent="-381000" lvl="3" marL="1828800" algn="l">
              <a:lnSpc>
                <a:spcPct val="115000"/>
              </a:lnSpc>
              <a:spcBef>
                <a:spcPts val="1600"/>
              </a:spcBef>
              <a:spcAft>
                <a:spcPts val="0"/>
              </a:spcAft>
              <a:buSzPts val="2400"/>
              <a:buChar char="●"/>
              <a:defRPr/>
            </a:lvl4pPr>
            <a:lvl5pPr indent="-342900" lvl="4" marL="2286000" algn="l">
              <a:lnSpc>
                <a:spcPct val="115000"/>
              </a:lnSpc>
              <a:spcBef>
                <a:spcPts val="1600"/>
              </a:spcBef>
              <a:spcAft>
                <a:spcPts val="0"/>
              </a:spcAft>
              <a:buSzPts val="18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25" name="Google Shape;25;p5"/>
          <p:cNvSpPr txBox="1"/>
          <p:nvPr>
            <p:ph type="title"/>
          </p:nvPr>
        </p:nvSpPr>
        <p:spPr>
          <a:xfrm>
            <a:off x="457200" y="548650"/>
            <a:ext cx="8229600" cy="685800"/>
          </a:xfrm>
          <a:prstGeom prst="rect">
            <a:avLst/>
          </a:prstGeom>
          <a:solidFill>
            <a:srgbClr val="27697B"/>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2800"/>
              <a:buFont typeface="Arial"/>
              <a:buNone/>
              <a:defRPr b="1" i="0" sz="2800" u="none" cap="none" strike="noStrike">
                <a:solidFill>
                  <a:srgbClr val="FFFFFF"/>
                </a:solidFill>
                <a:latin typeface="Open Sans"/>
                <a:ea typeface="Open Sans"/>
                <a:cs typeface="Open Sans"/>
                <a:sym typeface="Open Sans"/>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26" name="Google Shape;26;p5"/>
          <p:cNvSpPr txBox="1"/>
          <p:nvPr>
            <p:ph idx="2" type="subTitle"/>
          </p:nvPr>
        </p:nvSpPr>
        <p:spPr>
          <a:xfrm>
            <a:off x="457200" y="106750"/>
            <a:ext cx="3823500" cy="458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b="0" sz="15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27" name="Google Shape;27;p5"/>
          <p:cNvSpPr txBox="1"/>
          <p:nvPr>
            <p:ph idx="3" type="subTitle"/>
          </p:nvPr>
        </p:nvSpPr>
        <p:spPr>
          <a:xfrm>
            <a:off x="5370875" y="106750"/>
            <a:ext cx="3315900" cy="4584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b="0" sz="1500"/>
            </a:lvl1pPr>
            <a:lvl2pPr lvl="1" algn="r">
              <a:lnSpc>
                <a:spcPct val="115000"/>
              </a:lnSpc>
              <a:spcBef>
                <a:spcPts val="1600"/>
              </a:spcBef>
              <a:spcAft>
                <a:spcPts val="0"/>
              </a:spcAft>
              <a:buSzPts val="3200"/>
              <a:buNone/>
              <a:defRPr/>
            </a:lvl2pPr>
            <a:lvl3pPr lvl="2" algn="r">
              <a:lnSpc>
                <a:spcPct val="115000"/>
              </a:lnSpc>
              <a:spcBef>
                <a:spcPts val="1600"/>
              </a:spcBef>
              <a:spcAft>
                <a:spcPts val="0"/>
              </a:spcAft>
              <a:buSzPts val="2400"/>
              <a:buNone/>
              <a:defRPr/>
            </a:lvl3pPr>
            <a:lvl4pPr lvl="3" algn="r">
              <a:lnSpc>
                <a:spcPct val="115000"/>
              </a:lnSpc>
              <a:spcBef>
                <a:spcPts val="1600"/>
              </a:spcBef>
              <a:spcAft>
                <a:spcPts val="0"/>
              </a:spcAft>
              <a:buSzPts val="2400"/>
              <a:buNone/>
              <a:defRPr/>
            </a:lvl4pPr>
            <a:lvl5pPr lvl="4" algn="r">
              <a:lnSpc>
                <a:spcPct val="115000"/>
              </a:lnSpc>
              <a:spcBef>
                <a:spcPts val="1600"/>
              </a:spcBef>
              <a:spcAft>
                <a:spcPts val="0"/>
              </a:spcAft>
              <a:buSzPts val="1800"/>
              <a:buNone/>
              <a:defRPr/>
            </a:lvl5pPr>
            <a:lvl6pPr lvl="5" algn="r">
              <a:lnSpc>
                <a:spcPct val="115000"/>
              </a:lnSpc>
              <a:spcBef>
                <a:spcPts val="1600"/>
              </a:spcBef>
              <a:spcAft>
                <a:spcPts val="0"/>
              </a:spcAft>
              <a:buSzPts val="1400"/>
              <a:buNone/>
              <a:defRPr/>
            </a:lvl6pPr>
            <a:lvl7pPr lvl="6" algn="r">
              <a:lnSpc>
                <a:spcPct val="115000"/>
              </a:lnSpc>
              <a:spcBef>
                <a:spcPts val="1600"/>
              </a:spcBef>
              <a:spcAft>
                <a:spcPts val="0"/>
              </a:spcAft>
              <a:buSzPts val="1400"/>
              <a:buNone/>
              <a:defRPr/>
            </a:lvl7pPr>
            <a:lvl8pPr lvl="7" algn="r">
              <a:lnSpc>
                <a:spcPct val="115000"/>
              </a:lnSpc>
              <a:spcBef>
                <a:spcPts val="1600"/>
              </a:spcBef>
              <a:spcAft>
                <a:spcPts val="0"/>
              </a:spcAft>
              <a:buSzPts val="1400"/>
              <a:buNone/>
              <a:defRPr/>
            </a:lvl8pPr>
            <a:lvl9pPr lvl="8" algn="r">
              <a:lnSpc>
                <a:spcPct val="115000"/>
              </a:lnSpc>
              <a:spcBef>
                <a:spcPts val="1600"/>
              </a:spcBef>
              <a:spcAft>
                <a:spcPts val="160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6"/>
          <p:cNvSpPr txBox="1"/>
          <p:nvPr>
            <p:ph type="title"/>
          </p:nvPr>
        </p:nvSpPr>
        <p:spPr>
          <a:xfrm>
            <a:off x="457200" y="548650"/>
            <a:ext cx="8229600" cy="685800"/>
          </a:xfrm>
          <a:prstGeom prst="rect">
            <a:avLst/>
          </a:prstGeom>
          <a:solidFill>
            <a:srgbClr val="27697B"/>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2800"/>
              <a:buFont typeface="Arial"/>
              <a:buNone/>
              <a:defRPr b="1" i="0" sz="2800" u="none" cap="none" strike="noStrike">
                <a:solidFill>
                  <a:srgbClr val="FFFFFF"/>
                </a:solidFill>
                <a:latin typeface="Open Sans"/>
                <a:ea typeface="Open Sans"/>
                <a:cs typeface="Open Sans"/>
                <a:sym typeface="Open Sans"/>
              </a:defRPr>
            </a:lvl1pPr>
            <a:lvl2pPr lvl="1"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2pPr>
            <a:lvl3pPr lvl="2"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3pPr>
            <a:lvl4pPr lvl="3"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4pPr>
            <a:lvl5pPr lvl="4"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5pPr>
            <a:lvl6pPr lvl="5"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6pPr>
            <a:lvl7pPr lvl="6"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7pPr>
            <a:lvl8pPr lvl="7"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8pPr>
            <a:lvl9pPr lvl="8"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9pPr>
          </a:lstStyle>
          <a:p/>
        </p:txBody>
      </p:sp>
      <p:sp>
        <p:nvSpPr>
          <p:cNvPr id="30" name="Google Shape;30;p6"/>
          <p:cNvSpPr txBox="1"/>
          <p:nvPr>
            <p:ph idx="1" type="subTitle"/>
          </p:nvPr>
        </p:nvSpPr>
        <p:spPr>
          <a:xfrm>
            <a:off x="457200" y="106750"/>
            <a:ext cx="4377300" cy="458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b="0" sz="15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31" name="Google Shape;31;p6"/>
          <p:cNvSpPr txBox="1"/>
          <p:nvPr>
            <p:ph idx="2" type="subTitle"/>
          </p:nvPr>
        </p:nvSpPr>
        <p:spPr>
          <a:xfrm>
            <a:off x="4876900" y="106750"/>
            <a:ext cx="3810000" cy="4584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b="0" sz="1500"/>
            </a:lvl1pPr>
            <a:lvl2pPr lvl="1" algn="r">
              <a:lnSpc>
                <a:spcPct val="115000"/>
              </a:lnSpc>
              <a:spcBef>
                <a:spcPts val="1600"/>
              </a:spcBef>
              <a:spcAft>
                <a:spcPts val="0"/>
              </a:spcAft>
              <a:buSzPts val="3200"/>
              <a:buNone/>
              <a:defRPr/>
            </a:lvl2pPr>
            <a:lvl3pPr lvl="2" algn="r">
              <a:lnSpc>
                <a:spcPct val="115000"/>
              </a:lnSpc>
              <a:spcBef>
                <a:spcPts val="1600"/>
              </a:spcBef>
              <a:spcAft>
                <a:spcPts val="0"/>
              </a:spcAft>
              <a:buSzPts val="2400"/>
              <a:buNone/>
              <a:defRPr/>
            </a:lvl3pPr>
            <a:lvl4pPr lvl="3" algn="r">
              <a:lnSpc>
                <a:spcPct val="115000"/>
              </a:lnSpc>
              <a:spcBef>
                <a:spcPts val="1600"/>
              </a:spcBef>
              <a:spcAft>
                <a:spcPts val="0"/>
              </a:spcAft>
              <a:buSzPts val="2400"/>
              <a:buNone/>
              <a:defRPr/>
            </a:lvl4pPr>
            <a:lvl5pPr lvl="4" algn="r">
              <a:lnSpc>
                <a:spcPct val="115000"/>
              </a:lnSpc>
              <a:spcBef>
                <a:spcPts val="1600"/>
              </a:spcBef>
              <a:spcAft>
                <a:spcPts val="0"/>
              </a:spcAft>
              <a:buSzPts val="1800"/>
              <a:buNone/>
              <a:defRPr/>
            </a:lvl5pPr>
            <a:lvl6pPr lvl="5" algn="r">
              <a:lnSpc>
                <a:spcPct val="115000"/>
              </a:lnSpc>
              <a:spcBef>
                <a:spcPts val="1600"/>
              </a:spcBef>
              <a:spcAft>
                <a:spcPts val="0"/>
              </a:spcAft>
              <a:buSzPts val="1400"/>
              <a:buNone/>
              <a:defRPr/>
            </a:lvl6pPr>
            <a:lvl7pPr lvl="6" algn="r">
              <a:lnSpc>
                <a:spcPct val="115000"/>
              </a:lnSpc>
              <a:spcBef>
                <a:spcPts val="1600"/>
              </a:spcBef>
              <a:spcAft>
                <a:spcPts val="0"/>
              </a:spcAft>
              <a:buSzPts val="1400"/>
              <a:buNone/>
              <a:defRPr/>
            </a:lvl7pPr>
            <a:lvl8pPr lvl="7" algn="r">
              <a:lnSpc>
                <a:spcPct val="115000"/>
              </a:lnSpc>
              <a:spcBef>
                <a:spcPts val="1600"/>
              </a:spcBef>
              <a:spcAft>
                <a:spcPts val="0"/>
              </a:spcAft>
              <a:buSzPts val="1400"/>
              <a:buNone/>
              <a:defRPr/>
            </a:lvl8pPr>
            <a:lvl9pPr lvl="8" algn="r">
              <a:lnSpc>
                <a:spcPct val="115000"/>
              </a:lnSpc>
              <a:spcBef>
                <a:spcPts val="1600"/>
              </a:spcBef>
              <a:spcAft>
                <a:spcPts val="160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2" name="Shape 32"/>
        <p:cNvGrpSpPr/>
        <p:nvPr/>
      </p:nvGrpSpPr>
      <p:grpSpPr>
        <a:xfrm>
          <a:off x="0" y="0"/>
          <a:ext cx="0" cy="0"/>
          <a:chOff x="0" y="0"/>
          <a:chExt cx="0" cy="0"/>
        </a:xfrm>
      </p:grpSpPr>
      <p:sp>
        <p:nvSpPr>
          <p:cNvPr id="33" name="Google Shape;33;p7"/>
          <p:cNvSpPr txBox="1"/>
          <p:nvPr>
            <p:ph type="title"/>
          </p:nvPr>
        </p:nvSpPr>
        <p:spPr>
          <a:xfrm>
            <a:off x="457200" y="1644225"/>
            <a:ext cx="3853500" cy="1976400"/>
          </a:xfrm>
          <a:prstGeom prst="rect">
            <a:avLst/>
          </a:prstGeom>
          <a:noFill/>
          <a:ln>
            <a:noFill/>
          </a:ln>
        </p:spPr>
        <p:txBody>
          <a:bodyPr anchorCtr="0" anchor="b" bIns="91425" lIns="91425" spcFirstLastPara="1" rIns="91425" wrap="square" tIns="91425">
            <a:noAutofit/>
          </a:bodyPr>
          <a:lstStyle>
            <a:lvl1pPr lvl="0" marR="0" rtl="0" algn="ctr">
              <a:lnSpc>
                <a:spcPct val="100000"/>
              </a:lnSpc>
              <a:spcBef>
                <a:spcPts val="0"/>
              </a:spcBef>
              <a:spcAft>
                <a:spcPts val="0"/>
              </a:spcAft>
              <a:buClr>
                <a:srgbClr val="304852"/>
              </a:buClr>
              <a:buSzPts val="2400"/>
              <a:buFont typeface="Cabin Condensed"/>
              <a:buChar char="●"/>
              <a:defRPr b="0" i="0" sz="2400" u="none" cap="none" strike="noStrike">
                <a:solidFill>
                  <a:srgbClr val="304852"/>
                </a:solidFill>
                <a:latin typeface="Cabin Condensed"/>
                <a:ea typeface="Cabin Condensed"/>
                <a:cs typeface="Cabin Condensed"/>
                <a:sym typeface="Cabin Condensed"/>
              </a:defRPr>
            </a:lvl1pPr>
            <a:lvl2pPr lvl="1"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9pPr>
          </a:lstStyle>
          <a:p/>
        </p:txBody>
      </p:sp>
      <p:sp>
        <p:nvSpPr>
          <p:cNvPr id="34" name="Google Shape;34;p7"/>
          <p:cNvSpPr txBox="1"/>
          <p:nvPr>
            <p:ph idx="1" type="subTitle"/>
          </p:nvPr>
        </p:nvSpPr>
        <p:spPr>
          <a:xfrm>
            <a:off x="457275" y="3737425"/>
            <a:ext cx="3853500" cy="1646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B0B0B"/>
              </a:buClr>
              <a:buSzPts val="1800"/>
              <a:buFont typeface="Cabin"/>
              <a:buNone/>
              <a:defRPr sz="1800">
                <a:solidFill>
                  <a:srgbClr val="0B0B0B"/>
                </a:solidFill>
                <a:latin typeface="Cabin"/>
                <a:ea typeface="Cabin"/>
                <a:cs typeface="Cabin"/>
                <a:sym typeface="Cabin"/>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5" name="Google Shape;35;p7"/>
          <p:cNvSpPr txBox="1"/>
          <p:nvPr>
            <p:ph idx="2" type="title"/>
          </p:nvPr>
        </p:nvSpPr>
        <p:spPr>
          <a:xfrm>
            <a:off x="457200" y="548650"/>
            <a:ext cx="8229600" cy="685800"/>
          </a:xfrm>
          <a:prstGeom prst="rect">
            <a:avLst/>
          </a:prstGeom>
          <a:solidFill>
            <a:srgbClr val="27697B"/>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2800"/>
              <a:buFont typeface="Arial"/>
              <a:buNone/>
              <a:defRPr b="1" i="0" sz="2800" u="none" cap="none" strike="noStrike">
                <a:solidFill>
                  <a:srgbClr val="FFFFFF"/>
                </a:solidFill>
                <a:latin typeface="Open Sans"/>
                <a:ea typeface="Open Sans"/>
                <a:cs typeface="Open Sans"/>
                <a:sym typeface="Open Sans"/>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36" name="Google Shape;36;p7"/>
          <p:cNvSpPr txBox="1"/>
          <p:nvPr>
            <p:ph idx="3" type="subTitle"/>
          </p:nvPr>
        </p:nvSpPr>
        <p:spPr>
          <a:xfrm>
            <a:off x="457200" y="106750"/>
            <a:ext cx="4233300" cy="458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b="0" sz="15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37" name="Google Shape;37;p7"/>
          <p:cNvSpPr txBox="1"/>
          <p:nvPr>
            <p:ph idx="4" type="subTitle"/>
          </p:nvPr>
        </p:nvSpPr>
        <p:spPr>
          <a:xfrm>
            <a:off x="4690500" y="106750"/>
            <a:ext cx="3996300" cy="4584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b="0" sz="1500"/>
            </a:lvl1pPr>
            <a:lvl2pPr lvl="1" algn="r">
              <a:lnSpc>
                <a:spcPct val="115000"/>
              </a:lnSpc>
              <a:spcBef>
                <a:spcPts val="1600"/>
              </a:spcBef>
              <a:spcAft>
                <a:spcPts val="0"/>
              </a:spcAft>
              <a:buSzPts val="3200"/>
              <a:buNone/>
              <a:defRPr/>
            </a:lvl2pPr>
            <a:lvl3pPr lvl="2" algn="r">
              <a:lnSpc>
                <a:spcPct val="115000"/>
              </a:lnSpc>
              <a:spcBef>
                <a:spcPts val="1600"/>
              </a:spcBef>
              <a:spcAft>
                <a:spcPts val="0"/>
              </a:spcAft>
              <a:buSzPts val="2400"/>
              <a:buNone/>
              <a:defRPr/>
            </a:lvl3pPr>
            <a:lvl4pPr lvl="3" algn="r">
              <a:lnSpc>
                <a:spcPct val="115000"/>
              </a:lnSpc>
              <a:spcBef>
                <a:spcPts val="1600"/>
              </a:spcBef>
              <a:spcAft>
                <a:spcPts val="0"/>
              </a:spcAft>
              <a:buSzPts val="2400"/>
              <a:buNone/>
              <a:defRPr/>
            </a:lvl4pPr>
            <a:lvl5pPr lvl="4" algn="r">
              <a:lnSpc>
                <a:spcPct val="115000"/>
              </a:lnSpc>
              <a:spcBef>
                <a:spcPts val="1600"/>
              </a:spcBef>
              <a:spcAft>
                <a:spcPts val="0"/>
              </a:spcAft>
              <a:buSzPts val="1800"/>
              <a:buNone/>
              <a:defRPr/>
            </a:lvl5pPr>
            <a:lvl6pPr lvl="5" algn="r">
              <a:lnSpc>
                <a:spcPct val="115000"/>
              </a:lnSpc>
              <a:spcBef>
                <a:spcPts val="1600"/>
              </a:spcBef>
              <a:spcAft>
                <a:spcPts val="0"/>
              </a:spcAft>
              <a:buSzPts val="1400"/>
              <a:buNone/>
              <a:defRPr/>
            </a:lvl6pPr>
            <a:lvl7pPr lvl="6" algn="r">
              <a:lnSpc>
                <a:spcPct val="115000"/>
              </a:lnSpc>
              <a:spcBef>
                <a:spcPts val="1600"/>
              </a:spcBef>
              <a:spcAft>
                <a:spcPts val="0"/>
              </a:spcAft>
              <a:buSzPts val="1400"/>
              <a:buNone/>
              <a:defRPr/>
            </a:lvl7pPr>
            <a:lvl8pPr lvl="7" algn="r">
              <a:lnSpc>
                <a:spcPct val="115000"/>
              </a:lnSpc>
              <a:spcBef>
                <a:spcPts val="1600"/>
              </a:spcBef>
              <a:spcAft>
                <a:spcPts val="0"/>
              </a:spcAft>
              <a:buSzPts val="1400"/>
              <a:buNone/>
              <a:defRPr/>
            </a:lvl8pPr>
            <a:lvl9pPr lvl="8" algn="r">
              <a:lnSpc>
                <a:spcPct val="115000"/>
              </a:lnSpc>
              <a:spcBef>
                <a:spcPts val="1600"/>
              </a:spcBef>
              <a:spcAft>
                <a:spcPts val="1600"/>
              </a:spcAft>
              <a:buSzPts val="1400"/>
              <a:buNone/>
              <a:defRPr/>
            </a:lvl9pPr>
          </a:lstStyle>
          <a:p/>
        </p:txBody>
      </p:sp>
      <p:sp>
        <p:nvSpPr>
          <p:cNvPr id="38" name="Google Shape;38;p7"/>
          <p:cNvSpPr txBox="1"/>
          <p:nvPr>
            <p:ph idx="5" type="body"/>
          </p:nvPr>
        </p:nvSpPr>
        <p:spPr>
          <a:xfrm>
            <a:off x="4561900" y="1574475"/>
            <a:ext cx="4125000" cy="4662900"/>
          </a:xfrm>
          <a:prstGeom prst="rect">
            <a:avLst/>
          </a:prstGeom>
          <a:solidFill>
            <a:srgbClr val="EBF0F2"/>
          </a:solidFill>
          <a:ln cap="flat" cmpd="sng" w="9525">
            <a:solidFill>
              <a:srgbClr val="304852"/>
            </a:solidFill>
            <a:prstDash val="solid"/>
            <a:round/>
            <a:headEnd len="sm" w="sm" type="none"/>
            <a:tailEnd len="sm" w="sm" type="none"/>
          </a:ln>
        </p:spPr>
        <p:txBody>
          <a:bodyPr anchorCtr="0" anchor="t" bIns="91425" lIns="91425" spcFirstLastPara="1" rIns="91425" wrap="square" tIns="91425">
            <a:noAutofit/>
          </a:bodyPr>
          <a:lstStyle>
            <a:lvl1pPr indent="-457200" lvl="0" marL="457200" algn="l">
              <a:lnSpc>
                <a:spcPct val="115000"/>
              </a:lnSpc>
              <a:spcBef>
                <a:spcPts val="0"/>
              </a:spcBef>
              <a:spcAft>
                <a:spcPts val="0"/>
              </a:spcAft>
              <a:buSzPts val="3600"/>
              <a:buChar char="●"/>
              <a:defRPr/>
            </a:lvl1pPr>
            <a:lvl2pPr indent="-431800" lvl="1" marL="914400" algn="l">
              <a:lnSpc>
                <a:spcPct val="115000"/>
              </a:lnSpc>
              <a:spcBef>
                <a:spcPts val="1600"/>
              </a:spcBef>
              <a:spcAft>
                <a:spcPts val="0"/>
              </a:spcAft>
              <a:buSzPts val="3200"/>
              <a:buChar char="○"/>
              <a:defRPr/>
            </a:lvl2pPr>
            <a:lvl3pPr indent="-381000" lvl="2" marL="1371600" algn="l">
              <a:lnSpc>
                <a:spcPct val="115000"/>
              </a:lnSpc>
              <a:spcBef>
                <a:spcPts val="1600"/>
              </a:spcBef>
              <a:spcAft>
                <a:spcPts val="0"/>
              </a:spcAft>
              <a:buSzPts val="2400"/>
              <a:buChar char="■"/>
              <a:defRPr/>
            </a:lvl3pPr>
            <a:lvl4pPr indent="-381000" lvl="3" marL="1828800" algn="l">
              <a:lnSpc>
                <a:spcPct val="115000"/>
              </a:lnSpc>
              <a:spcBef>
                <a:spcPts val="1600"/>
              </a:spcBef>
              <a:spcAft>
                <a:spcPts val="0"/>
              </a:spcAft>
              <a:buSzPts val="2400"/>
              <a:buChar char="●"/>
              <a:defRPr/>
            </a:lvl4pPr>
            <a:lvl5pPr indent="-342900" lvl="4" marL="2286000" algn="l">
              <a:lnSpc>
                <a:spcPct val="115000"/>
              </a:lnSpc>
              <a:spcBef>
                <a:spcPts val="1600"/>
              </a:spcBef>
              <a:spcAft>
                <a:spcPts val="0"/>
              </a:spcAft>
              <a:buSzPts val="18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l Content">
  <p:cSld name="SECTION_TITLE_AND_DESCRIPTION_1">
    <p:spTree>
      <p:nvGrpSpPr>
        <p:cNvPr id="39" name="Shape 39"/>
        <p:cNvGrpSpPr/>
        <p:nvPr/>
      </p:nvGrpSpPr>
      <p:grpSpPr>
        <a:xfrm>
          <a:off x="0" y="0"/>
          <a:ext cx="0" cy="0"/>
          <a:chOff x="0" y="0"/>
          <a:chExt cx="0" cy="0"/>
        </a:xfrm>
      </p:grpSpPr>
      <p:sp>
        <p:nvSpPr>
          <p:cNvPr id="40" name="Google Shape;40;p8"/>
          <p:cNvSpPr txBox="1"/>
          <p:nvPr>
            <p:ph type="title"/>
          </p:nvPr>
        </p:nvSpPr>
        <p:spPr>
          <a:xfrm>
            <a:off x="457200" y="1650950"/>
            <a:ext cx="8229600" cy="1972800"/>
          </a:xfrm>
          <a:prstGeom prst="rect">
            <a:avLst/>
          </a:prstGeom>
          <a:noFill/>
          <a:ln>
            <a:noFill/>
          </a:ln>
        </p:spPr>
        <p:txBody>
          <a:bodyPr anchorCtr="0" anchor="b" bIns="91425" lIns="91425" spcFirstLastPara="1" rIns="91425" wrap="square" tIns="91425">
            <a:noAutofit/>
          </a:bodyPr>
          <a:lstStyle>
            <a:lvl1pPr lvl="0" marR="0" rtl="0" algn="ctr">
              <a:lnSpc>
                <a:spcPct val="100000"/>
              </a:lnSpc>
              <a:spcBef>
                <a:spcPts val="0"/>
              </a:spcBef>
              <a:spcAft>
                <a:spcPts val="0"/>
              </a:spcAft>
              <a:buClr>
                <a:srgbClr val="304852"/>
              </a:buClr>
              <a:buSzPts val="2400"/>
              <a:buFont typeface="Cabin Condensed"/>
              <a:buChar char="●"/>
              <a:defRPr b="0" i="0" sz="2400" u="none" cap="none" strike="noStrike">
                <a:solidFill>
                  <a:srgbClr val="304852"/>
                </a:solidFill>
                <a:latin typeface="Cabin Condensed"/>
                <a:ea typeface="Cabin Condensed"/>
                <a:cs typeface="Cabin Condensed"/>
                <a:sym typeface="Cabin Condensed"/>
              </a:defRPr>
            </a:lvl1pPr>
            <a:lvl2pPr lvl="1"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9pPr>
          </a:lstStyle>
          <a:p/>
        </p:txBody>
      </p:sp>
      <p:sp>
        <p:nvSpPr>
          <p:cNvPr id="41" name="Google Shape;41;p8"/>
          <p:cNvSpPr txBox="1"/>
          <p:nvPr>
            <p:ph idx="1" type="subTitle"/>
          </p:nvPr>
        </p:nvSpPr>
        <p:spPr>
          <a:xfrm>
            <a:off x="457200" y="3740375"/>
            <a:ext cx="8229600" cy="1643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B0B0B"/>
              </a:buClr>
              <a:buSzPts val="1800"/>
              <a:buFont typeface="Cabin"/>
              <a:buNone/>
              <a:defRPr sz="1800">
                <a:solidFill>
                  <a:srgbClr val="0B0B0B"/>
                </a:solidFill>
                <a:latin typeface="Cabin"/>
                <a:ea typeface="Cabin"/>
                <a:cs typeface="Cabin"/>
                <a:sym typeface="Cabin"/>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2" name="Google Shape;42;p8"/>
          <p:cNvSpPr txBox="1"/>
          <p:nvPr>
            <p:ph idx="2" type="title"/>
          </p:nvPr>
        </p:nvSpPr>
        <p:spPr>
          <a:xfrm>
            <a:off x="457200" y="548650"/>
            <a:ext cx="8229600" cy="685800"/>
          </a:xfrm>
          <a:prstGeom prst="rect">
            <a:avLst/>
          </a:prstGeom>
          <a:solidFill>
            <a:srgbClr val="27697B"/>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2800"/>
              <a:buFont typeface="Arial"/>
              <a:buNone/>
              <a:defRPr b="1" i="0" sz="2800" u="none" cap="none" strike="noStrike">
                <a:solidFill>
                  <a:srgbClr val="FFFFFF"/>
                </a:solidFill>
                <a:latin typeface="Open Sans"/>
                <a:ea typeface="Open Sans"/>
                <a:cs typeface="Open Sans"/>
                <a:sym typeface="Open Sans"/>
              </a:defRPr>
            </a:lvl1pPr>
            <a:lvl2pPr lvl="1"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2pPr>
            <a:lvl3pPr lvl="2"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3pPr>
            <a:lvl4pPr lvl="3"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4pPr>
            <a:lvl5pPr lvl="4"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5pPr>
            <a:lvl6pPr lvl="5"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6pPr>
            <a:lvl7pPr lvl="6"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7pPr>
            <a:lvl8pPr lvl="7"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8pPr>
            <a:lvl9pPr lvl="8"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9pPr>
          </a:lstStyle>
          <a:p/>
        </p:txBody>
      </p:sp>
      <p:sp>
        <p:nvSpPr>
          <p:cNvPr id="43" name="Google Shape;43;p8"/>
          <p:cNvSpPr txBox="1"/>
          <p:nvPr>
            <p:ph idx="3" type="subTitle"/>
          </p:nvPr>
        </p:nvSpPr>
        <p:spPr>
          <a:xfrm>
            <a:off x="457200" y="106750"/>
            <a:ext cx="3886200" cy="458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b="0" sz="15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44" name="Google Shape;44;p8"/>
          <p:cNvSpPr txBox="1"/>
          <p:nvPr>
            <p:ph idx="4" type="subTitle"/>
          </p:nvPr>
        </p:nvSpPr>
        <p:spPr>
          <a:xfrm>
            <a:off x="4622900" y="106750"/>
            <a:ext cx="4063800" cy="4584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b="0" sz="1500"/>
            </a:lvl1pPr>
            <a:lvl2pPr lvl="1" algn="r">
              <a:lnSpc>
                <a:spcPct val="115000"/>
              </a:lnSpc>
              <a:spcBef>
                <a:spcPts val="1600"/>
              </a:spcBef>
              <a:spcAft>
                <a:spcPts val="0"/>
              </a:spcAft>
              <a:buSzPts val="3200"/>
              <a:buNone/>
              <a:defRPr/>
            </a:lvl2pPr>
            <a:lvl3pPr lvl="2" algn="r">
              <a:lnSpc>
                <a:spcPct val="115000"/>
              </a:lnSpc>
              <a:spcBef>
                <a:spcPts val="1600"/>
              </a:spcBef>
              <a:spcAft>
                <a:spcPts val="0"/>
              </a:spcAft>
              <a:buSzPts val="2400"/>
              <a:buNone/>
              <a:defRPr/>
            </a:lvl3pPr>
            <a:lvl4pPr lvl="3" algn="r">
              <a:lnSpc>
                <a:spcPct val="115000"/>
              </a:lnSpc>
              <a:spcBef>
                <a:spcPts val="1600"/>
              </a:spcBef>
              <a:spcAft>
                <a:spcPts val="0"/>
              </a:spcAft>
              <a:buSzPts val="2400"/>
              <a:buNone/>
              <a:defRPr/>
            </a:lvl4pPr>
            <a:lvl5pPr lvl="4" algn="r">
              <a:lnSpc>
                <a:spcPct val="115000"/>
              </a:lnSpc>
              <a:spcBef>
                <a:spcPts val="1600"/>
              </a:spcBef>
              <a:spcAft>
                <a:spcPts val="0"/>
              </a:spcAft>
              <a:buSzPts val="1800"/>
              <a:buNone/>
              <a:defRPr/>
            </a:lvl5pPr>
            <a:lvl6pPr lvl="5" algn="r">
              <a:lnSpc>
                <a:spcPct val="115000"/>
              </a:lnSpc>
              <a:spcBef>
                <a:spcPts val="1600"/>
              </a:spcBef>
              <a:spcAft>
                <a:spcPts val="0"/>
              </a:spcAft>
              <a:buSzPts val="1400"/>
              <a:buNone/>
              <a:defRPr/>
            </a:lvl6pPr>
            <a:lvl7pPr lvl="6" algn="r">
              <a:lnSpc>
                <a:spcPct val="115000"/>
              </a:lnSpc>
              <a:spcBef>
                <a:spcPts val="1600"/>
              </a:spcBef>
              <a:spcAft>
                <a:spcPts val="0"/>
              </a:spcAft>
              <a:buSzPts val="1400"/>
              <a:buNone/>
              <a:defRPr/>
            </a:lvl7pPr>
            <a:lvl8pPr lvl="7" algn="r">
              <a:lnSpc>
                <a:spcPct val="115000"/>
              </a:lnSpc>
              <a:spcBef>
                <a:spcPts val="1600"/>
              </a:spcBef>
              <a:spcAft>
                <a:spcPts val="0"/>
              </a:spcAft>
              <a:buSzPts val="1400"/>
              <a:buNone/>
              <a:defRPr/>
            </a:lvl8pPr>
            <a:lvl9pPr lvl="8" algn="r">
              <a:lnSpc>
                <a:spcPct val="115000"/>
              </a:lnSpc>
              <a:spcBef>
                <a:spcPts val="1600"/>
              </a:spcBef>
              <a:spcAft>
                <a:spcPts val="160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9"/>
          <p:cNvSpPr txBox="1"/>
          <p:nvPr>
            <p:ph idx="1" type="body"/>
          </p:nvPr>
        </p:nvSpPr>
        <p:spPr>
          <a:xfrm>
            <a:off x="457200" y="5640775"/>
            <a:ext cx="5853300" cy="8067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Clr>
                <a:srgbClr val="0B0B0B"/>
              </a:buClr>
              <a:buSzPts val="1800"/>
              <a:buFont typeface="Cabin"/>
              <a:buNone/>
              <a:defRPr sz="1800">
                <a:solidFill>
                  <a:srgbClr val="0B0B0B"/>
                </a:solidFill>
                <a:latin typeface="Cabin"/>
                <a:ea typeface="Cabin"/>
                <a:cs typeface="Cabin"/>
                <a:sym typeface="Cabin"/>
              </a:defRPr>
            </a:lvl1pPr>
          </a:lstStyle>
          <a:p/>
        </p:txBody>
      </p:sp>
      <p:sp>
        <p:nvSpPr>
          <p:cNvPr id="47" name="Google Shape;47;p9"/>
          <p:cNvSpPr txBox="1"/>
          <p:nvPr>
            <p:ph type="title"/>
          </p:nvPr>
        </p:nvSpPr>
        <p:spPr>
          <a:xfrm>
            <a:off x="457200" y="548650"/>
            <a:ext cx="8229600" cy="685800"/>
          </a:xfrm>
          <a:prstGeom prst="rect">
            <a:avLst/>
          </a:prstGeom>
          <a:solidFill>
            <a:srgbClr val="27697B"/>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2800"/>
              <a:buFont typeface="Arial"/>
              <a:buNone/>
              <a:defRPr b="1" i="0" sz="2800" u="none" cap="none" strike="noStrike">
                <a:solidFill>
                  <a:srgbClr val="FFFFFF"/>
                </a:solidFill>
                <a:latin typeface="Open Sans"/>
                <a:ea typeface="Open Sans"/>
                <a:cs typeface="Open Sans"/>
                <a:sym typeface="Open Sans"/>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48" name="Google Shape;48;p9"/>
          <p:cNvSpPr txBox="1"/>
          <p:nvPr>
            <p:ph idx="2" type="subTitle"/>
          </p:nvPr>
        </p:nvSpPr>
        <p:spPr>
          <a:xfrm>
            <a:off x="457200" y="106750"/>
            <a:ext cx="3513900" cy="458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b="0" sz="15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49" name="Google Shape;49;p9"/>
          <p:cNvSpPr txBox="1"/>
          <p:nvPr>
            <p:ph idx="3" type="subTitle"/>
          </p:nvPr>
        </p:nvSpPr>
        <p:spPr>
          <a:xfrm>
            <a:off x="4639825" y="106750"/>
            <a:ext cx="4047000" cy="4584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b="0" sz="1500"/>
            </a:lvl1pPr>
            <a:lvl2pPr lvl="1" algn="r">
              <a:lnSpc>
                <a:spcPct val="115000"/>
              </a:lnSpc>
              <a:spcBef>
                <a:spcPts val="1600"/>
              </a:spcBef>
              <a:spcAft>
                <a:spcPts val="0"/>
              </a:spcAft>
              <a:buSzPts val="3200"/>
              <a:buNone/>
              <a:defRPr/>
            </a:lvl2pPr>
            <a:lvl3pPr lvl="2" algn="r">
              <a:lnSpc>
                <a:spcPct val="115000"/>
              </a:lnSpc>
              <a:spcBef>
                <a:spcPts val="1600"/>
              </a:spcBef>
              <a:spcAft>
                <a:spcPts val="0"/>
              </a:spcAft>
              <a:buSzPts val="2400"/>
              <a:buNone/>
              <a:defRPr/>
            </a:lvl3pPr>
            <a:lvl4pPr lvl="3" algn="r">
              <a:lnSpc>
                <a:spcPct val="115000"/>
              </a:lnSpc>
              <a:spcBef>
                <a:spcPts val="1600"/>
              </a:spcBef>
              <a:spcAft>
                <a:spcPts val="0"/>
              </a:spcAft>
              <a:buSzPts val="2400"/>
              <a:buNone/>
              <a:defRPr/>
            </a:lvl4pPr>
            <a:lvl5pPr lvl="4" algn="r">
              <a:lnSpc>
                <a:spcPct val="115000"/>
              </a:lnSpc>
              <a:spcBef>
                <a:spcPts val="1600"/>
              </a:spcBef>
              <a:spcAft>
                <a:spcPts val="0"/>
              </a:spcAft>
              <a:buSzPts val="1800"/>
              <a:buNone/>
              <a:defRPr/>
            </a:lvl5pPr>
            <a:lvl6pPr lvl="5" algn="r">
              <a:lnSpc>
                <a:spcPct val="115000"/>
              </a:lnSpc>
              <a:spcBef>
                <a:spcPts val="1600"/>
              </a:spcBef>
              <a:spcAft>
                <a:spcPts val="0"/>
              </a:spcAft>
              <a:buSzPts val="1400"/>
              <a:buNone/>
              <a:defRPr/>
            </a:lvl6pPr>
            <a:lvl7pPr lvl="6" algn="r">
              <a:lnSpc>
                <a:spcPct val="115000"/>
              </a:lnSpc>
              <a:spcBef>
                <a:spcPts val="1600"/>
              </a:spcBef>
              <a:spcAft>
                <a:spcPts val="0"/>
              </a:spcAft>
              <a:buSzPts val="1400"/>
              <a:buNone/>
              <a:defRPr/>
            </a:lvl7pPr>
            <a:lvl8pPr lvl="7" algn="r">
              <a:lnSpc>
                <a:spcPct val="115000"/>
              </a:lnSpc>
              <a:spcBef>
                <a:spcPts val="1600"/>
              </a:spcBef>
              <a:spcAft>
                <a:spcPts val="0"/>
              </a:spcAft>
              <a:buSzPts val="1400"/>
              <a:buNone/>
              <a:defRPr/>
            </a:lvl8pPr>
            <a:lvl9pPr lvl="8" algn="r">
              <a:lnSpc>
                <a:spcPct val="115000"/>
              </a:lnSpc>
              <a:spcBef>
                <a:spcPts val="1600"/>
              </a:spcBef>
              <a:spcAft>
                <a:spcPts val="160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_1">
    <p:bg>
      <p:bgPr>
        <a:solidFill>
          <a:srgbClr val="FFFFFF"/>
        </a:solidFill>
      </p:bgPr>
    </p:bg>
    <p:spTree>
      <p:nvGrpSpPr>
        <p:cNvPr id="51" name="Shape 51"/>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 Horizontal" showMasterSp="0">
  <p:cSld name="TITLE_AND_BODY_1">
    <p:bg>
      <p:bgPr>
        <a:solidFill>
          <a:srgbClr val="F3F3F3"/>
        </a:solidFill>
      </p:bgPr>
    </p:bg>
    <p:spTree>
      <p:nvGrpSpPr>
        <p:cNvPr id="52" name="Shape 52"/>
        <p:cNvGrpSpPr/>
        <p:nvPr/>
      </p:nvGrpSpPr>
      <p:grpSpPr>
        <a:xfrm>
          <a:off x="0" y="0"/>
          <a:ext cx="0" cy="0"/>
          <a:chOff x="0" y="0"/>
          <a:chExt cx="0" cy="0"/>
        </a:xfrm>
      </p:grpSpPr>
      <p:sp>
        <p:nvSpPr>
          <p:cNvPr id="53" name="Google Shape;53;p12"/>
          <p:cNvSpPr txBox="1"/>
          <p:nvPr>
            <p:ph idx="12" type="sldNum"/>
          </p:nvPr>
        </p:nvSpPr>
        <p:spPr>
          <a:xfrm>
            <a:off x="4475913" y="6500813"/>
            <a:ext cx="185400" cy="255600"/>
          </a:xfrm>
          <a:prstGeom prst="rect">
            <a:avLst/>
          </a:prstGeom>
          <a:noFill/>
          <a:ln>
            <a:noFill/>
          </a:ln>
        </p:spPr>
        <p:txBody>
          <a:bodyPr anchorCtr="0" anchor="t" bIns="29750" lIns="29750" spcFirstLastPara="1" rIns="29750" wrap="square" tIns="29750">
            <a:noAutofit/>
          </a:bodyPr>
          <a:lstStyle>
            <a:lvl1pPr indent="0" lvl="0"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400">
              <a:latin typeface="Arial"/>
              <a:ea typeface="Arial"/>
              <a:cs typeface="Arial"/>
              <a:sym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p:cSld name="TITLE_AND_BODY_3">
    <p:spTree>
      <p:nvGrpSpPr>
        <p:cNvPr id="54" name="Shape 54"/>
        <p:cNvGrpSpPr/>
        <p:nvPr/>
      </p:nvGrpSpPr>
      <p:grpSpPr>
        <a:xfrm>
          <a:off x="0" y="0"/>
          <a:ext cx="0" cy="0"/>
          <a:chOff x="0" y="0"/>
          <a:chExt cx="0" cy="0"/>
        </a:xfrm>
      </p:grpSpPr>
      <p:sp>
        <p:nvSpPr>
          <p:cNvPr id="55" name="Google Shape;55;p13"/>
          <p:cNvSpPr txBox="1"/>
          <p:nvPr>
            <p:ph idx="1" type="body"/>
          </p:nvPr>
        </p:nvSpPr>
        <p:spPr>
          <a:xfrm>
            <a:off x="457200" y="1536625"/>
            <a:ext cx="8229600" cy="4555200"/>
          </a:xfrm>
          <a:prstGeom prst="rect">
            <a:avLst/>
          </a:prstGeom>
          <a:noFill/>
          <a:ln>
            <a:noFill/>
          </a:ln>
        </p:spPr>
        <p:txBody>
          <a:bodyPr anchorCtr="0" anchor="t" bIns="91425" lIns="91425" spcFirstLastPara="1" rIns="91425" wrap="square" tIns="91425">
            <a:noAutofit/>
          </a:bodyPr>
          <a:lstStyle>
            <a:lvl1pPr indent="-457200" lvl="0" marL="457200" algn="l">
              <a:lnSpc>
                <a:spcPct val="115000"/>
              </a:lnSpc>
              <a:spcBef>
                <a:spcPts val="0"/>
              </a:spcBef>
              <a:spcAft>
                <a:spcPts val="0"/>
              </a:spcAft>
              <a:buSzPts val="3600"/>
              <a:buChar char="●"/>
              <a:defRPr/>
            </a:lvl1pPr>
            <a:lvl2pPr indent="-431800" lvl="1" marL="914400" algn="l">
              <a:lnSpc>
                <a:spcPct val="115000"/>
              </a:lnSpc>
              <a:spcBef>
                <a:spcPts val="1600"/>
              </a:spcBef>
              <a:spcAft>
                <a:spcPts val="0"/>
              </a:spcAft>
              <a:buSzPts val="3200"/>
              <a:buChar char="○"/>
              <a:defRPr/>
            </a:lvl2pPr>
            <a:lvl3pPr indent="-381000" lvl="2" marL="1371600" algn="l">
              <a:lnSpc>
                <a:spcPct val="115000"/>
              </a:lnSpc>
              <a:spcBef>
                <a:spcPts val="1600"/>
              </a:spcBef>
              <a:spcAft>
                <a:spcPts val="0"/>
              </a:spcAft>
              <a:buSzPts val="2400"/>
              <a:buChar char="■"/>
              <a:defRPr/>
            </a:lvl3pPr>
            <a:lvl4pPr indent="-381000" lvl="3" marL="1828800" algn="l">
              <a:lnSpc>
                <a:spcPct val="115000"/>
              </a:lnSpc>
              <a:spcBef>
                <a:spcPts val="1600"/>
              </a:spcBef>
              <a:spcAft>
                <a:spcPts val="0"/>
              </a:spcAft>
              <a:buSzPts val="2400"/>
              <a:buChar char="●"/>
              <a:defRPr/>
            </a:lvl4pPr>
            <a:lvl5pPr indent="-342900" lvl="4" marL="2286000" algn="l">
              <a:lnSpc>
                <a:spcPct val="115000"/>
              </a:lnSpc>
              <a:spcBef>
                <a:spcPts val="1600"/>
              </a:spcBef>
              <a:spcAft>
                <a:spcPts val="0"/>
              </a:spcAft>
              <a:buSzPts val="18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56" name="Google Shape;56;p13"/>
          <p:cNvSpPr txBox="1"/>
          <p:nvPr>
            <p:ph type="title"/>
          </p:nvPr>
        </p:nvSpPr>
        <p:spPr>
          <a:xfrm>
            <a:off x="457200" y="548650"/>
            <a:ext cx="8229600" cy="685800"/>
          </a:xfrm>
          <a:prstGeom prst="rect">
            <a:avLst/>
          </a:prstGeom>
          <a:solidFill>
            <a:srgbClr val="304852"/>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2800"/>
              <a:buFont typeface="Arial"/>
              <a:buNone/>
              <a:defRPr b="1" i="0" sz="2800" u="none" cap="none" strike="noStrike">
                <a:solidFill>
                  <a:srgbClr val="FFFFFF"/>
                </a:solidFill>
                <a:latin typeface="Open Sans"/>
                <a:ea typeface="Open Sans"/>
                <a:cs typeface="Open Sans"/>
                <a:sym typeface="Open Sans"/>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57" name="Google Shape;57;p13"/>
          <p:cNvSpPr txBox="1"/>
          <p:nvPr>
            <p:ph idx="2" type="subTitle"/>
          </p:nvPr>
        </p:nvSpPr>
        <p:spPr>
          <a:xfrm>
            <a:off x="457200" y="106750"/>
            <a:ext cx="2916900" cy="458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58" name="Google Shape;58;p13"/>
          <p:cNvSpPr txBox="1"/>
          <p:nvPr>
            <p:ph idx="3" type="subTitle"/>
          </p:nvPr>
        </p:nvSpPr>
        <p:spPr>
          <a:xfrm>
            <a:off x="5769900" y="106750"/>
            <a:ext cx="2916900" cy="4584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sz="1800"/>
            </a:lvl1pPr>
            <a:lvl2pPr lvl="1" algn="r">
              <a:lnSpc>
                <a:spcPct val="115000"/>
              </a:lnSpc>
              <a:spcBef>
                <a:spcPts val="1600"/>
              </a:spcBef>
              <a:spcAft>
                <a:spcPts val="0"/>
              </a:spcAft>
              <a:buSzPts val="3200"/>
              <a:buNone/>
              <a:defRPr/>
            </a:lvl2pPr>
            <a:lvl3pPr lvl="2" algn="r">
              <a:lnSpc>
                <a:spcPct val="115000"/>
              </a:lnSpc>
              <a:spcBef>
                <a:spcPts val="1600"/>
              </a:spcBef>
              <a:spcAft>
                <a:spcPts val="0"/>
              </a:spcAft>
              <a:buSzPts val="2400"/>
              <a:buNone/>
              <a:defRPr/>
            </a:lvl3pPr>
            <a:lvl4pPr lvl="3" algn="r">
              <a:lnSpc>
                <a:spcPct val="115000"/>
              </a:lnSpc>
              <a:spcBef>
                <a:spcPts val="1600"/>
              </a:spcBef>
              <a:spcAft>
                <a:spcPts val="0"/>
              </a:spcAft>
              <a:buSzPts val="2400"/>
              <a:buNone/>
              <a:defRPr/>
            </a:lvl4pPr>
            <a:lvl5pPr lvl="4" algn="r">
              <a:lnSpc>
                <a:spcPct val="115000"/>
              </a:lnSpc>
              <a:spcBef>
                <a:spcPts val="1600"/>
              </a:spcBef>
              <a:spcAft>
                <a:spcPts val="0"/>
              </a:spcAft>
              <a:buSzPts val="1800"/>
              <a:buNone/>
              <a:defRPr/>
            </a:lvl5pPr>
            <a:lvl6pPr lvl="5" algn="r">
              <a:lnSpc>
                <a:spcPct val="115000"/>
              </a:lnSpc>
              <a:spcBef>
                <a:spcPts val="1600"/>
              </a:spcBef>
              <a:spcAft>
                <a:spcPts val="0"/>
              </a:spcAft>
              <a:buSzPts val="1400"/>
              <a:buNone/>
              <a:defRPr/>
            </a:lvl6pPr>
            <a:lvl7pPr lvl="6" algn="r">
              <a:lnSpc>
                <a:spcPct val="115000"/>
              </a:lnSpc>
              <a:spcBef>
                <a:spcPts val="1600"/>
              </a:spcBef>
              <a:spcAft>
                <a:spcPts val="0"/>
              </a:spcAft>
              <a:buSzPts val="1400"/>
              <a:buNone/>
              <a:defRPr/>
            </a:lvl7pPr>
            <a:lvl8pPr lvl="7" algn="r">
              <a:lnSpc>
                <a:spcPct val="115000"/>
              </a:lnSpc>
              <a:spcBef>
                <a:spcPts val="1600"/>
              </a:spcBef>
              <a:spcAft>
                <a:spcPts val="0"/>
              </a:spcAft>
              <a:buSzPts val="1400"/>
              <a:buNone/>
              <a:defRPr/>
            </a:lvl8pPr>
            <a:lvl9pPr lvl="8" algn="r">
              <a:lnSpc>
                <a:spcPct val="115000"/>
              </a:lnSpc>
              <a:spcBef>
                <a:spcPts val="1600"/>
              </a:spcBef>
              <a:spcAft>
                <a:spcPts val="1600"/>
              </a:spcAft>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1">
  <p:cSld name="TITLE_AND_BODY_1_1">
    <p:spTree>
      <p:nvGrpSpPr>
        <p:cNvPr id="59" name="Shape 59"/>
        <p:cNvGrpSpPr/>
        <p:nvPr/>
      </p:nvGrpSpPr>
      <p:grpSpPr>
        <a:xfrm>
          <a:off x="0" y="0"/>
          <a:ext cx="0" cy="0"/>
          <a:chOff x="0" y="0"/>
          <a:chExt cx="0" cy="0"/>
        </a:xfrm>
      </p:grpSpPr>
      <p:sp>
        <p:nvSpPr>
          <p:cNvPr id="60" name="Google Shape;60;p14"/>
          <p:cNvSpPr txBox="1"/>
          <p:nvPr>
            <p:ph idx="12" type="sldNum"/>
          </p:nvPr>
        </p:nvSpPr>
        <p:spPr>
          <a:xfrm>
            <a:off x="66599" y="6215667"/>
            <a:ext cx="528000" cy="5250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61" name="Google Shape;61;p14"/>
          <p:cNvSpPr/>
          <p:nvPr/>
        </p:nvSpPr>
        <p:spPr>
          <a:xfrm>
            <a:off x="0" y="0"/>
            <a:ext cx="9144000" cy="228900"/>
          </a:xfrm>
          <a:prstGeom prst="rect">
            <a:avLst/>
          </a:prstGeom>
          <a:solidFill>
            <a:srgbClr val="FC8B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highlight>
                <a:srgbClr val="FFFFFF"/>
              </a:highlight>
              <a:latin typeface="Arial"/>
              <a:ea typeface="Arial"/>
              <a:cs typeface="Arial"/>
              <a:sym typeface="Arial"/>
            </a:endParaRPr>
          </a:p>
        </p:txBody>
      </p:sp>
      <p:sp>
        <p:nvSpPr>
          <p:cNvPr id="62" name="Google Shape;62;p14"/>
          <p:cNvSpPr txBox="1"/>
          <p:nvPr>
            <p:ph idx="1" type="body"/>
          </p:nvPr>
        </p:nvSpPr>
        <p:spPr>
          <a:xfrm>
            <a:off x="457200" y="1371600"/>
            <a:ext cx="8313000" cy="4555200"/>
          </a:xfrm>
          <a:prstGeom prst="rect">
            <a:avLst/>
          </a:prstGeom>
          <a:noFill/>
          <a:ln>
            <a:noFill/>
          </a:ln>
        </p:spPr>
        <p:txBody>
          <a:bodyPr anchorCtr="0" anchor="t" bIns="91425" lIns="91425" spcFirstLastPara="1" rIns="91425" wrap="square" tIns="91425">
            <a:noAutofit/>
          </a:bodyPr>
          <a:lstStyle>
            <a:lvl1pPr indent="-381000" lvl="0" marL="457200" algn="l">
              <a:lnSpc>
                <a:spcPct val="115000"/>
              </a:lnSpc>
              <a:spcBef>
                <a:spcPts val="0"/>
              </a:spcBef>
              <a:spcAft>
                <a:spcPts val="0"/>
              </a:spcAft>
              <a:buSzPts val="2400"/>
              <a:buChar char="●"/>
              <a:defRPr sz="2400"/>
            </a:lvl1pPr>
            <a:lvl2pPr indent="-355600" lvl="1" marL="914400" algn="l">
              <a:lnSpc>
                <a:spcPct val="115000"/>
              </a:lnSpc>
              <a:spcBef>
                <a:spcPts val="1600"/>
              </a:spcBef>
              <a:spcAft>
                <a:spcPts val="0"/>
              </a:spcAft>
              <a:buSzPts val="2000"/>
              <a:buChar char="○"/>
              <a:defRPr sz="2000"/>
            </a:lvl2pPr>
            <a:lvl3pPr indent="-330200" lvl="2" marL="1371600" algn="l">
              <a:lnSpc>
                <a:spcPct val="115000"/>
              </a:lnSpc>
              <a:spcBef>
                <a:spcPts val="1600"/>
              </a:spcBef>
              <a:spcAft>
                <a:spcPts val="0"/>
              </a:spcAft>
              <a:buSzPts val="1600"/>
              <a:buChar char="■"/>
              <a:defRPr sz="1600"/>
            </a:lvl3pPr>
            <a:lvl4pPr indent="-317500" lvl="3" marL="1828800" algn="l">
              <a:lnSpc>
                <a:spcPct val="115000"/>
              </a:lnSpc>
              <a:spcBef>
                <a:spcPts val="1600"/>
              </a:spcBef>
              <a:spcAft>
                <a:spcPts val="0"/>
              </a:spcAft>
              <a:buSzPts val="1400"/>
              <a:buChar char="●"/>
              <a:defRPr sz="1400"/>
            </a:lvl4pPr>
            <a:lvl5pPr indent="-304800" lvl="4" marL="2286000" algn="l">
              <a:lnSpc>
                <a:spcPct val="115000"/>
              </a:lnSpc>
              <a:spcBef>
                <a:spcPts val="1600"/>
              </a:spcBef>
              <a:spcAft>
                <a:spcPts val="0"/>
              </a:spcAft>
              <a:buSzPts val="1200"/>
              <a:buChar char="○"/>
              <a:defRPr sz="1200"/>
            </a:lvl5pPr>
            <a:lvl6pPr indent="-342900" lvl="5" marL="2743200" algn="l">
              <a:lnSpc>
                <a:spcPct val="115000"/>
              </a:lnSpc>
              <a:spcBef>
                <a:spcPts val="1600"/>
              </a:spcBef>
              <a:spcAft>
                <a:spcPts val="0"/>
              </a:spcAft>
              <a:buSzPts val="1800"/>
              <a:buChar char="■"/>
              <a:defRPr sz="1800"/>
            </a:lvl6pPr>
            <a:lvl7pPr indent="-330200" lvl="6" marL="3200400" algn="l">
              <a:lnSpc>
                <a:spcPct val="115000"/>
              </a:lnSpc>
              <a:spcBef>
                <a:spcPts val="1600"/>
              </a:spcBef>
              <a:spcAft>
                <a:spcPts val="0"/>
              </a:spcAft>
              <a:buSzPts val="1600"/>
              <a:buChar char="●"/>
              <a:defRPr sz="1600"/>
            </a:lvl7pPr>
            <a:lvl8pPr indent="-317500" lvl="7" marL="3657600" algn="l">
              <a:lnSpc>
                <a:spcPct val="115000"/>
              </a:lnSpc>
              <a:spcBef>
                <a:spcPts val="1600"/>
              </a:spcBef>
              <a:spcAft>
                <a:spcPts val="0"/>
              </a:spcAft>
              <a:buSzPts val="1400"/>
              <a:buChar char="○"/>
              <a:defRPr sz="1400"/>
            </a:lvl8pPr>
            <a:lvl9pPr indent="-304800" lvl="8" marL="4114800" algn="l">
              <a:lnSpc>
                <a:spcPct val="115000"/>
              </a:lnSpc>
              <a:spcBef>
                <a:spcPts val="1600"/>
              </a:spcBef>
              <a:spcAft>
                <a:spcPts val="1600"/>
              </a:spcAft>
              <a:buSzPts val="1200"/>
              <a:buChar char="■"/>
              <a:defRPr sz="1200"/>
            </a:lvl9pPr>
          </a:lstStyle>
          <a:p/>
        </p:txBody>
      </p:sp>
      <p:sp>
        <p:nvSpPr>
          <p:cNvPr id="63" name="Google Shape;63;p14"/>
          <p:cNvSpPr txBox="1"/>
          <p:nvPr>
            <p:ph idx="2" type="subTitle"/>
          </p:nvPr>
        </p:nvSpPr>
        <p:spPr>
          <a:xfrm>
            <a:off x="457200" y="457200"/>
            <a:ext cx="7688100" cy="721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b="1" sz="3000"/>
            </a:lvl1pPr>
            <a:lvl2pPr lvl="1" algn="l">
              <a:lnSpc>
                <a:spcPct val="100000"/>
              </a:lnSpc>
              <a:spcBef>
                <a:spcPts val="0"/>
              </a:spcBef>
              <a:spcAft>
                <a:spcPts val="0"/>
              </a:spcAft>
              <a:buClr>
                <a:srgbClr val="0B0B0B"/>
              </a:buClr>
              <a:buSzPts val="3000"/>
              <a:buNone/>
              <a:defRPr sz="3000">
                <a:solidFill>
                  <a:srgbClr val="0B0B0B"/>
                </a:solidFill>
              </a:defRPr>
            </a:lvl2pPr>
            <a:lvl3pPr lvl="2" algn="l">
              <a:lnSpc>
                <a:spcPct val="100000"/>
              </a:lnSpc>
              <a:spcBef>
                <a:spcPts val="0"/>
              </a:spcBef>
              <a:spcAft>
                <a:spcPts val="0"/>
              </a:spcAft>
              <a:buClr>
                <a:srgbClr val="0B0B0B"/>
              </a:buClr>
              <a:buSzPts val="3000"/>
              <a:buNone/>
              <a:defRPr sz="3000">
                <a:solidFill>
                  <a:srgbClr val="0B0B0B"/>
                </a:solidFill>
              </a:defRPr>
            </a:lvl3pPr>
            <a:lvl4pPr lvl="3" algn="l">
              <a:lnSpc>
                <a:spcPct val="100000"/>
              </a:lnSpc>
              <a:spcBef>
                <a:spcPts val="0"/>
              </a:spcBef>
              <a:spcAft>
                <a:spcPts val="0"/>
              </a:spcAft>
              <a:buClr>
                <a:srgbClr val="0B0B0B"/>
              </a:buClr>
              <a:buSzPts val="3000"/>
              <a:buNone/>
              <a:defRPr sz="3000">
                <a:solidFill>
                  <a:srgbClr val="0B0B0B"/>
                </a:solidFill>
              </a:defRPr>
            </a:lvl4pPr>
            <a:lvl5pPr lvl="4" algn="l">
              <a:lnSpc>
                <a:spcPct val="100000"/>
              </a:lnSpc>
              <a:spcBef>
                <a:spcPts val="0"/>
              </a:spcBef>
              <a:spcAft>
                <a:spcPts val="0"/>
              </a:spcAft>
              <a:buClr>
                <a:srgbClr val="0B0B0B"/>
              </a:buClr>
              <a:buSzPts val="3000"/>
              <a:buNone/>
              <a:defRPr sz="3000">
                <a:solidFill>
                  <a:srgbClr val="0B0B0B"/>
                </a:solidFill>
              </a:defRPr>
            </a:lvl5pPr>
            <a:lvl6pPr lvl="5" algn="l">
              <a:lnSpc>
                <a:spcPct val="100000"/>
              </a:lnSpc>
              <a:spcBef>
                <a:spcPts val="0"/>
              </a:spcBef>
              <a:spcAft>
                <a:spcPts val="0"/>
              </a:spcAft>
              <a:buClr>
                <a:srgbClr val="0B0B0B"/>
              </a:buClr>
              <a:buSzPts val="3000"/>
              <a:buNone/>
              <a:defRPr sz="3000">
                <a:solidFill>
                  <a:srgbClr val="0B0B0B"/>
                </a:solidFill>
              </a:defRPr>
            </a:lvl6pPr>
            <a:lvl7pPr lvl="6" algn="l">
              <a:lnSpc>
                <a:spcPct val="100000"/>
              </a:lnSpc>
              <a:spcBef>
                <a:spcPts val="0"/>
              </a:spcBef>
              <a:spcAft>
                <a:spcPts val="0"/>
              </a:spcAft>
              <a:buClr>
                <a:srgbClr val="0B0B0B"/>
              </a:buClr>
              <a:buSzPts val="3000"/>
              <a:buNone/>
              <a:defRPr sz="3000">
                <a:solidFill>
                  <a:srgbClr val="0B0B0B"/>
                </a:solidFill>
              </a:defRPr>
            </a:lvl7pPr>
            <a:lvl8pPr lvl="7" algn="l">
              <a:lnSpc>
                <a:spcPct val="100000"/>
              </a:lnSpc>
              <a:spcBef>
                <a:spcPts val="0"/>
              </a:spcBef>
              <a:spcAft>
                <a:spcPts val="0"/>
              </a:spcAft>
              <a:buClr>
                <a:srgbClr val="0B0B0B"/>
              </a:buClr>
              <a:buSzPts val="3000"/>
              <a:buNone/>
              <a:defRPr sz="3000">
                <a:solidFill>
                  <a:srgbClr val="0B0B0B"/>
                </a:solidFill>
              </a:defRPr>
            </a:lvl8pPr>
            <a:lvl9pPr lvl="8" algn="l">
              <a:lnSpc>
                <a:spcPct val="100000"/>
              </a:lnSpc>
              <a:spcBef>
                <a:spcPts val="0"/>
              </a:spcBef>
              <a:spcAft>
                <a:spcPts val="0"/>
              </a:spcAft>
              <a:buClr>
                <a:srgbClr val="0B0B0B"/>
              </a:buClr>
              <a:buSzPts val="3000"/>
              <a:buNone/>
              <a:defRPr sz="3000">
                <a:solidFill>
                  <a:srgbClr val="0B0B0B"/>
                </a:solidFill>
              </a:defRPr>
            </a:lvl9pPr>
          </a:lstStyle>
          <a:p/>
        </p:txBody>
      </p:sp>
      <p:pic>
        <p:nvPicPr>
          <p:cNvPr id="64" name="Google Shape;64;p14"/>
          <p:cNvPicPr preferRelativeResize="0"/>
          <p:nvPr/>
        </p:nvPicPr>
        <p:blipFill rotWithShape="1">
          <a:blip r:embed="rId2">
            <a:alphaModFix/>
          </a:blip>
          <a:srcRect b="38471" l="37560" r="36787" t="38350"/>
          <a:stretch/>
        </p:blipFill>
        <p:spPr>
          <a:xfrm>
            <a:off x="8556256" y="5952100"/>
            <a:ext cx="439768" cy="571333"/>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F3F3F3"/>
        </a:solidFill>
      </p:bgPr>
    </p:bg>
    <p:spTree>
      <p:nvGrpSpPr>
        <p:cNvPr id="5" name="Shape 5"/>
        <p:cNvGrpSpPr/>
        <p:nvPr/>
      </p:nvGrpSpPr>
      <p:grpSpPr>
        <a:xfrm>
          <a:off x="0" y="0"/>
          <a:ext cx="0" cy="0"/>
          <a:chOff x="0" y="0"/>
          <a:chExt cx="0" cy="0"/>
        </a:xfrm>
      </p:grpSpPr>
      <p:sp>
        <p:nvSpPr>
          <p:cNvPr id="6" name="Google Shape;6;p1"/>
          <p:cNvSpPr txBox="1"/>
          <p:nvPr>
            <p:ph idx="1" type="body"/>
          </p:nvPr>
        </p:nvSpPr>
        <p:spPr>
          <a:xfrm>
            <a:off x="433325" y="1536625"/>
            <a:ext cx="8399100" cy="4555200"/>
          </a:xfrm>
          <a:prstGeom prst="rect">
            <a:avLst/>
          </a:prstGeom>
          <a:noFill/>
          <a:ln>
            <a:noFill/>
          </a:ln>
        </p:spPr>
        <p:txBody>
          <a:bodyPr anchorCtr="0" anchor="t" bIns="91425" lIns="91425" spcFirstLastPara="1" rIns="91425" wrap="square" tIns="91425">
            <a:noAutofit/>
          </a:bodyPr>
          <a:lstStyle>
            <a:lvl1pPr indent="-457200" lvl="0" marL="457200" marR="0" rtl="0" algn="l">
              <a:lnSpc>
                <a:spcPct val="115000"/>
              </a:lnSpc>
              <a:spcBef>
                <a:spcPts val="0"/>
              </a:spcBef>
              <a:spcAft>
                <a:spcPts val="0"/>
              </a:spcAft>
              <a:buClr>
                <a:srgbClr val="304852"/>
              </a:buClr>
              <a:buSzPts val="3600"/>
              <a:buFont typeface="Open Sans"/>
              <a:buChar char="●"/>
              <a:defRPr b="1" i="0" sz="3600" u="none" cap="none" strike="noStrike">
                <a:solidFill>
                  <a:srgbClr val="304852"/>
                </a:solidFill>
                <a:latin typeface="Open Sans"/>
                <a:ea typeface="Open Sans"/>
                <a:cs typeface="Open Sans"/>
                <a:sym typeface="Open Sans"/>
              </a:defRPr>
            </a:lvl1pPr>
            <a:lvl2pPr indent="-431800" lvl="1" marL="914400" marR="0" rtl="0" algn="l">
              <a:lnSpc>
                <a:spcPct val="115000"/>
              </a:lnSpc>
              <a:spcBef>
                <a:spcPts val="1600"/>
              </a:spcBef>
              <a:spcAft>
                <a:spcPts val="0"/>
              </a:spcAft>
              <a:buClr>
                <a:srgbClr val="304852"/>
              </a:buClr>
              <a:buSzPts val="3200"/>
              <a:buFont typeface="Open Sans"/>
              <a:buChar char="○"/>
              <a:defRPr b="1" i="0" sz="3200" u="none" cap="none" strike="noStrike">
                <a:solidFill>
                  <a:srgbClr val="304852"/>
                </a:solidFill>
                <a:latin typeface="Open Sans"/>
                <a:ea typeface="Open Sans"/>
                <a:cs typeface="Open Sans"/>
                <a:sym typeface="Open Sans"/>
              </a:defRPr>
            </a:lvl2pPr>
            <a:lvl3pPr indent="-381000" lvl="2" marL="1371600" marR="0" rtl="0" algn="l">
              <a:lnSpc>
                <a:spcPct val="115000"/>
              </a:lnSpc>
              <a:spcBef>
                <a:spcPts val="1600"/>
              </a:spcBef>
              <a:spcAft>
                <a:spcPts val="0"/>
              </a:spcAft>
              <a:buClr>
                <a:srgbClr val="304852"/>
              </a:buClr>
              <a:buSzPts val="2400"/>
              <a:buFont typeface="Cabin"/>
              <a:buChar char="■"/>
              <a:defRPr b="1" i="0" sz="2400" u="none" cap="none" strike="noStrike">
                <a:solidFill>
                  <a:srgbClr val="304852"/>
                </a:solidFill>
                <a:latin typeface="Cabin"/>
                <a:ea typeface="Cabin"/>
                <a:cs typeface="Cabin"/>
                <a:sym typeface="Cabin"/>
              </a:defRPr>
            </a:lvl3pPr>
            <a:lvl4pPr indent="-381000" lvl="3" marL="1828800" marR="0" rtl="0" algn="l">
              <a:lnSpc>
                <a:spcPct val="115000"/>
              </a:lnSpc>
              <a:spcBef>
                <a:spcPts val="1600"/>
              </a:spcBef>
              <a:spcAft>
                <a:spcPts val="0"/>
              </a:spcAft>
              <a:buClr>
                <a:srgbClr val="304852"/>
              </a:buClr>
              <a:buSzPts val="2400"/>
              <a:buFont typeface="Cabin Condensed"/>
              <a:buChar char="●"/>
              <a:defRPr b="0" i="0" sz="2400" u="none" cap="none" strike="noStrike">
                <a:solidFill>
                  <a:srgbClr val="304852"/>
                </a:solidFill>
                <a:latin typeface="Cabin Condensed"/>
                <a:ea typeface="Cabin Condensed"/>
                <a:cs typeface="Cabin Condensed"/>
                <a:sym typeface="Cabin Condensed"/>
              </a:defRPr>
            </a:lvl4pPr>
            <a:lvl5pPr indent="-342900" lvl="4" marL="2286000" marR="0" rtl="0" algn="l">
              <a:lnSpc>
                <a:spcPct val="115000"/>
              </a:lnSpc>
              <a:spcBef>
                <a:spcPts val="1600"/>
              </a:spcBef>
              <a:spcAft>
                <a:spcPts val="0"/>
              </a:spcAft>
              <a:buClr>
                <a:srgbClr val="304852"/>
              </a:buClr>
              <a:buSzPts val="1800"/>
              <a:buFont typeface="Cabin Condensed"/>
              <a:buChar char="○"/>
              <a:defRPr b="0" i="0" sz="1800" u="none" cap="none" strike="noStrike">
                <a:solidFill>
                  <a:srgbClr val="304852"/>
                </a:solidFill>
                <a:latin typeface="Cabin Condensed"/>
                <a:ea typeface="Cabin Condensed"/>
                <a:cs typeface="Cabin Condensed"/>
                <a:sym typeface="Cabin Condensed"/>
              </a:defRPr>
            </a:lvl5pPr>
            <a:lvl6pPr indent="-317500" lvl="5" marL="2743200" marR="0" rtl="0" algn="l">
              <a:lnSpc>
                <a:spcPct val="115000"/>
              </a:lnSpc>
              <a:spcBef>
                <a:spcPts val="1600"/>
              </a:spcBef>
              <a:spcAft>
                <a:spcPts val="0"/>
              </a:spcAft>
              <a:buClr>
                <a:srgbClr val="0B0B0B"/>
              </a:buClr>
              <a:buSzPts val="1400"/>
              <a:buFont typeface="Cabin"/>
              <a:buChar char="■"/>
              <a:defRPr b="0" i="0" sz="1400" u="none" cap="none" strike="noStrike">
                <a:solidFill>
                  <a:srgbClr val="0B0B0B"/>
                </a:solidFill>
                <a:latin typeface="Cabin"/>
                <a:ea typeface="Cabin"/>
                <a:cs typeface="Cabin"/>
                <a:sym typeface="Cabin"/>
              </a:defRPr>
            </a:lvl6pPr>
            <a:lvl7pPr indent="-317500" lvl="6" marL="3200400" marR="0" rtl="0" algn="l">
              <a:lnSpc>
                <a:spcPct val="115000"/>
              </a:lnSpc>
              <a:spcBef>
                <a:spcPts val="1600"/>
              </a:spcBef>
              <a:spcAft>
                <a:spcPts val="0"/>
              </a:spcAft>
              <a:buClr>
                <a:srgbClr val="0B0B0B"/>
              </a:buClr>
              <a:buSzPts val="1400"/>
              <a:buFont typeface="Cabin Condensed"/>
              <a:buChar char="●"/>
              <a:defRPr b="0" i="0" sz="1400" u="none" cap="none" strike="noStrike">
                <a:solidFill>
                  <a:srgbClr val="0B0B0B"/>
                </a:solidFill>
                <a:latin typeface="Cabin Condensed"/>
                <a:ea typeface="Cabin Condensed"/>
                <a:cs typeface="Cabin Condensed"/>
                <a:sym typeface="Cabin Condensed"/>
              </a:defRPr>
            </a:lvl7pPr>
            <a:lvl8pPr indent="-317500" lvl="7" marL="3657600" marR="0" rtl="0" algn="l">
              <a:lnSpc>
                <a:spcPct val="115000"/>
              </a:lnSpc>
              <a:spcBef>
                <a:spcPts val="1600"/>
              </a:spcBef>
              <a:spcAft>
                <a:spcPts val="0"/>
              </a:spcAft>
              <a:buClr>
                <a:schemeClr val="dk2"/>
              </a:buClr>
              <a:buSzPts val="1400"/>
              <a:buFont typeface="Cabin"/>
              <a:buChar char="○"/>
              <a:defRPr b="0" i="0" sz="1400" u="none" cap="none" strike="noStrike">
                <a:solidFill>
                  <a:schemeClr val="dk2"/>
                </a:solidFill>
                <a:latin typeface="Cabin"/>
                <a:ea typeface="Cabin"/>
                <a:cs typeface="Cabin"/>
                <a:sym typeface="Cabin"/>
              </a:defRPr>
            </a:lvl8pPr>
            <a:lvl9pPr indent="-317500" lvl="8" marL="4114800" marR="0" rtl="0" algn="l">
              <a:lnSpc>
                <a:spcPct val="115000"/>
              </a:lnSpc>
              <a:spcBef>
                <a:spcPts val="1600"/>
              </a:spcBef>
              <a:spcAft>
                <a:spcPts val="1600"/>
              </a:spcAft>
              <a:buClr>
                <a:schemeClr val="dk2"/>
              </a:buClr>
              <a:buSzPts val="1400"/>
              <a:buFont typeface="Cabin"/>
              <a:buChar char="■"/>
              <a:defRPr b="0" i="0" sz="1400" u="none" cap="none" strike="noStrike">
                <a:solidFill>
                  <a:schemeClr val="dk2"/>
                </a:solidFill>
                <a:latin typeface="Cabin"/>
                <a:ea typeface="Cabin"/>
                <a:cs typeface="Cabin"/>
                <a:sym typeface="Cabin"/>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9.png"/><Relationship Id="rId4" Type="http://schemas.openxmlformats.org/officeDocument/2006/relationships/image" Target="../media/image1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1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9.png"/><Relationship Id="rId4" Type="http://schemas.openxmlformats.org/officeDocument/2006/relationships/hyperlink" Target="https://www.youtube.com/watch?v=oU7cI4sSMbQ&amp;list=PLSLDxqPb5NQmc9aOPrh0SjG_BRiZsVdWA&amp;index=3"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0.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0.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0.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3.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hyperlink" Target="https://www.youtube.com/watch?v=DXFVadiFb_c&amp;list=PLSLDxqPb5NQmc9aOPrh0SjG_BRiZsVdWA&amp;index=4" TargetMode="External"/><Relationship Id="rId4" Type="http://schemas.openxmlformats.org/officeDocument/2006/relationships/hyperlink" Target="https://www.youtube.com/watch?v=DXFVadiFb_c&amp;list=PLSLDxqPb5NQmc9aOPrh0SjG_BRiZsVdWA&amp;index=4" TargetMode="External"/><Relationship Id="rId5" Type="http://schemas.openxmlformats.org/officeDocument/2006/relationships/hyperlink" Target="https://www.youtube.com/watch?v=DXFVadiFb_c&amp;list=PLSLDxqPb5NQmc9aOPrh0SjG_BRiZsVdWA&amp;index=4" TargetMode="External"/><Relationship Id="rId6"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9.png"/><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9.png"/><Relationship Id="rId4" Type="http://schemas.openxmlformats.org/officeDocument/2006/relationships/image" Target="../media/image2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9.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1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9.png"/><Relationship Id="rId4"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5"/>
          <p:cNvSpPr/>
          <p:nvPr/>
        </p:nvSpPr>
        <p:spPr>
          <a:xfrm>
            <a:off x="457200" y="3295850"/>
            <a:ext cx="8229600" cy="2772300"/>
          </a:xfrm>
          <a:prstGeom prst="rect">
            <a:avLst/>
          </a:prstGeom>
          <a:solidFill>
            <a:srgbClr val="EBF0F2"/>
          </a:solidFill>
          <a:ln cap="flat" cmpd="sng" w="19050">
            <a:solidFill>
              <a:srgbClr val="30485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1" i="0" sz="2400" u="none" cap="none" strike="noStrike">
              <a:solidFill>
                <a:srgbClr val="980000"/>
              </a:solidFill>
              <a:latin typeface="Cabin Condensed"/>
              <a:ea typeface="Cabin Condensed"/>
              <a:cs typeface="Cabin Condensed"/>
              <a:sym typeface="Cabin Condensed"/>
            </a:endParaRPr>
          </a:p>
        </p:txBody>
      </p:sp>
      <p:sp>
        <p:nvSpPr>
          <p:cNvPr id="70" name="Google Shape;70;p15"/>
          <p:cNvSpPr txBox="1"/>
          <p:nvPr>
            <p:ph type="title"/>
          </p:nvPr>
        </p:nvSpPr>
        <p:spPr>
          <a:xfrm>
            <a:off x="457200" y="548650"/>
            <a:ext cx="8229600" cy="685800"/>
          </a:xfrm>
          <a:prstGeom prst="rect">
            <a:avLst/>
          </a:prstGeom>
          <a:solidFill>
            <a:srgbClr val="304852"/>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Navigate</a:t>
            </a:r>
            <a:endParaRPr/>
          </a:p>
        </p:txBody>
      </p:sp>
      <p:sp>
        <p:nvSpPr>
          <p:cNvPr id="71" name="Google Shape;71;p15"/>
          <p:cNvSpPr txBox="1"/>
          <p:nvPr>
            <p:ph idx="2" type="subTitle"/>
          </p:nvPr>
        </p:nvSpPr>
        <p:spPr>
          <a:xfrm>
            <a:off x="457200" y="106750"/>
            <a:ext cx="2916900" cy="458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3600"/>
              <a:buNone/>
            </a:pPr>
            <a:r>
              <a:rPr b="0" lang="en" sz="1500"/>
              <a:t>Slide A</a:t>
            </a:r>
            <a:endParaRPr b="0" sz="1500"/>
          </a:p>
        </p:txBody>
      </p:sp>
      <p:sp>
        <p:nvSpPr>
          <p:cNvPr id="72" name="Google Shape;72;p15"/>
          <p:cNvSpPr txBox="1"/>
          <p:nvPr/>
        </p:nvSpPr>
        <p:spPr>
          <a:xfrm>
            <a:off x="2264325" y="3420125"/>
            <a:ext cx="6206100" cy="2102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800"/>
              <a:buFont typeface="Arial"/>
              <a:buNone/>
            </a:pPr>
            <a:r>
              <a:rPr b="1" i="0" lang="en" sz="2800" u="none" cap="none" strike="noStrike">
                <a:solidFill>
                  <a:srgbClr val="304852"/>
                </a:solidFill>
                <a:latin typeface="Open Sans"/>
                <a:ea typeface="Open Sans"/>
                <a:cs typeface="Open Sans"/>
                <a:sym typeface="Open Sans"/>
              </a:rPr>
              <a:t>With your class</a:t>
            </a:r>
            <a:endParaRPr b="1" i="0" sz="2800" u="none" cap="none" strike="noStrike">
              <a:solidFill>
                <a:srgbClr val="304852"/>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2800"/>
              <a:buFont typeface="Arial"/>
              <a:buNone/>
            </a:pPr>
            <a:r>
              <a:rPr b="0" i="0" lang="en" sz="2800" u="none" cap="none" strike="noStrike">
                <a:solidFill>
                  <a:srgbClr val="304852"/>
                </a:solidFill>
                <a:latin typeface="Cabin"/>
                <a:ea typeface="Cabin"/>
                <a:cs typeface="Cabin"/>
                <a:sym typeface="Cabin"/>
              </a:rPr>
              <a:t>How will the speed of a vehicle at the moment of first contact in a collision affect the outcomes?</a:t>
            </a:r>
            <a:endParaRPr b="0" i="0" sz="2800" u="none" cap="none" strike="noStrike">
              <a:solidFill>
                <a:srgbClr val="304852"/>
              </a:solidFill>
              <a:latin typeface="Cabin"/>
              <a:ea typeface="Cabin"/>
              <a:cs typeface="Cabin"/>
              <a:sym typeface="Cabin"/>
            </a:endParaRPr>
          </a:p>
        </p:txBody>
      </p:sp>
      <p:pic>
        <p:nvPicPr>
          <p:cNvPr id="73" name="Google Shape;73;p15"/>
          <p:cNvPicPr preferRelativeResize="0"/>
          <p:nvPr/>
        </p:nvPicPr>
        <p:blipFill rotWithShape="1">
          <a:blip r:embed="rId3">
            <a:alphaModFix/>
          </a:blip>
          <a:srcRect b="0" l="0" r="0" t="0"/>
          <a:stretch/>
        </p:blipFill>
        <p:spPr>
          <a:xfrm>
            <a:off x="613138" y="3618350"/>
            <a:ext cx="1457325" cy="1485900"/>
          </a:xfrm>
          <a:prstGeom prst="rect">
            <a:avLst/>
          </a:prstGeom>
          <a:noFill/>
          <a:ln>
            <a:noFill/>
          </a:ln>
        </p:spPr>
      </p:pic>
      <p:sp>
        <p:nvSpPr>
          <p:cNvPr id="74" name="Google Shape;74;p15"/>
          <p:cNvSpPr txBox="1"/>
          <p:nvPr/>
        </p:nvSpPr>
        <p:spPr>
          <a:xfrm>
            <a:off x="457200" y="1447800"/>
            <a:ext cx="8229600" cy="1606800"/>
          </a:xfrm>
          <a:prstGeom prst="rect">
            <a:avLst/>
          </a:prstGeom>
          <a:noFill/>
          <a:ln>
            <a:noFill/>
          </a:ln>
        </p:spPr>
        <p:txBody>
          <a:bodyPr anchorCtr="0" anchor="t" bIns="91425" lIns="91425" spcFirstLastPara="1" rIns="91425" wrap="square" tIns="91425">
            <a:spAutoFit/>
          </a:bodyPr>
          <a:lstStyle/>
          <a:p>
            <a:pPr indent="0" lvl="0" marL="85725" marR="5339" rtl="0" algn="l">
              <a:lnSpc>
                <a:spcPct val="115000"/>
              </a:lnSpc>
              <a:spcBef>
                <a:spcPts val="0"/>
              </a:spcBef>
              <a:spcAft>
                <a:spcPts val="0"/>
              </a:spcAft>
              <a:buClr>
                <a:srgbClr val="000000"/>
              </a:buClr>
              <a:buSzPts val="2800"/>
              <a:buFont typeface="Arial"/>
              <a:buNone/>
            </a:pPr>
            <a:r>
              <a:rPr b="0" i="0" lang="en" sz="2800" u="none" cap="none" strike="noStrike">
                <a:solidFill>
                  <a:srgbClr val="304852"/>
                </a:solidFill>
                <a:latin typeface="Cabin"/>
                <a:ea typeface="Cabin"/>
                <a:cs typeface="Cabin"/>
                <a:sym typeface="Cabin"/>
              </a:rPr>
              <a:t>Even when you cannot prevent a collision, braking can help slow your car down before it collides with another car.</a:t>
            </a:r>
            <a:endParaRPr b="0" i="0" sz="17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6"/>
          <p:cNvSpPr txBox="1"/>
          <p:nvPr>
            <p:ph idx="1" type="body"/>
          </p:nvPr>
        </p:nvSpPr>
        <p:spPr>
          <a:xfrm>
            <a:off x="457200" y="1559175"/>
            <a:ext cx="8229600" cy="2671200"/>
          </a:xfrm>
          <a:prstGeom prst="rect">
            <a:avLst/>
          </a:prstGeom>
          <a:solidFill>
            <a:srgbClr val="EBF0F2"/>
          </a:solidFill>
          <a:ln cap="flat" cmpd="sng" w="19050">
            <a:solidFill>
              <a:srgbClr val="111111"/>
            </a:solidFill>
            <a:prstDash val="solid"/>
            <a:round/>
            <a:headEnd len="sm" w="sm" type="none"/>
            <a:tailEnd len="sm" w="sm" type="none"/>
          </a:ln>
        </p:spPr>
        <p:txBody>
          <a:bodyPr anchorCtr="0" anchor="t" bIns="91425" lIns="91425" spcFirstLastPara="1" rIns="91425" wrap="square" tIns="91425">
            <a:noAutofit/>
          </a:bodyPr>
          <a:lstStyle/>
          <a:p>
            <a:pPr indent="0" lvl="0" marL="457200" rtl="0" algn="l">
              <a:lnSpc>
                <a:spcPct val="115000"/>
              </a:lnSpc>
              <a:spcBef>
                <a:spcPts val="0"/>
              </a:spcBef>
              <a:spcAft>
                <a:spcPts val="0"/>
              </a:spcAft>
              <a:buSzPts val="3600"/>
              <a:buNone/>
            </a:pPr>
            <a:r>
              <a:t/>
            </a:r>
            <a:endParaRPr b="0" sz="2400">
              <a:latin typeface="Cabin"/>
              <a:ea typeface="Cabin"/>
              <a:cs typeface="Cabin"/>
              <a:sym typeface="Cabin"/>
            </a:endParaRPr>
          </a:p>
          <a:p>
            <a:pPr indent="0" lvl="0" marL="0" rtl="0" algn="l">
              <a:lnSpc>
                <a:spcPct val="115000"/>
              </a:lnSpc>
              <a:spcBef>
                <a:spcPts val="0"/>
              </a:spcBef>
              <a:spcAft>
                <a:spcPts val="0"/>
              </a:spcAft>
              <a:buSzPts val="3600"/>
              <a:buNone/>
            </a:pPr>
            <a:r>
              <a:t/>
            </a:r>
            <a:endParaRPr b="0" sz="2400">
              <a:latin typeface="Cabin"/>
              <a:ea typeface="Cabin"/>
              <a:cs typeface="Cabin"/>
              <a:sym typeface="Cabin"/>
            </a:endParaRPr>
          </a:p>
          <a:p>
            <a:pPr indent="0" lvl="0" marL="0" rtl="0" algn="l">
              <a:lnSpc>
                <a:spcPct val="115000"/>
              </a:lnSpc>
              <a:spcBef>
                <a:spcPts val="0"/>
              </a:spcBef>
              <a:spcAft>
                <a:spcPts val="0"/>
              </a:spcAft>
              <a:buSzPts val="3600"/>
              <a:buNone/>
            </a:pPr>
            <a:r>
              <a:t/>
            </a:r>
            <a:endParaRPr b="0" sz="2400">
              <a:latin typeface="Cabin"/>
              <a:ea typeface="Cabin"/>
              <a:cs typeface="Cabin"/>
              <a:sym typeface="Cabin"/>
            </a:endParaRPr>
          </a:p>
        </p:txBody>
      </p:sp>
      <p:sp>
        <p:nvSpPr>
          <p:cNvPr id="80" name="Google Shape;80;p16"/>
          <p:cNvSpPr txBox="1"/>
          <p:nvPr>
            <p:ph type="title"/>
          </p:nvPr>
        </p:nvSpPr>
        <p:spPr>
          <a:xfrm>
            <a:off x="457200" y="548650"/>
            <a:ext cx="8229600" cy="685800"/>
          </a:xfrm>
          <a:prstGeom prst="rect">
            <a:avLst/>
          </a:prstGeom>
          <a:solidFill>
            <a:srgbClr val="304852"/>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Analyze Data</a:t>
            </a:r>
            <a:endParaRPr/>
          </a:p>
        </p:txBody>
      </p:sp>
      <p:sp>
        <p:nvSpPr>
          <p:cNvPr id="81" name="Google Shape;81;p16"/>
          <p:cNvSpPr txBox="1"/>
          <p:nvPr>
            <p:ph idx="2" type="subTitle"/>
          </p:nvPr>
        </p:nvSpPr>
        <p:spPr>
          <a:xfrm>
            <a:off x="457200" y="106750"/>
            <a:ext cx="2916900" cy="458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3600"/>
              <a:buNone/>
            </a:pPr>
            <a:r>
              <a:rPr b="0" lang="en" sz="1500"/>
              <a:t>Slide B</a:t>
            </a:r>
            <a:endParaRPr b="0" sz="1500"/>
          </a:p>
        </p:txBody>
      </p:sp>
      <p:sp>
        <p:nvSpPr>
          <p:cNvPr id="82" name="Google Shape;82;p16"/>
          <p:cNvSpPr txBox="1"/>
          <p:nvPr/>
        </p:nvSpPr>
        <p:spPr>
          <a:xfrm>
            <a:off x="2491700" y="1743725"/>
            <a:ext cx="5955900" cy="11913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3600"/>
              <a:buFont typeface="Arial"/>
              <a:buNone/>
            </a:pPr>
            <a:r>
              <a:rPr b="1" i="0" lang="en" sz="3600" u="none" cap="none" strike="noStrike">
                <a:solidFill>
                  <a:srgbClr val="304852"/>
                </a:solidFill>
                <a:latin typeface="Open Sans"/>
                <a:ea typeface="Open Sans"/>
                <a:cs typeface="Open Sans"/>
                <a:sym typeface="Open Sans"/>
              </a:rPr>
              <a:t>As a Class</a:t>
            </a:r>
            <a:endParaRPr b="1" i="0" sz="3600" u="none" cap="none" strike="noStrike">
              <a:solidFill>
                <a:srgbClr val="304852"/>
              </a:solidFill>
              <a:latin typeface="Open Sans"/>
              <a:ea typeface="Open Sans"/>
              <a:cs typeface="Open Sans"/>
              <a:sym typeface="Open Sans"/>
            </a:endParaRPr>
          </a:p>
          <a:p>
            <a:pPr indent="0" lvl="0" marL="457200" marR="0" rtl="0" algn="l">
              <a:lnSpc>
                <a:spcPct val="115000"/>
              </a:lnSpc>
              <a:spcBef>
                <a:spcPts val="0"/>
              </a:spcBef>
              <a:spcAft>
                <a:spcPts val="0"/>
              </a:spcAft>
              <a:buClr>
                <a:srgbClr val="000000"/>
              </a:buClr>
              <a:buSzPts val="2400"/>
              <a:buFont typeface="Arial"/>
              <a:buNone/>
            </a:pPr>
            <a:r>
              <a:t/>
            </a:r>
            <a:endParaRPr b="0" i="0" sz="2400" u="none" cap="none" strike="noStrike">
              <a:solidFill>
                <a:srgbClr val="304852"/>
              </a:solidFill>
              <a:latin typeface="Cabin"/>
              <a:ea typeface="Cabin"/>
              <a:cs typeface="Cabin"/>
              <a:sym typeface="Cabin"/>
            </a:endParaRPr>
          </a:p>
        </p:txBody>
      </p:sp>
      <p:pic>
        <p:nvPicPr>
          <p:cNvPr id="83" name="Google Shape;83;p16"/>
          <p:cNvPicPr preferRelativeResize="0"/>
          <p:nvPr/>
        </p:nvPicPr>
        <p:blipFill rotWithShape="1">
          <a:blip r:embed="rId3">
            <a:alphaModFix/>
          </a:blip>
          <a:srcRect b="0" l="0" r="0" t="0"/>
          <a:stretch/>
        </p:blipFill>
        <p:spPr>
          <a:xfrm>
            <a:off x="798125" y="1740250"/>
            <a:ext cx="1457325" cy="1485900"/>
          </a:xfrm>
          <a:prstGeom prst="rect">
            <a:avLst/>
          </a:prstGeom>
          <a:noFill/>
          <a:ln>
            <a:noFill/>
          </a:ln>
        </p:spPr>
      </p:pic>
      <p:sp>
        <p:nvSpPr>
          <p:cNvPr id="84" name="Google Shape;84;p16"/>
          <p:cNvSpPr txBox="1"/>
          <p:nvPr/>
        </p:nvSpPr>
        <p:spPr>
          <a:xfrm>
            <a:off x="2543175" y="2609850"/>
            <a:ext cx="5619900" cy="13530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000"/>
              </a:spcBef>
              <a:spcAft>
                <a:spcPts val="0"/>
              </a:spcAft>
              <a:buClr>
                <a:schemeClr val="dk1"/>
              </a:buClr>
              <a:buSzPts val="1100"/>
              <a:buFont typeface="Arial"/>
              <a:buNone/>
            </a:pPr>
            <a:r>
              <a:rPr b="0" i="0" lang="en" sz="2300" u="none" cap="none" strike="noStrike">
                <a:solidFill>
                  <a:srgbClr val="304852"/>
                </a:solidFill>
                <a:latin typeface="Cabin"/>
                <a:ea typeface="Cabin"/>
                <a:cs typeface="Cabin"/>
                <a:sym typeface="Cabin"/>
              </a:rPr>
              <a:t>Make some initial observations of what happens when two carts collide together in three different collisions.</a:t>
            </a:r>
            <a:endParaRPr b="0" i="0" sz="1700" u="none" cap="none" strike="noStrike">
              <a:solidFill>
                <a:srgbClr val="000000"/>
              </a:solidFill>
              <a:latin typeface="Arial"/>
              <a:ea typeface="Arial"/>
              <a:cs typeface="Arial"/>
              <a:sym typeface="Arial"/>
            </a:endParaRPr>
          </a:p>
        </p:txBody>
      </p:sp>
      <p:pic>
        <p:nvPicPr>
          <p:cNvPr id="85" name="Google Shape;85;p16"/>
          <p:cNvPicPr preferRelativeResize="0"/>
          <p:nvPr/>
        </p:nvPicPr>
        <p:blipFill rotWithShape="1">
          <a:blip r:embed="rId4">
            <a:alphaModFix/>
          </a:blip>
          <a:srcRect b="0" l="0" r="0" t="0"/>
          <a:stretch/>
        </p:blipFill>
        <p:spPr>
          <a:xfrm>
            <a:off x="457200" y="4651075"/>
            <a:ext cx="8229601" cy="1794500"/>
          </a:xfrm>
          <a:prstGeom prst="rect">
            <a:avLst/>
          </a:prstGeom>
          <a:noFill/>
          <a:ln cap="flat" cmpd="sng" w="19050">
            <a:solidFill>
              <a:srgbClr val="304852"/>
            </a:solidFill>
            <a:prstDash val="solid"/>
            <a:round/>
            <a:headEnd len="sm" w="sm" type="none"/>
            <a:tailEnd len="sm" w="sm" type="none"/>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7"/>
          <p:cNvSpPr txBox="1"/>
          <p:nvPr>
            <p:ph idx="1" type="body"/>
          </p:nvPr>
        </p:nvSpPr>
        <p:spPr>
          <a:xfrm>
            <a:off x="457200" y="1559175"/>
            <a:ext cx="8229600" cy="4549800"/>
          </a:xfrm>
          <a:prstGeom prst="rect">
            <a:avLst/>
          </a:prstGeom>
          <a:solidFill>
            <a:srgbClr val="EBF0F2"/>
          </a:solidFill>
          <a:ln cap="flat" cmpd="sng" w="19050">
            <a:solidFill>
              <a:srgbClr val="111111"/>
            </a:solidFill>
            <a:prstDash val="solid"/>
            <a:round/>
            <a:headEnd len="sm" w="sm" type="none"/>
            <a:tailEnd len="sm" w="sm" type="none"/>
          </a:ln>
        </p:spPr>
        <p:txBody>
          <a:bodyPr anchorCtr="0" anchor="t" bIns="91425" lIns="91425" spcFirstLastPara="1" rIns="91425" wrap="square" tIns="91425">
            <a:noAutofit/>
          </a:bodyPr>
          <a:lstStyle/>
          <a:p>
            <a:pPr indent="0" lvl="0" marL="457200" rtl="0" algn="l">
              <a:lnSpc>
                <a:spcPct val="115000"/>
              </a:lnSpc>
              <a:spcBef>
                <a:spcPts val="0"/>
              </a:spcBef>
              <a:spcAft>
                <a:spcPts val="0"/>
              </a:spcAft>
              <a:buSzPts val="3600"/>
              <a:buNone/>
            </a:pPr>
            <a:r>
              <a:t/>
            </a:r>
            <a:endParaRPr b="0" sz="2400">
              <a:latin typeface="Cabin"/>
              <a:ea typeface="Cabin"/>
              <a:cs typeface="Cabin"/>
              <a:sym typeface="Cabin"/>
            </a:endParaRPr>
          </a:p>
          <a:p>
            <a:pPr indent="0" lvl="0" marL="0" rtl="0" algn="l">
              <a:lnSpc>
                <a:spcPct val="115000"/>
              </a:lnSpc>
              <a:spcBef>
                <a:spcPts val="0"/>
              </a:spcBef>
              <a:spcAft>
                <a:spcPts val="0"/>
              </a:spcAft>
              <a:buSzPts val="3600"/>
              <a:buNone/>
            </a:pPr>
            <a:r>
              <a:t/>
            </a:r>
            <a:endParaRPr b="0" sz="2400">
              <a:latin typeface="Cabin"/>
              <a:ea typeface="Cabin"/>
              <a:cs typeface="Cabin"/>
              <a:sym typeface="Cabin"/>
            </a:endParaRPr>
          </a:p>
          <a:p>
            <a:pPr indent="0" lvl="0" marL="0" rtl="0" algn="l">
              <a:lnSpc>
                <a:spcPct val="115000"/>
              </a:lnSpc>
              <a:spcBef>
                <a:spcPts val="0"/>
              </a:spcBef>
              <a:spcAft>
                <a:spcPts val="0"/>
              </a:spcAft>
              <a:buSzPts val="3600"/>
              <a:buNone/>
            </a:pPr>
            <a:r>
              <a:t/>
            </a:r>
            <a:endParaRPr b="0" sz="2400">
              <a:latin typeface="Cabin"/>
              <a:ea typeface="Cabin"/>
              <a:cs typeface="Cabin"/>
              <a:sym typeface="Cabin"/>
            </a:endParaRPr>
          </a:p>
        </p:txBody>
      </p:sp>
      <p:sp>
        <p:nvSpPr>
          <p:cNvPr id="91" name="Google Shape;91;p17"/>
          <p:cNvSpPr txBox="1"/>
          <p:nvPr>
            <p:ph type="title"/>
          </p:nvPr>
        </p:nvSpPr>
        <p:spPr>
          <a:xfrm>
            <a:off x="457200" y="548650"/>
            <a:ext cx="8229600" cy="685800"/>
          </a:xfrm>
          <a:prstGeom prst="rect">
            <a:avLst/>
          </a:prstGeom>
          <a:solidFill>
            <a:srgbClr val="304852"/>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Construct Initial Explanations</a:t>
            </a:r>
            <a:endParaRPr/>
          </a:p>
        </p:txBody>
      </p:sp>
      <p:sp>
        <p:nvSpPr>
          <p:cNvPr id="92" name="Google Shape;92;p17"/>
          <p:cNvSpPr txBox="1"/>
          <p:nvPr>
            <p:ph idx="2" type="subTitle"/>
          </p:nvPr>
        </p:nvSpPr>
        <p:spPr>
          <a:xfrm>
            <a:off x="457200" y="106750"/>
            <a:ext cx="2916900" cy="458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3600"/>
              <a:buNone/>
            </a:pPr>
            <a:r>
              <a:rPr b="0" lang="en" sz="1500"/>
              <a:t>Slide C</a:t>
            </a:r>
            <a:endParaRPr b="0" sz="1500"/>
          </a:p>
        </p:txBody>
      </p:sp>
      <p:sp>
        <p:nvSpPr>
          <p:cNvPr id="93" name="Google Shape;93;p17"/>
          <p:cNvSpPr txBox="1"/>
          <p:nvPr/>
        </p:nvSpPr>
        <p:spPr>
          <a:xfrm>
            <a:off x="2263100" y="1743725"/>
            <a:ext cx="5955900" cy="10320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700"/>
              <a:buFont typeface="Arial"/>
              <a:buNone/>
            </a:pPr>
            <a:r>
              <a:rPr b="1" i="0" lang="en" sz="2700" u="none" cap="none" strike="noStrike">
                <a:solidFill>
                  <a:srgbClr val="304852"/>
                </a:solidFill>
                <a:latin typeface="Open Sans"/>
                <a:ea typeface="Open Sans"/>
                <a:cs typeface="Open Sans"/>
                <a:sym typeface="Open Sans"/>
              </a:rPr>
              <a:t>Turn and Talk</a:t>
            </a:r>
            <a:endParaRPr b="1" i="0" sz="2700" u="none" cap="none" strike="noStrike">
              <a:solidFill>
                <a:srgbClr val="304852"/>
              </a:solidFill>
              <a:latin typeface="Open Sans"/>
              <a:ea typeface="Open Sans"/>
              <a:cs typeface="Open Sans"/>
              <a:sym typeface="Open Sans"/>
            </a:endParaRPr>
          </a:p>
          <a:p>
            <a:pPr indent="0" lvl="0" marL="457200" marR="0" rtl="0" algn="l">
              <a:lnSpc>
                <a:spcPct val="115000"/>
              </a:lnSpc>
              <a:spcBef>
                <a:spcPts val="0"/>
              </a:spcBef>
              <a:spcAft>
                <a:spcPts val="0"/>
              </a:spcAft>
              <a:buClr>
                <a:srgbClr val="000000"/>
              </a:buClr>
              <a:buSzPts val="2400"/>
              <a:buFont typeface="Arial"/>
              <a:buNone/>
            </a:pPr>
            <a:r>
              <a:t/>
            </a:r>
            <a:endParaRPr b="0" i="0" sz="2400" u="none" cap="none" strike="noStrike">
              <a:solidFill>
                <a:srgbClr val="304852"/>
              </a:solidFill>
              <a:latin typeface="Cabin"/>
              <a:ea typeface="Cabin"/>
              <a:cs typeface="Cabin"/>
              <a:sym typeface="Cabin"/>
            </a:endParaRPr>
          </a:p>
        </p:txBody>
      </p:sp>
      <p:sp>
        <p:nvSpPr>
          <p:cNvPr id="94" name="Google Shape;94;p17"/>
          <p:cNvSpPr txBox="1"/>
          <p:nvPr/>
        </p:nvSpPr>
        <p:spPr>
          <a:xfrm>
            <a:off x="2330925" y="2294850"/>
            <a:ext cx="6199200" cy="25941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000"/>
              </a:spcBef>
              <a:spcAft>
                <a:spcPts val="0"/>
              </a:spcAft>
              <a:buClr>
                <a:srgbClr val="000000"/>
              </a:buClr>
              <a:buSzPts val="2700"/>
              <a:buFont typeface="Arial"/>
              <a:buNone/>
            </a:pPr>
            <a:r>
              <a:rPr b="0" i="0" lang="en" sz="2700" u="none" cap="none" strike="noStrike">
                <a:solidFill>
                  <a:srgbClr val="304852"/>
                </a:solidFill>
                <a:latin typeface="Cabin"/>
                <a:ea typeface="Cabin"/>
                <a:cs typeface="Cabin"/>
                <a:sym typeface="Cabin"/>
              </a:rPr>
              <a:t>What is happening during these collisions that is </a:t>
            </a:r>
            <a:r>
              <a:rPr b="1" i="0" lang="en" sz="2700" u="sng" cap="none" strike="noStrike">
                <a:solidFill>
                  <a:srgbClr val="304852"/>
                </a:solidFill>
                <a:latin typeface="Cabin"/>
                <a:ea typeface="Cabin"/>
                <a:cs typeface="Cabin"/>
                <a:sym typeface="Cabin"/>
              </a:rPr>
              <a:t>causing</a:t>
            </a:r>
            <a:r>
              <a:rPr b="0" i="0" lang="en" sz="2700" u="none" cap="none" strike="noStrike">
                <a:solidFill>
                  <a:srgbClr val="304852"/>
                </a:solidFill>
                <a:latin typeface="Cabin"/>
                <a:ea typeface="Cabin"/>
                <a:cs typeface="Cabin"/>
                <a:sym typeface="Cabin"/>
              </a:rPr>
              <a:t> the yellow-green cart (left) to slow down and the blue cart (right) to speed up?</a:t>
            </a:r>
            <a:endParaRPr b="0" i="0" sz="2700" u="none" cap="none" strike="noStrike">
              <a:solidFill>
                <a:srgbClr val="304852"/>
              </a:solidFill>
              <a:latin typeface="Cabin"/>
              <a:ea typeface="Cabin"/>
              <a:cs typeface="Cabin"/>
              <a:sym typeface="Cabin"/>
            </a:endParaRPr>
          </a:p>
          <a:p>
            <a:pPr indent="0" lvl="0" marL="0" marR="0" rtl="0" algn="l">
              <a:lnSpc>
                <a:spcPct val="115000"/>
              </a:lnSpc>
              <a:spcBef>
                <a:spcPts val="1000"/>
              </a:spcBef>
              <a:spcAft>
                <a:spcPts val="0"/>
              </a:spcAft>
              <a:buClr>
                <a:srgbClr val="000000"/>
              </a:buClr>
              <a:buSzPts val="2400"/>
              <a:buFont typeface="Arial"/>
              <a:buNone/>
            </a:pPr>
            <a:r>
              <a:t/>
            </a:r>
            <a:endParaRPr b="0" i="0" sz="2400" u="none" cap="none" strike="noStrike">
              <a:solidFill>
                <a:srgbClr val="304852"/>
              </a:solidFill>
              <a:latin typeface="Cabin"/>
              <a:ea typeface="Cabin"/>
              <a:cs typeface="Cabin"/>
              <a:sym typeface="Cabin"/>
            </a:endParaRPr>
          </a:p>
        </p:txBody>
      </p:sp>
      <p:pic>
        <p:nvPicPr>
          <p:cNvPr id="95" name="Google Shape;95;p17"/>
          <p:cNvPicPr preferRelativeResize="0"/>
          <p:nvPr/>
        </p:nvPicPr>
        <p:blipFill rotWithShape="1">
          <a:blip r:embed="rId3">
            <a:alphaModFix/>
          </a:blip>
          <a:srcRect b="0" l="0" r="0" t="0"/>
          <a:stretch/>
        </p:blipFill>
        <p:spPr>
          <a:xfrm>
            <a:off x="738550" y="1849476"/>
            <a:ext cx="1276674" cy="1059000"/>
          </a:xfrm>
          <a:prstGeom prst="rect">
            <a:avLst/>
          </a:prstGeom>
          <a:noFill/>
          <a:ln>
            <a:noFill/>
          </a:ln>
        </p:spPr>
      </p:pic>
      <p:pic>
        <p:nvPicPr>
          <p:cNvPr id="96" name="Google Shape;96;p17"/>
          <p:cNvPicPr preferRelativeResize="0"/>
          <p:nvPr/>
        </p:nvPicPr>
        <p:blipFill rotWithShape="1">
          <a:blip r:embed="rId4">
            <a:alphaModFix/>
          </a:blip>
          <a:srcRect b="0" l="0" r="0" t="0"/>
          <a:stretch/>
        </p:blipFill>
        <p:spPr>
          <a:xfrm>
            <a:off x="1248838" y="4386050"/>
            <a:ext cx="6646323" cy="1496075"/>
          </a:xfrm>
          <a:prstGeom prst="rect">
            <a:avLst/>
          </a:prstGeom>
          <a:noFill/>
          <a:ln cap="flat" cmpd="sng" w="19050">
            <a:solidFill>
              <a:srgbClr val="304852"/>
            </a:solidFill>
            <a:prstDash val="solid"/>
            <a:round/>
            <a:headEnd len="sm" w="sm" type="none"/>
            <a:tailEnd len="sm" w="sm" type="none"/>
          </a:ln>
        </p:spPr>
      </p:pic>
      <p:sp>
        <p:nvSpPr>
          <p:cNvPr id="97" name="Google Shape;97;p17"/>
          <p:cNvSpPr txBox="1"/>
          <p:nvPr/>
        </p:nvSpPr>
        <p:spPr>
          <a:xfrm rot="-126473">
            <a:off x="4766848" y="5306844"/>
            <a:ext cx="3849805" cy="918026"/>
          </a:xfrm>
          <a:prstGeom prst="rect">
            <a:avLst/>
          </a:prstGeom>
          <a:solidFill>
            <a:srgbClr val="FFFFFF"/>
          </a:solidFill>
          <a:ln cap="flat" cmpd="sng" w="9525">
            <a:solidFill>
              <a:srgbClr val="304852"/>
            </a:solidFill>
            <a:prstDash val="solid"/>
            <a:round/>
            <a:headEnd len="sm" w="sm" type="none"/>
            <a:tailEnd len="sm" w="sm" type="none"/>
          </a:ln>
          <a:effectLst>
            <a:outerShdw blurRad="57150" rotWithShape="0" algn="bl" dir="5400000" dist="19050">
              <a:srgbClr val="000000">
                <a:alpha val="49411"/>
              </a:srgbClr>
            </a:outerShdw>
          </a:effectLst>
        </p:spPr>
        <p:txBody>
          <a:bodyPr anchorCtr="0" anchor="t" bIns="91425" lIns="91425" spcFirstLastPara="1" rIns="91425" wrap="square" tIns="91425">
            <a:noAutofit/>
          </a:bodyPr>
          <a:lstStyle/>
          <a:p>
            <a:pPr indent="-368300" lvl="0" marL="457200" marR="0" rtl="0" algn="l">
              <a:lnSpc>
                <a:spcPct val="100000"/>
              </a:lnSpc>
              <a:spcBef>
                <a:spcPts val="0"/>
              </a:spcBef>
              <a:spcAft>
                <a:spcPts val="0"/>
              </a:spcAft>
              <a:buClr>
                <a:srgbClr val="304852"/>
              </a:buClr>
              <a:buSzPts val="2200"/>
              <a:buFont typeface="Cabin Condensed"/>
              <a:buChar char="➔"/>
            </a:pPr>
            <a:r>
              <a:rPr b="0" i="0" lang="en" sz="2200" u="none" cap="none" strike="noStrike">
                <a:solidFill>
                  <a:srgbClr val="304852"/>
                </a:solidFill>
                <a:latin typeface="Cabin Condensed"/>
                <a:ea typeface="Cabin Condensed"/>
                <a:cs typeface="Cabin Condensed"/>
                <a:sym typeface="Cabin Condensed"/>
              </a:rPr>
              <a:t>Be ready to share your ideas with the whole class.</a:t>
            </a:r>
            <a:endParaRPr b="0" i="0" sz="2200" u="none" cap="none" strike="noStrike">
              <a:solidFill>
                <a:srgbClr val="304852"/>
              </a:solidFill>
              <a:latin typeface="Cabin Condensed"/>
              <a:ea typeface="Cabin Condensed"/>
              <a:cs typeface="Cabin Condensed"/>
              <a:sym typeface="Cabin Condense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8"/>
          <p:cNvSpPr/>
          <p:nvPr/>
        </p:nvSpPr>
        <p:spPr>
          <a:xfrm>
            <a:off x="457200" y="1459250"/>
            <a:ext cx="8229600" cy="4889400"/>
          </a:xfrm>
          <a:prstGeom prst="rect">
            <a:avLst/>
          </a:prstGeom>
          <a:solidFill>
            <a:srgbClr val="EBF0F2"/>
          </a:solidFill>
          <a:ln cap="flat" cmpd="sng" w="19050">
            <a:solidFill>
              <a:srgbClr val="304852"/>
            </a:solidFill>
            <a:prstDash val="solid"/>
            <a:round/>
            <a:headEnd len="sm" w="sm" type="none"/>
            <a:tailEnd len="sm" w="sm" type="none"/>
          </a:ln>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2400"/>
              <a:buFont typeface="Arial"/>
              <a:buNone/>
            </a:pPr>
            <a:r>
              <a:t/>
            </a:r>
            <a:endParaRPr b="1" i="0" sz="2400" u="none" cap="none" strike="noStrike">
              <a:solidFill>
                <a:srgbClr val="980000"/>
              </a:solidFill>
              <a:latin typeface="Cabin Condensed"/>
              <a:ea typeface="Cabin Condensed"/>
              <a:cs typeface="Cabin Condensed"/>
              <a:sym typeface="Cabin Condensed"/>
            </a:endParaRPr>
          </a:p>
        </p:txBody>
      </p:sp>
      <p:sp>
        <p:nvSpPr>
          <p:cNvPr id="103" name="Google Shape;103;p18"/>
          <p:cNvSpPr txBox="1"/>
          <p:nvPr>
            <p:ph type="title"/>
          </p:nvPr>
        </p:nvSpPr>
        <p:spPr>
          <a:xfrm>
            <a:off x="457200" y="548650"/>
            <a:ext cx="8229600" cy="685800"/>
          </a:xfrm>
          <a:prstGeom prst="rect">
            <a:avLst/>
          </a:prstGeom>
          <a:solidFill>
            <a:srgbClr val="304852"/>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Make Predictions</a:t>
            </a:r>
            <a:endParaRPr/>
          </a:p>
        </p:txBody>
      </p:sp>
      <p:sp>
        <p:nvSpPr>
          <p:cNvPr id="104" name="Google Shape;104;p18"/>
          <p:cNvSpPr txBox="1"/>
          <p:nvPr>
            <p:ph idx="2" type="subTitle"/>
          </p:nvPr>
        </p:nvSpPr>
        <p:spPr>
          <a:xfrm>
            <a:off x="457200" y="106750"/>
            <a:ext cx="2916900" cy="458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3600"/>
              <a:buNone/>
            </a:pPr>
            <a:r>
              <a:rPr b="0" lang="en" sz="1500"/>
              <a:t>Slide D</a:t>
            </a:r>
            <a:endParaRPr b="0" sz="1500"/>
          </a:p>
        </p:txBody>
      </p:sp>
      <p:pic>
        <p:nvPicPr>
          <p:cNvPr id="105" name="Google Shape;105;p18"/>
          <p:cNvPicPr preferRelativeResize="0"/>
          <p:nvPr/>
        </p:nvPicPr>
        <p:blipFill rotWithShape="1">
          <a:blip r:embed="rId3">
            <a:alphaModFix/>
          </a:blip>
          <a:srcRect b="0" l="0" r="0" t="0"/>
          <a:stretch/>
        </p:blipFill>
        <p:spPr>
          <a:xfrm>
            <a:off x="667948" y="1782650"/>
            <a:ext cx="1168390" cy="1191300"/>
          </a:xfrm>
          <a:prstGeom prst="rect">
            <a:avLst/>
          </a:prstGeom>
          <a:noFill/>
          <a:ln>
            <a:noFill/>
          </a:ln>
        </p:spPr>
      </p:pic>
      <p:sp>
        <p:nvSpPr>
          <p:cNvPr id="106" name="Google Shape;106;p18"/>
          <p:cNvSpPr txBox="1"/>
          <p:nvPr/>
        </p:nvSpPr>
        <p:spPr>
          <a:xfrm>
            <a:off x="2242900" y="1625725"/>
            <a:ext cx="5838600" cy="996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500"/>
              <a:buFont typeface="Arial"/>
              <a:buNone/>
            </a:pPr>
            <a:r>
              <a:rPr b="1" i="0" lang="en" sz="2500" u="none" cap="none" strike="noStrike">
                <a:solidFill>
                  <a:srgbClr val="304852"/>
                </a:solidFill>
                <a:latin typeface="Open Sans"/>
                <a:ea typeface="Open Sans"/>
                <a:cs typeface="Open Sans"/>
                <a:sym typeface="Open Sans"/>
              </a:rPr>
              <a:t>With your class</a:t>
            </a:r>
            <a:endParaRPr b="1" i="0" sz="2500" u="none" cap="none" strike="noStrike">
              <a:solidFill>
                <a:srgbClr val="304852"/>
              </a:solidFill>
              <a:latin typeface="Open Sans"/>
              <a:ea typeface="Open Sans"/>
              <a:cs typeface="Open Sans"/>
              <a:sym typeface="Open Sans"/>
            </a:endParaRPr>
          </a:p>
          <a:p>
            <a:pPr indent="0" lvl="0" marL="457200" marR="0" rtl="0" algn="l">
              <a:lnSpc>
                <a:spcPct val="115000"/>
              </a:lnSpc>
              <a:spcBef>
                <a:spcPts val="0"/>
              </a:spcBef>
              <a:spcAft>
                <a:spcPts val="0"/>
              </a:spcAft>
              <a:buClr>
                <a:srgbClr val="000000"/>
              </a:buClr>
              <a:buSzPts val="2400"/>
              <a:buFont typeface="Arial"/>
              <a:buNone/>
            </a:pPr>
            <a:r>
              <a:t/>
            </a:r>
            <a:endParaRPr b="0" i="0" sz="2400" u="none" cap="none" strike="noStrike">
              <a:solidFill>
                <a:srgbClr val="304852"/>
              </a:solidFill>
              <a:latin typeface="Cabin"/>
              <a:ea typeface="Cabin"/>
              <a:cs typeface="Cabin"/>
              <a:sym typeface="Cabin"/>
            </a:endParaRPr>
          </a:p>
        </p:txBody>
      </p:sp>
      <p:sp>
        <p:nvSpPr>
          <p:cNvPr id="107" name="Google Shape;107;p18"/>
          <p:cNvSpPr txBox="1"/>
          <p:nvPr/>
        </p:nvSpPr>
        <p:spPr>
          <a:xfrm>
            <a:off x="2228050" y="2311050"/>
            <a:ext cx="6166500" cy="16674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000"/>
              <a:buFont typeface="Arial"/>
              <a:buNone/>
            </a:pPr>
            <a:r>
              <a:rPr b="1" i="0" lang="en" sz="2000" u="none" cap="none" strike="noStrike">
                <a:solidFill>
                  <a:srgbClr val="304852"/>
                </a:solidFill>
                <a:latin typeface="Cabin"/>
                <a:ea typeface="Cabin"/>
                <a:cs typeface="Cabin"/>
                <a:sym typeface="Cabin"/>
              </a:rPr>
              <a:t>Take a poll:  </a:t>
            </a:r>
            <a:r>
              <a:rPr b="0" i="0" lang="en" sz="2000" u="none" cap="none" strike="noStrike">
                <a:solidFill>
                  <a:srgbClr val="304852"/>
                </a:solidFill>
                <a:latin typeface="Cabin"/>
                <a:ea typeface="Cabin"/>
                <a:cs typeface="Cabin"/>
                <a:sym typeface="Cabin"/>
              </a:rPr>
              <a:t>If we could measure the contact force(s) between the carts during the collision how would we expect they would compare?  </a:t>
            </a:r>
            <a:endParaRPr b="0" i="0" sz="2000" u="none" cap="none" strike="noStrike">
              <a:solidFill>
                <a:srgbClr val="304852"/>
              </a:solidFill>
              <a:latin typeface="Cabin"/>
              <a:ea typeface="Cabin"/>
              <a:cs typeface="Cabin"/>
              <a:sym typeface="Cabin"/>
            </a:endParaRPr>
          </a:p>
          <a:p>
            <a:pPr indent="0" lvl="0" marL="457200" marR="0" rtl="0" algn="l">
              <a:lnSpc>
                <a:spcPct val="115000"/>
              </a:lnSpc>
              <a:spcBef>
                <a:spcPts val="100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108" name="Google Shape;108;p18"/>
          <p:cNvSpPr txBox="1"/>
          <p:nvPr/>
        </p:nvSpPr>
        <p:spPr>
          <a:xfrm>
            <a:off x="1137625" y="3603900"/>
            <a:ext cx="7053600" cy="2647500"/>
          </a:xfrm>
          <a:prstGeom prst="rect">
            <a:avLst/>
          </a:prstGeom>
          <a:noFill/>
          <a:ln>
            <a:noFill/>
          </a:ln>
        </p:spPr>
        <p:txBody>
          <a:bodyPr anchorCtr="0" anchor="t" bIns="91425" lIns="91425" spcFirstLastPara="1" rIns="91425" wrap="square" tIns="91425">
            <a:spAutoFit/>
          </a:bodyPr>
          <a:lstStyle/>
          <a:p>
            <a:pPr indent="-355600" lvl="0" marL="457200" marR="0" rtl="0" algn="l">
              <a:lnSpc>
                <a:spcPct val="115000"/>
              </a:lnSpc>
              <a:spcBef>
                <a:spcPts val="1000"/>
              </a:spcBef>
              <a:spcAft>
                <a:spcPts val="0"/>
              </a:spcAft>
              <a:buClr>
                <a:srgbClr val="304852"/>
              </a:buClr>
              <a:buSzPts val="2000"/>
              <a:buFont typeface="Cabin"/>
              <a:buAutoNum type="arabicPeriod"/>
            </a:pPr>
            <a:r>
              <a:rPr b="0" i="0" lang="en" sz="2000" u="none" cap="none" strike="noStrike">
                <a:solidFill>
                  <a:srgbClr val="304852"/>
                </a:solidFill>
                <a:latin typeface="Cabin"/>
                <a:ea typeface="Cabin"/>
                <a:cs typeface="Cabin"/>
                <a:sym typeface="Cabin"/>
              </a:rPr>
              <a:t>Only cart A would be pushed on by the other cart.</a:t>
            </a:r>
            <a:endParaRPr b="0" i="0" sz="2000" u="none" cap="none" strike="noStrike">
              <a:solidFill>
                <a:srgbClr val="304852"/>
              </a:solidFill>
              <a:latin typeface="Cabin"/>
              <a:ea typeface="Cabin"/>
              <a:cs typeface="Cabin"/>
              <a:sym typeface="Cabin"/>
            </a:endParaRPr>
          </a:p>
          <a:p>
            <a:pPr indent="-355600" lvl="0" marL="457200" marR="0" rtl="0" algn="l">
              <a:lnSpc>
                <a:spcPct val="115000"/>
              </a:lnSpc>
              <a:spcBef>
                <a:spcPts val="1000"/>
              </a:spcBef>
              <a:spcAft>
                <a:spcPts val="0"/>
              </a:spcAft>
              <a:buClr>
                <a:srgbClr val="304852"/>
              </a:buClr>
              <a:buSzPts val="2000"/>
              <a:buFont typeface="Cabin"/>
              <a:buAutoNum type="arabicPeriod"/>
            </a:pPr>
            <a:r>
              <a:rPr b="0" i="0" lang="en" sz="2000" u="none" cap="none" strike="noStrike">
                <a:solidFill>
                  <a:srgbClr val="304852"/>
                </a:solidFill>
                <a:latin typeface="Cabin"/>
                <a:ea typeface="Cabin"/>
                <a:cs typeface="Cabin"/>
                <a:sym typeface="Cabin"/>
              </a:rPr>
              <a:t>Only cart B would be pushed on by the other cart</a:t>
            </a:r>
            <a:endParaRPr b="0" i="0" sz="2000" u="none" cap="none" strike="noStrike">
              <a:solidFill>
                <a:srgbClr val="304852"/>
              </a:solidFill>
              <a:latin typeface="Cabin"/>
              <a:ea typeface="Cabin"/>
              <a:cs typeface="Cabin"/>
              <a:sym typeface="Cabin"/>
            </a:endParaRPr>
          </a:p>
          <a:p>
            <a:pPr indent="-355600" lvl="0" marL="457200" marR="0" rtl="0" algn="l">
              <a:lnSpc>
                <a:spcPct val="115000"/>
              </a:lnSpc>
              <a:spcBef>
                <a:spcPts val="1000"/>
              </a:spcBef>
              <a:spcAft>
                <a:spcPts val="0"/>
              </a:spcAft>
              <a:buClr>
                <a:srgbClr val="304852"/>
              </a:buClr>
              <a:buSzPts val="2000"/>
              <a:buFont typeface="Cabin"/>
              <a:buAutoNum type="arabicPeriod"/>
            </a:pPr>
            <a:r>
              <a:rPr b="0" i="0" lang="en" sz="2000" u="none" cap="none" strike="noStrike">
                <a:solidFill>
                  <a:srgbClr val="304852"/>
                </a:solidFill>
                <a:latin typeface="Cabin"/>
                <a:ea typeface="Cabin"/>
                <a:cs typeface="Cabin"/>
                <a:sym typeface="Cabin"/>
              </a:rPr>
              <a:t>Both carts A and B would be pushed on, but the strength of the forces on each would be different. </a:t>
            </a:r>
            <a:endParaRPr b="0" i="0" sz="2000" u="none" cap="none" strike="noStrike">
              <a:solidFill>
                <a:srgbClr val="304852"/>
              </a:solidFill>
              <a:latin typeface="Cabin"/>
              <a:ea typeface="Cabin"/>
              <a:cs typeface="Cabin"/>
              <a:sym typeface="Cabin"/>
            </a:endParaRPr>
          </a:p>
          <a:p>
            <a:pPr indent="-355600" lvl="0" marL="457200" marR="0" rtl="0" algn="l">
              <a:lnSpc>
                <a:spcPct val="115000"/>
              </a:lnSpc>
              <a:spcBef>
                <a:spcPts val="1000"/>
              </a:spcBef>
              <a:spcAft>
                <a:spcPts val="1000"/>
              </a:spcAft>
              <a:buClr>
                <a:srgbClr val="304852"/>
              </a:buClr>
              <a:buSzPts val="2000"/>
              <a:buFont typeface="Cabin"/>
              <a:buAutoNum type="arabicPeriod"/>
            </a:pPr>
            <a:r>
              <a:rPr b="0" i="0" lang="en" sz="2000" u="none" cap="none" strike="noStrike">
                <a:solidFill>
                  <a:srgbClr val="304852"/>
                </a:solidFill>
                <a:latin typeface="Cabin"/>
                <a:ea typeface="Cabin"/>
                <a:cs typeface="Cabin"/>
                <a:sym typeface="Cabin"/>
              </a:rPr>
              <a:t>Both carts A and B  would be pushed on, and the strength of the forces on each would be the same. </a:t>
            </a:r>
            <a:endParaRPr b="0" i="0" sz="2000" u="none" cap="none" strike="noStrike">
              <a:solidFill>
                <a:srgbClr val="304852"/>
              </a:solidFill>
              <a:latin typeface="Cabin"/>
              <a:ea typeface="Cabin"/>
              <a:cs typeface="Cabin"/>
              <a:sym typeface="Cabi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9"/>
          <p:cNvSpPr/>
          <p:nvPr/>
        </p:nvSpPr>
        <p:spPr>
          <a:xfrm>
            <a:off x="457200" y="1459250"/>
            <a:ext cx="8229600" cy="2703900"/>
          </a:xfrm>
          <a:prstGeom prst="rect">
            <a:avLst/>
          </a:prstGeom>
          <a:solidFill>
            <a:srgbClr val="EBF0F2"/>
          </a:solidFill>
          <a:ln cap="flat" cmpd="sng" w="19050">
            <a:solidFill>
              <a:srgbClr val="304852"/>
            </a:solidFill>
            <a:prstDash val="solid"/>
            <a:round/>
            <a:headEnd len="sm" w="sm" type="none"/>
            <a:tailEnd len="sm" w="sm" type="none"/>
          </a:ln>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2400"/>
              <a:buFont typeface="Arial"/>
              <a:buNone/>
            </a:pPr>
            <a:r>
              <a:t/>
            </a:r>
            <a:endParaRPr b="1" i="0" sz="2400" u="none" cap="none" strike="noStrike">
              <a:solidFill>
                <a:srgbClr val="980000"/>
              </a:solidFill>
              <a:latin typeface="Cabin Condensed"/>
              <a:ea typeface="Cabin Condensed"/>
              <a:cs typeface="Cabin Condensed"/>
              <a:sym typeface="Cabin Condensed"/>
            </a:endParaRPr>
          </a:p>
        </p:txBody>
      </p:sp>
      <p:sp>
        <p:nvSpPr>
          <p:cNvPr id="114" name="Google Shape;114;p19"/>
          <p:cNvSpPr txBox="1"/>
          <p:nvPr>
            <p:ph type="title"/>
          </p:nvPr>
        </p:nvSpPr>
        <p:spPr>
          <a:xfrm>
            <a:off x="457200" y="548650"/>
            <a:ext cx="8229600" cy="685800"/>
          </a:xfrm>
          <a:prstGeom prst="rect">
            <a:avLst/>
          </a:prstGeom>
          <a:solidFill>
            <a:srgbClr val="304852"/>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Analyze and Interpret Data</a:t>
            </a:r>
            <a:endParaRPr/>
          </a:p>
        </p:txBody>
      </p:sp>
      <p:sp>
        <p:nvSpPr>
          <p:cNvPr id="115" name="Google Shape;115;p19"/>
          <p:cNvSpPr txBox="1"/>
          <p:nvPr>
            <p:ph idx="2" type="subTitle"/>
          </p:nvPr>
        </p:nvSpPr>
        <p:spPr>
          <a:xfrm>
            <a:off x="457200" y="106750"/>
            <a:ext cx="2916900" cy="458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3600"/>
              <a:buNone/>
            </a:pPr>
            <a:r>
              <a:rPr b="0" lang="en"/>
              <a:t>Slide E</a:t>
            </a:r>
            <a:endParaRPr b="0"/>
          </a:p>
        </p:txBody>
      </p:sp>
      <p:pic>
        <p:nvPicPr>
          <p:cNvPr id="116" name="Google Shape;116;p19"/>
          <p:cNvPicPr preferRelativeResize="0"/>
          <p:nvPr/>
        </p:nvPicPr>
        <p:blipFill rotWithShape="1">
          <a:blip r:embed="rId3">
            <a:alphaModFix/>
          </a:blip>
          <a:srcRect b="0" l="0" r="0" t="0"/>
          <a:stretch/>
        </p:blipFill>
        <p:spPr>
          <a:xfrm>
            <a:off x="667948" y="1782650"/>
            <a:ext cx="1168390" cy="1191300"/>
          </a:xfrm>
          <a:prstGeom prst="rect">
            <a:avLst/>
          </a:prstGeom>
          <a:noFill/>
          <a:ln>
            <a:noFill/>
          </a:ln>
        </p:spPr>
      </p:pic>
      <p:sp>
        <p:nvSpPr>
          <p:cNvPr id="117" name="Google Shape;117;p19"/>
          <p:cNvSpPr txBox="1"/>
          <p:nvPr/>
        </p:nvSpPr>
        <p:spPr>
          <a:xfrm>
            <a:off x="2242900" y="1625725"/>
            <a:ext cx="5838600" cy="11913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3600"/>
              <a:buFont typeface="Arial"/>
              <a:buNone/>
            </a:pPr>
            <a:r>
              <a:rPr b="1" i="0" lang="en" sz="3600" u="none" cap="none" strike="noStrike">
                <a:solidFill>
                  <a:srgbClr val="304852"/>
                </a:solidFill>
                <a:latin typeface="Open Sans"/>
                <a:ea typeface="Open Sans"/>
                <a:cs typeface="Open Sans"/>
                <a:sym typeface="Open Sans"/>
              </a:rPr>
              <a:t>With your class</a:t>
            </a:r>
            <a:endParaRPr b="1" i="0" sz="3600" u="none" cap="none" strike="noStrike">
              <a:solidFill>
                <a:srgbClr val="304852"/>
              </a:solidFill>
              <a:latin typeface="Open Sans"/>
              <a:ea typeface="Open Sans"/>
              <a:cs typeface="Open Sans"/>
              <a:sym typeface="Open Sans"/>
            </a:endParaRPr>
          </a:p>
          <a:p>
            <a:pPr indent="0" lvl="0" marL="457200" marR="0" rtl="0" algn="l">
              <a:lnSpc>
                <a:spcPct val="115000"/>
              </a:lnSpc>
              <a:spcBef>
                <a:spcPts val="0"/>
              </a:spcBef>
              <a:spcAft>
                <a:spcPts val="0"/>
              </a:spcAft>
              <a:buClr>
                <a:srgbClr val="000000"/>
              </a:buClr>
              <a:buSzPts val="2400"/>
              <a:buFont typeface="Arial"/>
              <a:buNone/>
            </a:pPr>
            <a:r>
              <a:t/>
            </a:r>
            <a:endParaRPr b="0" i="0" sz="2400" u="none" cap="none" strike="noStrike">
              <a:solidFill>
                <a:srgbClr val="304852"/>
              </a:solidFill>
              <a:latin typeface="Cabin"/>
              <a:ea typeface="Cabin"/>
              <a:cs typeface="Cabin"/>
              <a:sym typeface="Cabin"/>
            </a:endParaRPr>
          </a:p>
        </p:txBody>
      </p:sp>
      <p:sp>
        <p:nvSpPr>
          <p:cNvPr id="118" name="Google Shape;118;p19"/>
          <p:cNvSpPr txBox="1"/>
          <p:nvPr/>
        </p:nvSpPr>
        <p:spPr>
          <a:xfrm>
            <a:off x="2228050" y="2311050"/>
            <a:ext cx="6166500" cy="1403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1000"/>
              </a:spcAft>
              <a:buClr>
                <a:srgbClr val="000000"/>
              </a:buClr>
              <a:buSzPts val="2400"/>
              <a:buFont typeface="Arial"/>
              <a:buNone/>
            </a:pPr>
            <a:r>
              <a:rPr b="0" i="0" lang="en" sz="2400" u="sng" cap="none" strike="noStrike">
                <a:solidFill>
                  <a:schemeClr val="hlink"/>
                </a:solidFill>
                <a:latin typeface="Cabin"/>
                <a:ea typeface="Cabin"/>
                <a:cs typeface="Cabin"/>
                <a:sym typeface="Cabin"/>
                <a:hlinkClick r:id="rId4"/>
              </a:rPr>
              <a:t>Watch the short video</a:t>
            </a:r>
            <a:r>
              <a:rPr b="0" i="0" lang="en" sz="2400" u="none" cap="none" strike="noStrike">
                <a:solidFill>
                  <a:srgbClr val="304852"/>
                </a:solidFill>
                <a:latin typeface="Cabin"/>
                <a:ea typeface="Cabin"/>
                <a:cs typeface="Cabin"/>
                <a:sym typeface="Cabin"/>
              </a:rPr>
              <a:t> to orient to the how sensors these carts collect force and velocity data before, during, and after a collision. </a:t>
            </a:r>
            <a:endParaRPr b="0" i="0" sz="21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0"/>
          <p:cNvSpPr/>
          <p:nvPr/>
        </p:nvSpPr>
        <p:spPr>
          <a:xfrm>
            <a:off x="121625" y="1625725"/>
            <a:ext cx="8229600" cy="5088900"/>
          </a:xfrm>
          <a:prstGeom prst="rect">
            <a:avLst/>
          </a:prstGeom>
          <a:solidFill>
            <a:srgbClr val="FFFFFF"/>
          </a:solidFill>
          <a:ln cap="flat" cmpd="sng" w="19050">
            <a:solidFill>
              <a:srgbClr val="304852"/>
            </a:solidFill>
            <a:prstDash val="solid"/>
            <a:round/>
            <a:headEnd len="sm" w="sm" type="none"/>
            <a:tailEnd len="sm" w="sm" type="none"/>
          </a:ln>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2400"/>
              <a:buFont typeface="Arial"/>
              <a:buNone/>
            </a:pPr>
            <a:r>
              <a:t/>
            </a:r>
            <a:endParaRPr b="1" i="0" sz="2400" u="none" cap="none" strike="noStrike">
              <a:solidFill>
                <a:srgbClr val="980000"/>
              </a:solidFill>
              <a:latin typeface="Cabin Condensed"/>
              <a:ea typeface="Cabin Condensed"/>
              <a:cs typeface="Cabin Condensed"/>
              <a:sym typeface="Cabin Condensed"/>
            </a:endParaRPr>
          </a:p>
        </p:txBody>
      </p:sp>
      <p:pic>
        <p:nvPicPr>
          <p:cNvPr id="124" name="Google Shape;124;p20"/>
          <p:cNvPicPr preferRelativeResize="0"/>
          <p:nvPr/>
        </p:nvPicPr>
        <p:blipFill rotWithShape="1">
          <a:blip r:embed="rId3">
            <a:alphaModFix/>
          </a:blip>
          <a:srcRect b="0" l="0" r="0" t="0"/>
          <a:stretch/>
        </p:blipFill>
        <p:spPr>
          <a:xfrm>
            <a:off x="3136200" y="2522812"/>
            <a:ext cx="5254502" cy="3946012"/>
          </a:xfrm>
          <a:prstGeom prst="rect">
            <a:avLst/>
          </a:prstGeom>
          <a:noFill/>
          <a:ln>
            <a:noFill/>
          </a:ln>
        </p:spPr>
      </p:pic>
      <p:sp>
        <p:nvSpPr>
          <p:cNvPr id="125" name="Google Shape;125;p20"/>
          <p:cNvSpPr txBox="1"/>
          <p:nvPr>
            <p:ph type="title"/>
          </p:nvPr>
        </p:nvSpPr>
        <p:spPr>
          <a:xfrm>
            <a:off x="457200" y="548650"/>
            <a:ext cx="8229600" cy="685800"/>
          </a:xfrm>
          <a:prstGeom prst="rect">
            <a:avLst/>
          </a:prstGeom>
          <a:solidFill>
            <a:srgbClr val="304852"/>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Analyze and interpret data</a:t>
            </a:r>
            <a:endParaRPr/>
          </a:p>
        </p:txBody>
      </p:sp>
      <p:sp>
        <p:nvSpPr>
          <p:cNvPr id="126" name="Google Shape;126;p20"/>
          <p:cNvSpPr txBox="1"/>
          <p:nvPr>
            <p:ph idx="2" type="subTitle"/>
          </p:nvPr>
        </p:nvSpPr>
        <p:spPr>
          <a:xfrm>
            <a:off x="457200" y="106750"/>
            <a:ext cx="2916900" cy="458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3600"/>
              <a:buNone/>
            </a:pPr>
            <a:r>
              <a:rPr b="0" lang="en" sz="1500"/>
              <a:t>Slide F</a:t>
            </a:r>
            <a:endParaRPr b="0" sz="1500"/>
          </a:p>
        </p:txBody>
      </p:sp>
      <p:sp>
        <p:nvSpPr>
          <p:cNvPr id="127" name="Google Shape;127;p20"/>
          <p:cNvSpPr txBox="1"/>
          <p:nvPr/>
        </p:nvSpPr>
        <p:spPr>
          <a:xfrm>
            <a:off x="2242900" y="1625725"/>
            <a:ext cx="4482300" cy="11913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3600"/>
              <a:buFont typeface="Arial"/>
              <a:buNone/>
            </a:pPr>
            <a:r>
              <a:rPr b="1" i="0" lang="en" sz="3600" u="none" cap="none" strike="noStrike">
                <a:solidFill>
                  <a:srgbClr val="304852"/>
                </a:solidFill>
                <a:latin typeface="Open Sans"/>
                <a:ea typeface="Open Sans"/>
                <a:cs typeface="Open Sans"/>
                <a:sym typeface="Open Sans"/>
              </a:rPr>
              <a:t>With a Partner</a:t>
            </a:r>
            <a:endParaRPr b="1" i="0" sz="3600" u="none" cap="none" strike="noStrike">
              <a:solidFill>
                <a:srgbClr val="304852"/>
              </a:solidFill>
              <a:latin typeface="Open Sans"/>
              <a:ea typeface="Open Sans"/>
              <a:cs typeface="Open Sans"/>
              <a:sym typeface="Open Sans"/>
            </a:endParaRPr>
          </a:p>
          <a:p>
            <a:pPr indent="0" lvl="0" marL="457200" marR="0" rtl="0" algn="l">
              <a:lnSpc>
                <a:spcPct val="115000"/>
              </a:lnSpc>
              <a:spcBef>
                <a:spcPts val="0"/>
              </a:spcBef>
              <a:spcAft>
                <a:spcPts val="0"/>
              </a:spcAft>
              <a:buClr>
                <a:srgbClr val="000000"/>
              </a:buClr>
              <a:buSzPts val="2400"/>
              <a:buFont typeface="Arial"/>
              <a:buNone/>
            </a:pPr>
            <a:r>
              <a:t/>
            </a:r>
            <a:endParaRPr b="0" i="0" sz="2400" u="none" cap="none" strike="noStrike">
              <a:solidFill>
                <a:srgbClr val="304852"/>
              </a:solidFill>
              <a:latin typeface="Cabin"/>
              <a:ea typeface="Cabin"/>
              <a:cs typeface="Cabin"/>
              <a:sym typeface="Cabin"/>
            </a:endParaRPr>
          </a:p>
        </p:txBody>
      </p:sp>
      <p:sp>
        <p:nvSpPr>
          <p:cNvPr id="128" name="Google Shape;128;p20"/>
          <p:cNvSpPr txBox="1"/>
          <p:nvPr/>
        </p:nvSpPr>
        <p:spPr>
          <a:xfrm>
            <a:off x="744300" y="3598825"/>
            <a:ext cx="2391900" cy="24705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1000"/>
              </a:spcAft>
              <a:buClr>
                <a:srgbClr val="000000"/>
              </a:buClr>
              <a:buSzPts val="2200"/>
              <a:buFont typeface="Arial"/>
              <a:buNone/>
            </a:pPr>
            <a:r>
              <a:rPr b="0" i="0" lang="en" sz="2200" u="none" cap="none" strike="noStrike">
                <a:solidFill>
                  <a:srgbClr val="304852"/>
                </a:solidFill>
                <a:latin typeface="Cabin"/>
                <a:ea typeface="Cabin"/>
                <a:cs typeface="Cabin"/>
                <a:sym typeface="Cabin"/>
              </a:rPr>
              <a:t>Annotate your handout to help identify any patterns you notice across the three collisions.</a:t>
            </a:r>
            <a:endParaRPr b="0" i="0" sz="1900" u="none" cap="none" strike="noStrike">
              <a:solidFill>
                <a:srgbClr val="000000"/>
              </a:solidFill>
              <a:latin typeface="Arial"/>
              <a:ea typeface="Arial"/>
              <a:cs typeface="Arial"/>
              <a:sym typeface="Arial"/>
            </a:endParaRPr>
          </a:p>
        </p:txBody>
      </p:sp>
      <p:pic>
        <p:nvPicPr>
          <p:cNvPr id="129" name="Google Shape;129;p20"/>
          <p:cNvPicPr preferRelativeResize="0"/>
          <p:nvPr/>
        </p:nvPicPr>
        <p:blipFill rotWithShape="1">
          <a:blip r:embed="rId4">
            <a:alphaModFix/>
          </a:blip>
          <a:srcRect b="0" l="0" r="0" t="0"/>
          <a:stretch/>
        </p:blipFill>
        <p:spPr>
          <a:xfrm>
            <a:off x="715911" y="1777911"/>
            <a:ext cx="1212912" cy="1430400"/>
          </a:xfrm>
          <a:prstGeom prst="rect">
            <a:avLst/>
          </a:prstGeom>
          <a:noFill/>
          <a:ln>
            <a:noFill/>
          </a:ln>
        </p:spPr>
      </p:pic>
      <p:sp>
        <p:nvSpPr>
          <p:cNvPr id="130" name="Google Shape;130;p20"/>
          <p:cNvSpPr txBox="1"/>
          <p:nvPr/>
        </p:nvSpPr>
        <p:spPr>
          <a:xfrm rot="-126910">
            <a:off x="5851174" y="5880521"/>
            <a:ext cx="3113121" cy="881396"/>
          </a:xfrm>
          <a:prstGeom prst="rect">
            <a:avLst/>
          </a:prstGeom>
          <a:solidFill>
            <a:srgbClr val="EBF0F2"/>
          </a:solidFill>
          <a:ln cap="flat" cmpd="sng" w="9525">
            <a:solidFill>
              <a:srgbClr val="304852"/>
            </a:solidFill>
            <a:prstDash val="solid"/>
            <a:round/>
            <a:headEnd len="sm" w="sm" type="none"/>
            <a:tailEnd len="sm" w="sm" type="none"/>
          </a:ln>
          <a:effectLst>
            <a:outerShdw blurRad="57150" rotWithShape="0" algn="bl" dir="5400000" dist="19050">
              <a:srgbClr val="000000">
                <a:alpha val="49411"/>
              </a:srgbClr>
            </a:outerShdw>
          </a:effectLst>
        </p:spPr>
        <p:txBody>
          <a:bodyPr anchorCtr="0" anchor="t" bIns="91425" lIns="91425" spcFirstLastPara="1" rIns="91425" wrap="square" tIns="91425">
            <a:noAutofit/>
          </a:bodyPr>
          <a:lstStyle/>
          <a:p>
            <a:pPr indent="-368300" lvl="0" marL="457200" marR="0" rtl="0" algn="l">
              <a:lnSpc>
                <a:spcPct val="100000"/>
              </a:lnSpc>
              <a:spcBef>
                <a:spcPts val="0"/>
              </a:spcBef>
              <a:spcAft>
                <a:spcPts val="0"/>
              </a:spcAft>
              <a:buClr>
                <a:srgbClr val="304852"/>
              </a:buClr>
              <a:buSzPts val="2200"/>
              <a:buFont typeface="Cabin Condensed"/>
              <a:buChar char="➔"/>
            </a:pPr>
            <a:r>
              <a:rPr b="0" i="0" lang="en" sz="2200" u="none" cap="none" strike="noStrike">
                <a:solidFill>
                  <a:srgbClr val="304852"/>
                </a:solidFill>
                <a:latin typeface="Cabin Condensed"/>
                <a:ea typeface="Cabin Condensed"/>
                <a:cs typeface="Cabin Condensed"/>
                <a:sym typeface="Cabin Condensed"/>
              </a:rPr>
              <a:t>Be to share with the whole class.</a:t>
            </a:r>
            <a:endParaRPr b="0" i="0" sz="2200" u="none" cap="none" strike="noStrike">
              <a:solidFill>
                <a:srgbClr val="304852"/>
              </a:solidFill>
              <a:latin typeface="Cabin Condensed"/>
              <a:ea typeface="Cabin Condensed"/>
              <a:cs typeface="Cabin Condensed"/>
              <a:sym typeface="Cabin Condense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1"/>
          <p:cNvSpPr/>
          <p:nvPr/>
        </p:nvSpPr>
        <p:spPr>
          <a:xfrm>
            <a:off x="457200" y="1459250"/>
            <a:ext cx="8229600" cy="5088900"/>
          </a:xfrm>
          <a:prstGeom prst="rect">
            <a:avLst/>
          </a:prstGeom>
          <a:solidFill>
            <a:srgbClr val="FFFFFF"/>
          </a:solidFill>
          <a:ln cap="flat" cmpd="sng" w="19050">
            <a:solidFill>
              <a:srgbClr val="304852"/>
            </a:solidFill>
            <a:prstDash val="solid"/>
            <a:round/>
            <a:headEnd len="sm" w="sm" type="none"/>
            <a:tailEnd len="sm" w="sm" type="none"/>
          </a:ln>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2400"/>
              <a:buFont typeface="Arial"/>
              <a:buNone/>
            </a:pPr>
            <a:r>
              <a:t/>
            </a:r>
            <a:endParaRPr b="1" i="0" sz="2400" u="none" cap="none" strike="noStrike">
              <a:solidFill>
                <a:srgbClr val="980000"/>
              </a:solidFill>
              <a:latin typeface="Cabin Condensed"/>
              <a:ea typeface="Cabin Condensed"/>
              <a:cs typeface="Cabin Condensed"/>
              <a:sym typeface="Cabin Condensed"/>
            </a:endParaRPr>
          </a:p>
        </p:txBody>
      </p:sp>
      <p:pic>
        <p:nvPicPr>
          <p:cNvPr id="136" name="Google Shape;136;p21"/>
          <p:cNvPicPr preferRelativeResize="0"/>
          <p:nvPr/>
        </p:nvPicPr>
        <p:blipFill rotWithShape="1">
          <a:blip r:embed="rId3">
            <a:alphaModFix/>
          </a:blip>
          <a:srcRect b="0" l="0" r="0" t="0"/>
          <a:stretch/>
        </p:blipFill>
        <p:spPr>
          <a:xfrm>
            <a:off x="3136200" y="2522812"/>
            <a:ext cx="5254502" cy="3946012"/>
          </a:xfrm>
          <a:prstGeom prst="rect">
            <a:avLst/>
          </a:prstGeom>
          <a:noFill/>
          <a:ln>
            <a:noFill/>
          </a:ln>
        </p:spPr>
      </p:pic>
      <p:sp>
        <p:nvSpPr>
          <p:cNvPr id="137" name="Google Shape;137;p21"/>
          <p:cNvSpPr txBox="1"/>
          <p:nvPr>
            <p:ph type="title"/>
          </p:nvPr>
        </p:nvSpPr>
        <p:spPr>
          <a:xfrm>
            <a:off x="457200" y="548650"/>
            <a:ext cx="8229600" cy="685800"/>
          </a:xfrm>
          <a:prstGeom prst="rect">
            <a:avLst/>
          </a:prstGeom>
          <a:solidFill>
            <a:srgbClr val="304852"/>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solidFill>
                  <a:schemeClr val="lt1"/>
                </a:solidFill>
              </a:rPr>
              <a:t>Analyze and interpret data</a:t>
            </a:r>
            <a:endParaRPr/>
          </a:p>
        </p:txBody>
      </p:sp>
      <p:sp>
        <p:nvSpPr>
          <p:cNvPr id="138" name="Google Shape;138;p21"/>
          <p:cNvSpPr txBox="1"/>
          <p:nvPr>
            <p:ph idx="2" type="subTitle"/>
          </p:nvPr>
        </p:nvSpPr>
        <p:spPr>
          <a:xfrm>
            <a:off x="457200" y="106750"/>
            <a:ext cx="2916900" cy="458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3600"/>
              <a:buNone/>
            </a:pPr>
            <a:r>
              <a:rPr b="0" lang="en" sz="1500"/>
              <a:t>Slide G</a:t>
            </a:r>
            <a:endParaRPr b="0" sz="1500"/>
          </a:p>
        </p:txBody>
      </p:sp>
      <p:sp>
        <p:nvSpPr>
          <p:cNvPr id="139" name="Google Shape;139;p21"/>
          <p:cNvSpPr txBox="1"/>
          <p:nvPr/>
        </p:nvSpPr>
        <p:spPr>
          <a:xfrm>
            <a:off x="668100" y="3710425"/>
            <a:ext cx="2451000" cy="24705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1000"/>
              </a:spcAft>
              <a:buClr>
                <a:srgbClr val="000000"/>
              </a:buClr>
              <a:buSzPts val="2200"/>
              <a:buFont typeface="Arial"/>
              <a:buNone/>
            </a:pPr>
            <a:r>
              <a:rPr b="0" i="0" lang="en" sz="2200" u="none" cap="none" strike="noStrike">
                <a:solidFill>
                  <a:srgbClr val="304852"/>
                </a:solidFill>
                <a:latin typeface="Cabin"/>
                <a:ea typeface="Cabin"/>
                <a:cs typeface="Cabin"/>
                <a:sym typeface="Cabin"/>
              </a:rPr>
              <a:t>Summarize the patterns you noticed across the three collisions in this part of the data.</a:t>
            </a:r>
            <a:endParaRPr b="0" i="0" sz="1900" u="none" cap="none" strike="noStrike">
              <a:solidFill>
                <a:srgbClr val="000000"/>
              </a:solidFill>
              <a:latin typeface="Arial"/>
              <a:ea typeface="Arial"/>
              <a:cs typeface="Arial"/>
              <a:sym typeface="Arial"/>
            </a:endParaRPr>
          </a:p>
        </p:txBody>
      </p:sp>
      <p:pic>
        <p:nvPicPr>
          <p:cNvPr id="140" name="Google Shape;140;p21"/>
          <p:cNvPicPr preferRelativeResize="0"/>
          <p:nvPr/>
        </p:nvPicPr>
        <p:blipFill rotWithShape="1">
          <a:blip r:embed="rId4">
            <a:alphaModFix/>
          </a:blip>
          <a:srcRect b="0" l="0" r="0" t="0"/>
          <a:stretch/>
        </p:blipFill>
        <p:spPr>
          <a:xfrm>
            <a:off x="820348" y="1782650"/>
            <a:ext cx="1168390" cy="1191300"/>
          </a:xfrm>
          <a:prstGeom prst="rect">
            <a:avLst/>
          </a:prstGeom>
          <a:noFill/>
          <a:ln>
            <a:noFill/>
          </a:ln>
        </p:spPr>
      </p:pic>
      <p:sp>
        <p:nvSpPr>
          <p:cNvPr id="141" name="Google Shape;141;p21"/>
          <p:cNvSpPr txBox="1"/>
          <p:nvPr/>
        </p:nvSpPr>
        <p:spPr>
          <a:xfrm>
            <a:off x="2242900" y="1625725"/>
            <a:ext cx="3939600" cy="11913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3600"/>
              <a:buFont typeface="Arial"/>
              <a:buNone/>
            </a:pPr>
            <a:r>
              <a:rPr b="1" i="0" lang="en" sz="3600" u="none" cap="none" strike="noStrike">
                <a:solidFill>
                  <a:srgbClr val="304852"/>
                </a:solidFill>
                <a:latin typeface="Open Sans"/>
                <a:ea typeface="Open Sans"/>
                <a:cs typeface="Open Sans"/>
                <a:sym typeface="Open Sans"/>
              </a:rPr>
              <a:t>With your class</a:t>
            </a:r>
            <a:endParaRPr b="1" i="0" sz="3600" u="none" cap="none" strike="noStrike">
              <a:solidFill>
                <a:srgbClr val="304852"/>
              </a:solidFill>
              <a:latin typeface="Open Sans"/>
              <a:ea typeface="Open Sans"/>
              <a:cs typeface="Open Sans"/>
              <a:sym typeface="Open Sans"/>
            </a:endParaRPr>
          </a:p>
          <a:p>
            <a:pPr indent="0" lvl="0" marL="457200" marR="0" rtl="0" algn="l">
              <a:lnSpc>
                <a:spcPct val="115000"/>
              </a:lnSpc>
              <a:spcBef>
                <a:spcPts val="0"/>
              </a:spcBef>
              <a:spcAft>
                <a:spcPts val="0"/>
              </a:spcAft>
              <a:buClr>
                <a:srgbClr val="000000"/>
              </a:buClr>
              <a:buSzPts val="2400"/>
              <a:buFont typeface="Arial"/>
              <a:buNone/>
            </a:pPr>
            <a:r>
              <a:t/>
            </a:r>
            <a:endParaRPr b="0" i="0" sz="2400" u="none" cap="none" strike="noStrike">
              <a:solidFill>
                <a:srgbClr val="304852"/>
              </a:solidFill>
              <a:latin typeface="Cabin"/>
              <a:ea typeface="Cabin"/>
              <a:cs typeface="Cabin"/>
              <a:sym typeface="Cabin"/>
            </a:endParaRPr>
          </a:p>
        </p:txBody>
      </p:sp>
      <p:sp>
        <p:nvSpPr>
          <p:cNvPr id="142" name="Google Shape;142;p21"/>
          <p:cNvSpPr/>
          <p:nvPr/>
        </p:nvSpPr>
        <p:spPr>
          <a:xfrm>
            <a:off x="3136200" y="3026825"/>
            <a:ext cx="5254500" cy="1039200"/>
          </a:xfrm>
          <a:prstGeom prst="rect">
            <a:avLst/>
          </a:prstGeom>
          <a:solidFill>
            <a:srgbClr val="9900FF">
              <a:alpha val="27843"/>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2"/>
          <p:cNvSpPr/>
          <p:nvPr/>
        </p:nvSpPr>
        <p:spPr>
          <a:xfrm>
            <a:off x="457200" y="1459250"/>
            <a:ext cx="8229600" cy="4978200"/>
          </a:xfrm>
          <a:prstGeom prst="rect">
            <a:avLst/>
          </a:prstGeom>
          <a:solidFill>
            <a:srgbClr val="EBF0F2"/>
          </a:solidFill>
          <a:ln cap="flat" cmpd="sng" w="19050">
            <a:solidFill>
              <a:srgbClr val="304852"/>
            </a:solidFill>
            <a:prstDash val="solid"/>
            <a:round/>
            <a:headEnd len="sm" w="sm" type="none"/>
            <a:tailEnd len="sm" w="sm" type="none"/>
          </a:ln>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2400"/>
              <a:buFont typeface="Arial"/>
              <a:buNone/>
            </a:pPr>
            <a:r>
              <a:t/>
            </a:r>
            <a:endParaRPr b="1" i="0" sz="2400" u="none" cap="none" strike="noStrike">
              <a:solidFill>
                <a:srgbClr val="980000"/>
              </a:solidFill>
              <a:latin typeface="Cabin Condensed"/>
              <a:ea typeface="Cabin Condensed"/>
              <a:cs typeface="Cabin Condensed"/>
              <a:sym typeface="Cabin Condensed"/>
            </a:endParaRPr>
          </a:p>
        </p:txBody>
      </p:sp>
      <p:pic>
        <p:nvPicPr>
          <p:cNvPr id="148" name="Google Shape;148;p22"/>
          <p:cNvPicPr preferRelativeResize="0"/>
          <p:nvPr/>
        </p:nvPicPr>
        <p:blipFill rotWithShape="1">
          <a:blip r:embed="rId3">
            <a:alphaModFix/>
          </a:blip>
          <a:srcRect b="59596" l="68287" r="3299" t="13232"/>
          <a:stretch/>
        </p:blipFill>
        <p:spPr>
          <a:xfrm>
            <a:off x="2566126" y="2973950"/>
            <a:ext cx="4416748" cy="3172275"/>
          </a:xfrm>
          <a:prstGeom prst="rect">
            <a:avLst/>
          </a:prstGeom>
          <a:noFill/>
          <a:ln>
            <a:noFill/>
          </a:ln>
        </p:spPr>
      </p:pic>
      <p:sp>
        <p:nvSpPr>
          <p:cNvPr id="149" name="Google Shape;149;p22"/>
          <p:cNvSpPr txBox="1"/>
          <p:nvPr>
            <p:ph type="title"/>
          </p:nvPr>
        </p:nvSpPr>
        <p:spPr>
          <a:xfrm>
            <a:off x="457200" y="548650"/>
            <a:ext cx="8229600" cy="685800"/>
          </a:xfrm>
          <a:prstGeom prst="rect">
            <a:avLst/>
          </a:prstGeom>
          <a:solidFill>
            <a:srgbClr val="304852"/>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Interpreting “Negative Force”</a:t>
            </a:r>
            <a:endParaRPr/>
          </a:p>
        </p:txBody>
      </p:sp>
      <p:sp>
        <p:nvSpPr>
          <p:cNvPr id="150" name="Google Shape;150;p22"/>
          <p:cNvSpPr txBox="1"/>
          <p:nvPr>
            <p:ph idx="2" type="subTitle"/>
          </p:nvPr>
        </p:nvSpPr>
        <p:spPr>
          <a:xfrm>
            <a:off x="457200" y="106750"/>
            <a:ext cx="2916900" cy="458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3600"/>
              <a:buNone/>
            </a:pPr>
            <a:r>
              <a:rPr b="0" lang="en" sz="1500"/>
              <a:t>Slide H</a:t>
            </a:r>
            <a:endParaRPr b="0" sz="1500"/>
          </a:p>
        </p:txBody>
      </p:sp>
      <p:sp>
        <p:nvSpPr>
          <p:cNvPr id="151" name="Google Shape;151;p22"/>
          <p:cNvSpPr txBox="1"/>
          <p:nvPr/>
        </p:nvSpPr>
        <p:spPr>
          <a:xfrm>
            <a:off x="2242900" y="1625725"/>
            <a:ext cx="6126900" cy="12105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3100"/>
              <a:buFont typeface="Arial"/>
              <a:buNone/>
            </a:pPr>
            <a:r>
              <a:rPr b="1" i="0" lang="en" sz="3100" u="none" cap="none" strike="noStrike">
                <a:solidFill>
                  <a:srgbClr val="304852"/>
                </a:solidFill>
                <a:latin typeface="Open Sans"/>
                <a:ea typeface="Open Sans"/>
                <a:cs typeface="Open Sans"/>
                <a:sym typeface="Open Sans"/>
              </a:rPr>
              <a:t>Turn and Talk</a:t>
            </a:r>
            <a:endParaRPr b="1" i="0" sz="3100" u="none" cap="none" strike="noStrike">
              <a:solidFill>
                <a:srgbClr val="304852"/>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3100"/>
              <a:buFont typeface="Arial"/>
              <a:buNone/>
            </a:pPr>
            <a:r>
              <a:rPr b="0" i="0" lang="en" sz="3100" u="none" cap="none" strike="noStrike">
                <a:solidFill>
                  <a:srgbClr val="304852"/>
                </a:solidFill>
                <a:latin typeface="Cabin"/>
                <a:ea typeface="Cabin"/>
                <a:cs typeface="Cabin"/>
                <a:sym typeface="Cabin"/>
              </a:rPr>
              <a:t>What does a negative force mean?</a:t>
            </a:r>
            <a:endParaRPr b="0" i="0" sz="3100" u="none" cap="none" strike="noStrike">
              <a:solidFill>
                <a:srgbClr val="304852"/>
              </a:solidFill>
              <a:latin typeface="Cabin"/>
              <a:ea typeface="Cabin"/>
              <a:cs typeface="Cabin"/>
              <a:sym typeface="Cabin"/>
            </a:endParaRPr>
          </a:p>
        </p:txBody>
      </p:sp>
      <p:sp>
        <p:nvSpPr>
          <p:cNvPr id="152" name="Google Shape;152;p22"/>
          <p:cNvSpPr/>
          <p:nvPr/>
        </p:nvSpPr>
        <p:spPr>
          <a:xfrm>
            <a:off x="5549225" y="2534050"/>
            <a:ext cx="2683200" cy="1692325"/>
          </a:xfrm>
          <a:custGeom>
            <a:rect b="b" l="l" r="r" t="t"/>
            <a:pathLst>
              <a:path extrusionOk="0" h="67693" w="107328">
                <a:moveTo>
                  <a:pt x="0" y="67693"/>
                </a:moveTo>
                <a:cubicBezTo>
                  <a:pt x="30629" y="67693"/>
                  <a:pt x="63681" y="62483"/>
                  <a:pt x="89166" y="45493"/>
                </a:cubicBezTo>
                <a:cubicBezTo>
                  <a:pt x="102216" y="36793"/>
                  <a:pt x="115204" y="7014"/>
                  <a:pt x="101176" y="0"/>
                </a:cubicBezTo>
              </a:path>
            </a:pathLst>
          </a:custGeom>
          <a:noFill/>
          <a:ln cap="flat" cmpd="sng" w="28575">
            <a:solidFill>
              <a:srgbClr val="FC8B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53" name="Google Shape;153;p22"/>
          <p:cNvPicPr preferRelativeResize="0"/>
          <p:nvPr/>
        </p:nvPicPr>
        <p:blipFill rotWithShape="1">
          <a:blip r:embed="rId4">
            <a:alphaModFix/>
          </a:blip>
          <a:srcRect b="0" l="0" r="0" t="0"/>
          <a:stretch/>
        </p:blipFill>
        <p:spPr>
          <a:xfrm>
            <a:off x="636125" y="1698525"/>
            <a:ext cx="1537575" cy="12754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3"/>
          <p:cNvSpPr/>
          <p:nvPr/>
        </p:nvSpPr>
        <p:spPr>
          <a:xfrm>
            <a:off x="457200" y="1459250"/>
            <a:ext cx="8229600" cy="5088900"/>
          </a:xfrm>
          <a:prstGeom prst="rect">
            <a:avLst/>
          </a:prstGeom>
          <a:solidFill>
            <a:srgbClr val="FFFFFF"/>
          </a:solidFill>
          <a:ln cap="flat" cmpd="sng" w="19050">
            <a:solidFill>
              <a:srgbClr val="304852"/>
            </a:solidFill>
            <a:prstDash val="solid"/>
            <a:round/>
            <a:headEnd len="sm" w="sm" type="none"/>
            <a:tailEnd len="sm" w="sm" type="none"/>
          </a:ln>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2400"/>
              <a:buFont typeface="Arial"/>
              <a:buNone/>
            </a:pPr>
            <a:r>
              <a:t/>
            </a:r>
            <a:endParaRPr b="1" i="0" sz="2400" u="none" cap="none" strike="noStrike">
              <a:solidFill>
                <a:srgbClr val="980000"/>
              </a:solidFill>
              <a:latin typeface="Cabin Condensed"/>
              <a:ea typeface="Cabin Condensed"/>
              <a:cs typeface="Cabin Condensed"/>
              <a:sym typeface="Cabin Condensed"/>
            </a:endParaRPr>
          </a:p>
        </p:txBody>
      </p:sp>
      <p:pic>
        <p:nvPicPr>
          <p:cNvPr id="159" name="Google Shape;159;p23"/>
          <p:cNvPicPr preferRelativeResize="0"/>
          <p:nvPr/>
        </p:nvPicPr>
        <p:blipFill rotWithShape="1">
          <a:blip r:embed="rId3">
            <a:alphaModFix/>
          </a:blip>
          <a:srcRect b="0" l="0" r="0" t="0"/>
          <a:stretch/>
        </p:blipFill>
        <p:spPr>
          <a:xfrm>
            <a:off x="3136200" y="2522812"/>
            <a:ext cx="5254502" cy="3946012"/>
          </a:xfrm>
          <a:prstGeom prst="rect">
            <a:avLst/>
          </a:prstGeom>
          <a:noFill/>
          <a:ln>
            <a:noFill/>
          </a:ln>
        </p:spPr>
      </p:pic>
      <p:sp>
        <p:nvSpPr>
          <p:cNvPr id="160" name="Google Shape;160;p23"/>
          <p:cNvSpPr txBox="1"/>
          <p:nvPr>
            <p:ph type="title"/>
          </p:nvPr>
        </p:nvSpPr>
        <p:spPr>
          <a:xfrm>
            <a:off x="457200" y="548650"/>
            <a:ext cx="8229600" cy="685800"/>
          </a:xfrm>
          <a:prstGeom prst="rect">
            <a:avLst/>
          </a:prstGeom>
          <a:solidFill>
            <a:srgbClr val="304852"/>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solidFill>
                  <a:schemeClr val="lt1"/>
                </a:solidFill>
              </a:rPr>
              <a:t>Analyze and interpret data</a:t>
            </a:r>
            <a:endParaRPr/>
          </a:p>
        </p:txBody>
      </p:sp>
      <p:sp>
        <p:nvSpPr>
          <p:cNvPr id="161" name="Google Shape;161;p23"/>
          <p:cNvSpPr txBox="1"/>
          <p:nvPr>
            <p:ph idx="2" type="subTitle"/>
          </p:nvPr>
        </p:nvSpPr>
        <p:spPr>
          <a:xfrm>
            <a:off x="457200" y="106750"/>
            <a:ext cx="2916900" cy="458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3600"/>
              <a:buNone/>
            </a:pPr>
            <a:r>
              <a:rPr b="0" lang="en" sz="1500"/>
              <a:t>Slide I</a:t>
            </a:r>
            <a:endParaRPr b="0" sz="1500"/>
          </a:p>
        </p:txBody>
      </p:sp>
      <p:sp>
        <p:nvSpPr>
          <p:cNvPr id="162" name="Google Shape;162;p23"/>
          <p:cNvSpPr txBox="1"/>
          <p:nvPr/>
        </p:nvSpPr>
        <p:spPr>
          <a:xfrm>
            <a:off x="668100" y="3710425"/>
            <a:ext cx="2451000" cy="24705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1000"/>
              </a:spcAft>
              <a:buClr>
                <a:srgbClr val="000000"/>
              </a:buClr>
              <a:buSzPts val="2200"/>
              <a:buFont typeface="Arial"/>
              <a:buNone/>
            </a:pPr>
            <a:r>
              <a:rPr b="0" i="0" lang="en" sz="2200" u="none" cap="none" strike="noStrike">
                <a:solidFill>
                  <a:srgbClr val="304852"/>
                </a:solidFill>
                <a:latin typeface="Cabin"/>
                <a:ea typeface="Cabin"/>
                <a:cs typeface="Cabin"/>
                <a:sym typeface="Cabin"/>
              </a:rPr>
              <a:t>Summarize the patterns you noticed across the three collisions in this part of the data.</a:t>
            </a:r>
            <a:endParaRPr b="0" i="0" sz="1900" u="none" cap="none" strike="noStrike">
              <a:solidFill>
                <a:srgbClr val="000000"/>
              </a:solidFill>
              <a:latin typeface="Arial"/>
              <a:ea typeface="Arial"/>
              <a:cs typeface="Arial"/>
              <a:sym typeface="Arial"/>
            </a:endParaRPr>
          </a:p>
        </p:txBody>
      </p:sp>
      <p:pic>
        <p:nvPicPr>
          <p:cNvPr id="163" name="Google Shape;163;p23"/>
          <p:cNvPicPr preferRelativeResize="0"/>
          <p:nvPr/>
        </p:nvPicPr>
        <p:blipFill rotWithShape="1">
          <a:blip r:embed="rId4">
            <a:alphaModFix/>
          </a:blip>
          <a:srcRect b="0" l="0" r="0" t="0"/>
          <a:stretch/>
        </p:blipFill>
        <p:spPr>
          <a:xfrm>
            <a:off x="820348" y="1782650"/>
            <a:ext cx="1168390" cy="1191300"/>
          </a:xfrm>
          <a:prstGeom prst="rect">
            <a:avLst/>
          </a:prstGeom>
          <a:noFill/>
          <a:ln>
            <a:noFill/>
          </a:ln>
        </p:spPr>
      </p:pic>
      <p:sp>
        <p:nvSpPr>
          <p:cNvPr id="164" name="Google Shape;164;p23"/>
          <p:cNvSpPr txBox="1"/>
          <p:nvPr/>
        </p:nvSpPr>
        <p:spPr>
          <a:xfrm>
            <a:off x="2242900" y="1625725"/>
            <a:ext cx="3939600" cy="11913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3600"/>
              <a:buFont typeface="Arial"/>
              <a:buNone/>
            </a:pPr>
            <a:r>
              <a:rPr b="1" i="0" lang="en" sz="3600" u="none" cap="none" strike="noStrike">
                <a:solidFill>
                  <a:srgbClr val="304852"/>
                </a:solidFill>
                <a:latin typeface="Open Sans"/>
                <a:ea typeface="Open Sans"/>
                <a:cs typeface="Open Sans"/>
                <a:sym typeface="Open Sans"/>
              </a:rPr>
              <a:t>With your class</a:t>
            </a:r>
            <a:endParaRPr b="1" i="0" sz="3600" u="none" cap="none" strike="noStrike">
              <a:solidFill>
                <a:srgbClr val="304852"/>
              </a:solidFill>
              <a:latin typeface="Open Sans"/>
              <a:ea typeface="Open Sans"/>
              <a:cs typeface="Open Sans"/>
              <a:sym typeface="Open Sans"/>
            </a:endParaRPr>
          </a:p>
          <a:p>
            <a:pPr indent="0" lvl="0" marL="457200" marR="0" rtl="0" algn="l">
              <a:lnSpc>
                <a:spcPct val="115000"/>
              </a:lnSpc>
              <a:spcBef>
                <a:spcPts val="0"/>
              </a:spcBef>
              <a:spcAft>
                <a:spcPts val="0"/>
              </a:spcAft>
              <a:buClr>
                <a:srgbClr val="000000"/>
              </a:buClr>
              <a:buSzPts val="2400"/>
              <a:buFont typeface="Arial"/>
              <a:buNone/>
            </a:pPr>
            <a:r>
              <a:t/>
            </a:r>
            <a:endParaRPr b="0" i="0" sz="2400" u="none" cap="none" strike="noStrike">
              <a:solidFill>
                <a:srgbClr val="304852"/>
              </a:solidFill>
              <a:latin typeface="Cabin"/>
              <a:ea typeface="Cabin"/>
              <a:cs typeface="Cabin"/>
              <a:sym typeface="Cabin"/>
            </a:endParaRPr>
          </a:p>
        </p:txBody>
      </p:sp>
      <p:sp>
        <p:nvSpPr>
          <p:cNvPr id="165" name="Google Shape;165;p23"/>
          <p:cNvSpPr/>
          <p:nvPr/>
        </p:nvSpPr>
        <p:spPr>
          <a:xfrm flipH="1" rot="10800000">
            <a:off x="3136200" y="4156725"/>
            <a:ext cx="5254500" cy="2312100"/>
          </a:xfrm>
          <a:prstGeom prst="rect">
            <a:avLst/>
          </a:prstGeom>
          <a:solidFill>
            <a:srgbClr val="9900FF">
              <a:alpha val="27843"/>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4"/>
          <p:cNvSpPr/>
          <p:nvPr/>
        </p:nvSpPr>
        <p:spPr>
          <a:xfrm>
            <a:off x="457200" y="1532700"/>
            <a:ext cx="8229600" cy="4978200"/>
          </a:xfrm>
          <a:prstGeom prst="rect">
            <a:avLst/>
          </a:prstGeom>
          <a:solidFill>
            <a:srgbClr val="EBF0F2"/>
          </a:solidFill>
          <a:ln cap="flat" cmpd="sng" w="19050">
            <a:solidFill>
              <a:srgbClr val="304852"/>
            </a:solidFill>
            <a:prstDash val="solid"/>
            <a:round/>
            <a:headEnd len="sm" w="sm" type="none"/>
            <a:tailEnd len="sm" w="sm" type="none"/>
          </a:ln>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2400"/>
              <a:buFont typeface="Arial"/>
              <a:buNone/>
            </a:pPr>
            <a:r>
              <a:t/>
            </a:r>
            <a:endParaRPr b="1" i="0" sz="2400" u="none" cap="none" strike="noStrike">
              <a:solidFill>
                <a:srgbClr val="980000"/>
              </a:solidFill>
              <a:latin typeface="Cabin Condensed"/>
              <a:ea typeface="Cabin Condensed"/>
              <a:cs typeface="Cabin Condensed"/>
              <a:sym typeface="Cabin Condensed"/>
            </a:endParaRPr>
          </a:p>
        </p:txBody>
      </p:sp>
      <p:pic>
        <p:nvPicPr>
          <p:cNvPr id="171" name="Google Shape;171;p24"/>
          <p:cNvPicPr preferRelativeResize="0"/>
          <p:nvPr/>
        </p:nvPicPr>
        <p:blipFill rotWithShape="1">
          <a:blip r:embed="rId3">
            <a:alphaModFix/>
          </a:blip>
          <a:srcRect b="0" l="0" r="0" t="0"/>
          <a:stretch/>
        </p:blipFill>
        <p:spPr>
          <a:xfrm>
            <a:off x="2471501" y="3026360"/>
            <a:ext cx="4556050" cy="3301416"/>
          </a:xfrm>
          <a:prstGeom prst="rect">
            <a:avLst/>
          </a:prstGeom>
          <a:noFill/>
          <a:ln>
            <a:noFill/>
          </a:ln>
        </p:spPr>
      </p:pic>
      <p:sp>
        <p:nvSpPr>
          <p:cNvPr id="172" name="Google Shape;172;p24"/>
          <p:cNvSpPr txBox="1"/>
          <p:nvPr>
            <p:ph type="title"/>
          </p:nvPr>
        </p:nvSpPr>
        <p:spPr>
          <a:xfrm>
            <a:off x="457200" y="548650"/>
            <a:ext cx="8229600" cy="685800"/>
          </a:xfrm>
          <a:prstGeom prst="rect">
            <a:avLst/>
          </a:prstGeom>
          <a:solidFill>
            <a:srgbClr val="304852"/>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Interpreting “Negative Speed”</a:t>
            </a:r>
            <a:endParaRPr/>
          </a:p>
        </p:txBody>
      </p:sp>
      <p:sp>
        <p:nvSpPr>
          <p:cNvPr id="173" name="Google Shape;173;p24"/>
          <p:cNvSpPr txBox="1"/>
          <p:nvPr>
            <p:ph idx="2" type="subTitle"/>
          </p:nvPr>
        </p:nvSpPr>
        <p:spPr>
          <a:xfrm>
            <a:off x="457200" y="106750"/>
            <a:ext cx="2916900" cy="458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3600"/>
              <a:buNone/>
            </a:pPr>
            <a:r>
              <a:rPr b="0" lang="en" sz="1500"/>
              <a:t>Slide J</a:t>
            </a:r>
            <a:endParaRPr b="0" sz="1500"/>
          </a:p>
        </p:txBody>
      </p:sp>
      <p:sp>
        <p:nvSpPr>
          <p:cNvPr id="174" name="Google Shape;174;p24"/>
          <p:cNvSpPr txBox="1"/>
          <p:nvPr/>
        </p:nvSpPr>
        <p:spPr>
          <a:xfrm>
            <a:off x="2242900" y="1625725"/>
            <a:ext cx="6126900" cy="12105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3100"/>
              <a:buFont typeface="Arial"/>
              <a:buNone/>
            </a:pPr>
            <a:r>
              <a:rPr b="1" i="0" lang="en" sz="3100" u="none" cap="none" strike="noStrike">
                <a:solidFill>
                  <a:srgbClr val="304852"/>
                </a:solidFill>
                <a:latin typeface="Open Sans"/>
                <a:ea typeface="Open Sans"/>
                <a:cs typeface="Open Sans"/>
                <a:sym typeface="Open Sans"/>
              </a:rPr>
              <a:t>Turn and Talk</a:t>
            </a:r>
            <a:endParaRPr b="1" i="0" sz="3100" u="none" cap="none" strike="noStrike">
              <a:solidFill>
                <a:srgbClr val="304852"/>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3100"/>
              <a:buFont typeface="Arial"/>
              <a:buNone/>
            </a:pPr>
            <a:r>
              <a:rPr b="0" i="0" lang="en" sz="3100" u="none" cap="none" strike="noStrike">
                <a:solidFill>
                  <a:srgbClr val="304852"/>
                </a:solidFill>
                <a:latin typeface="Cabin"/>
                <a:ea typeface="Cabin"/>
                <a:cs typeface="Cabin"/>
                <a:sym typeface="Cabin"/>
              </a:rPr>
              <a:t>What does a negative speed mean?</a:t>
            </a:r>
            <a:endParaRPr b="0" i="0" sz="3100" u="none" cap="none" strike="noStrike">
              <a:solidFill>
                <a:srgbClr val="304852"/>
              </a:solidFill>
              <a:latin typeface="Cabin"/>
              <a:ea typeface="Cabin"/>
              <a:cs typeface="Cabin"/>
              <a:sym typeface="Cabin"/>
            </a:endParaRPr>
          </a:p>
        </p:txBody>
      </p:sp>
      <p:pic>
        <p:nvPicPr>
          <p:cNvPr id="175" name="Google Shape;175;p24"/>
          <p:cNvPicPr preferRelativeResize="0"/>
          <p:nvPr/>
        </p:nvPicPr>
        <p:blipFill rotWithShape="1">
          <a:blip r:embed="rId4">
            <a:alphaModFix/>
          </a:blip>
          <a:srcRect b="0" l="0" r="0" t="0"/>
          <a:stretch/>
        </p:blipFill>
        <p:spPr>
          <a:xfrm>
            <a:off x="636125" y="1698525"/>
            <a:ext cx="1537575" cy="1275425"/>
          </a:xfrm>
          <a:prstGeom prst="rect">
            <a:avLst/>
          </a:prstGeom>
          <a:noFill/>
          <a:ln>
            <a:noFill/>
          </a:ln>
        </p:spPr>
      </p:pic>
      <p:sp>
        <p:nvSpPr>
          <p:cNvPr id="176" name="Google Shape;176;p24"/>
          <p:cNvSpPr/>
          <p:nvPr/>
        </p:nvSpPr>
        <p:spPr>
          <a:xfrm rot="533954">
            <a:off x="6918398" y="2499461"/>
            <a:ext cx="1252299" cy="2493912"/>
          </a:xfrm>
          <a:custGeom>
            <a:rect b="b" l="l" r="r" t="t"/>
            <a:pathLst>
              <a:path extrusionOk="0" h="67693" w="107328">
                <a:moveTo>
                  <a:pt x="0" y="67693"/>
                </a:moveTo>
                <a:cubicBezTo>
                  <a:pt x="30629" y="67693"/>
                  <a:pt x="63681" y="62483"/>
                  <a:pt x="89166" y="45493"/>
                </a:cubicBezTo>
                <a:cubicBezTo>
                  <a:pt x="102216" y="36793"/>
                  <a:pt x="115204" y="7014"/>
                  <a:pt x="101176" y="0"/>
                </a:cubicBezTo>
              </a:path>
            </a:pathLst>
          </a:custGeom>
          <a:noFill/>
          <a:ln cap="flat" cmpd="sng" w="28575">
            <a:solidFill>
              <a:srgbClr val="FC8B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5"/>
          <p:cNvSpPr/>
          <p:nvPr/>
        </p:nvSpPr>
        <p:spPr>
          <a:xfrm>
            <a:off x="457200" y="1459250"/>
            <a:ext cx="8229600" cy="4978200"/>
          </a:xfrm>
          <a:prstGeom prst="rect">
            <a:avLst/>
          </a:prstGeom>
          <a:solidFill>
            <a:srgbClr val="EBF0F2"/>
          </a:solidFill>
          <a:ln cap="flat" cmpd="sng" w="19050">
            <a:solidFill>
              <a:srgbClr val="304852"/>
            </a:solidFill>
            <a:prstDash val="solid"/>
            <a:round/>
            <a:headEnd len="sm" w="sm" type="none"/>
            <a:tailEnd len="sm" w="sm" type="none"/>
          </a:ln>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2400"/>
              <a:buFont typeface="Arial"/>
              <a:buNone/>
            </a:pPr>
            <a:r>
              <a:t/>
            </a:r>
            <a:endParaRPr b="1" i="0" sz="2400" u="none" cap="none" strike="noStrike">
              <a:solidFill>
                <a:srgbClr val="980000"/>
              </a:solidFill>
              <a:latin typeface="Cabin Condensed"/>
              <a:ea typeface="Cabin Condensed"/>
              <a:cs typeface="Cabin Condensed"/>
              <a:sym typeface="Cabin Condensed"/>
            </a:endParaRPr>
          </a:p>
        </p:txBody>
      </p:sp>
      <p:sp>
        <p:nvSpPr>
          <p:cNvPr id="182" name="Google Shape;182;p25"/>
          <p:cNvSpPr txBox="1"/>
          <p:nvPr>
            <p:ph type="title"/>
          </p:nvPr>
        </p:nvSpPr>
        <p:spPr>
          <a:xfrm>
            <a:off x="457200" y="548650"/>
            <a:ext cx="8229600" cy="685800"/>
          </a:xfrm>
          <a:prstGeom prst="rect">
            <a:avLst/>
          </a:prstGeom>
          <a:solidFill>
            <a:srgbClr val="304852"/>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Recording a Definition of </a:t>
            </a:r>
            <a:r>
              <a:rPr i="1" lang="en"/>
              <a:t>Velocity</a:t>
            </a:r>
            <a:endParaRPr i="1"/>
          </a:p>
        </p:txBody>
      </p:sp>
      <p:sp>
        <p:nvSpPr>
          <p:cNvPr id="183" name="Google Shape;183;p25"/>
          <p:cNvSpPr txBox="1"/>
          <p:nvPr>
            <p:ph idx="2" type="subTitle"/>
          </p:nvPr>
        </p:nvSpPr>
        <p:spPr>
          <a:xfrm>
            <a:off x="457200" y="106750"/>
            <a:ext cx="2916900" cy="458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3600"/>
              <a:buNone/>
            </a:pPr>
            <a:r>
              <a:rPr b="0" lang="en" sz="1500"/>
              <a:t>Slide K</a:t>
            </a:r>
            <a:endParaRPr b="0" sz="1500"/>
          </a:p>
        </p:txBody>
      </p:sp>
      <p:sp>
        <p:nvSpPr>
          <p:cNvPr id="184" name="Google Shape;184;p25"/>
          <p:cNvSpPr txBox="1"/>
          <p:nvPr/>
        </p:nvSpPr>
        <p:spPr>
          <a:xfrm>
            <a:off x="2604425" y="1625725"/>
            <a:ext cx="5765400" cy="47595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3100"/>
              <a:buFont typeface="Arial"/>
              <a:buNone/>
            </a:pPr>
            <a:r>
              <a:rPr b="1" i="0" lang="en" sz="3100" u="none" cap="none" strike="noStrike">
                <a:solidFill>
                  <a:srgbClr val="304852"/>
                </a:solidFill>
                <a:latin typeface="Open Sans"/>
                <a:ea typeface="Open Sans"/>
                <a:cs typeface="Open Sans"/>
                <a:sym typeface="Open Sans"/>
              </a:rPr>
              <a:t>On your own</a:t>
            </a:r>
            <a:endParaRPr b="1" i="0" sz="3100" u="none" cap="none" strike="noStrike">
              <a:solidFill>
                <a:srgbClr val="304852"/>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3100"/>
              <a:buFont typeface="Arial"/>
              <a:buNone/>
            </a:pPr>
            <a:r>
              <a:rPr b="0" i="0" lang="en" sz="3100" u="none" cap="none" strike="noStrike">
                <a:solidFill>
                  <a:srgbClr val="304852"/>
                </a:solidFill>
                <a:latin typeface="Cabin"/>
                <a:ea typeface="Cabin"/>
                <a:cs typeface="Cabin"/>
                <a:sym typeface="Cabin"/>
              </a:rPr>
              <a:t>Add entries to your personal glossaries to reflect these ideas.</a:t>
            </a:r>
            <a:endParaRPr b="0" i="0" sz="3100" u="none" cap="none" strike="noStrike">
              <a:solidFill>
                <a:srgbClr val="304852"/>
              </a:solidFill>
              <a:latin typeface="Cabin"/>
              <a:ea typeface="Cabin"/>
              <a:cs typeface="Cabin"/>
              <a:sym typeface="Cabin"/>
            </a:endParaRPr>
          </a:p>
          <a:p>
            <a:pPr indent="-425450" lvl="0" marL="457200" marR="0" rtl="0" algn="l">
              <a:lnSpc>
                <a:spcPct val="115000"/>
              </a:lnSpc>
              <a:spcBef>
                <a:spcPts val="1000"/>
              </a:spcBef>
              <a:spcAft>
                <a:spcPts val="0"/>
              </a:spcAft>
              <a:buClr>
                <a:srgbClr val="304852"/>
              </a:buClr>
              <a:buSzPts val="3100"/>
              <a:buFont typeface="Cabin"/>
              <a:buChar char="●"/>
            </a:pPr>
            <a:r>
              <a:rPr b="0" i="0" lang="en" sz="3100" u="none" cap="none" strike="noStrike">
                <a:solidFill>
                  <a:srgbClr val="304852"/>
                </a:solidFill>
                <a:latin typeface="Cabin"/>
                <a:ea typeface="Cabin"/>
                <a:cs typeface="Cabin"/>
                <a:sym typeface="Cabin"/>
              </a:rPr>
              <a:t>How is </a:t>
            </a:r>
            <a:r>
              <a:rPr b="0" i="1" lang="en" sz="3100" u="none" cap="none" strike="noStrike">
                <a:solidFill>
                  <a:srgbClr val="304852"/>
                </a:solidFill>
                <a:latin typeface="Cabin"/>
                <a:ea typeface="Cabin"/>
                <a:cs typeface="Cabin"/>
                <a:sym typeface="Cabin"/>
              </a:rPr>
              <a:t>velocity</a:t>
            </a:r>
            <a:r>
              <a:rPr b="0" i="0" lang="en" sz="3100" u="none" cap="none" strike="noStrike">
                <a:solidFill>
                  <a:srgbClr val="304852"/>
                </a:solidFill>
                <a:latin typeface="Cabin"/>
                <a:ea typeface="Cabin"/>
                <a:cs typeface="Cabin"/>
                <a:sym typeface="Cabin"/>
              </a:rPr>
              <a:t> different from </a:t>
            </a:r>
            <a:r>
              <a:rPr b="0" i="1" lang="en" sz="3100" u="none" cap="none" strike="noStrike">
                <a:solidFill>
                  <a:srgbClr val="304852"/>
                </a:solidFill>
                <a:latin typeface="Cabin"/>
                <a:ea typeface="Cabin"/>
                <a:cs typeface="Cabin"/>
                <a:sym typeface="Cabin"/>
              </a:rPr>
              <a:t>speed</a:t>
            </a:r>
            <a:r>
              <a:rPr b="0" i="0" lang="en" sz="3100" u="none" cap="none" strike="noStrike">
                <a:solidFill>
                  <a:srgbClr val="304852"/>
                </a:solidFill>
                <a:latin typeface="Cabin"/>
                <a:ea typeface="Cabin"/>
                <a:cs typeface="Cabin"/>
                <a:sym typeface="Cabin"/>
              </a:rPr>
              <a:t>? </a:t>
            </a:r>
            <a:endParaRPr b="0" i="0" sz="3100" u="none" cap="none" strike="noStrike">
              <a:solidFill>
                <a:srgbClr val="304852"/>
              </a:solidFill>
              <a:latin typeface="Cabin"/>
              <a:ea typeface="Cabin"/>
              <a:cs typeface="Cabin"/>
              <a:sym typeface="Cabin"/>
            </a:endParaRPr>
          </a:p>
          <a:p>
            <a:pPr indent="-425450" lvl="0" marL="457200" marR="0" rtl="0" algn="l">
              <a:lnSpc>
                <a:spcPct val="115000"/>
              </a:lnSpc>
              <a:spcBef>
                <a:spcPts val="1000"/>
              </a:spcBef>
              <a:spcAft>
                <a:spcPts val="1000"/>
              </a:spcAft>
              <a:buClr>
                <a:srgbClr val="304852"/>
              </a:buClr>
              <a:buSzPts val="3100"/>
              <a:buFont typeface="Cabin"/>
              <a:buChar char="●"/>
            </a:pPr>
            <a:r>
              <a:rPr b="0" i="0" lang="en" sz="3100" u="none" cap="none" strike="noStrike">
                <a:solidFill>
                  <a:srgbClr val="304852"/>
                </a:solidFill>
                <a:latin typeface="Cabin"/>
                <a:ea typeface="Cabin"/>
                <a:cs typeface="Cabin"/>
                <a:sym typeface="Cabin"/>
              </a:rPr>
              <a:t>How have we expanded on our understanding of </a:t>
            </a:r>
            <a:r>
              <a:rPr b="0" i="1" lang="en" sz="3100" u="none" cap="none" strike="noStrike">
                <a:solidFill>
                  <a:srgbClr val="304852"/>
                </a:solidFill>
                <a:latin typeface="Cabin"/>
                <a:ea typeface="Cabin"/>
                <a:cs typeface="Cabin"/>
                <a:sym typeface="Cabin"/>
              </a:rPr>
              <a:t>force</a:t>
            </a:r>
            <a:r>
              <a:rPr b="0" i="0" lang="en" sz="3100" u="none" cap="none" strike="noStrike">
                <a:solidFill>
                  <a:srgbClr val="304852"/>
                </a:solidFill>
                <a:latin typeface="Cabin"/>
                <a:ea typeface="Cabin"/>
                <a:cs typeface="Cabin"/>
                <a:sym typeface="Cabin"/>
              </a:rPr>
              <a:t> since the last unit? </a:t>
            </a:r>
            <a:endParaRPr b="0" i="0" sz="3100" u="none" cap="none" strike="noStrike">
              <a:solidFill>
                <a:srgbClr val="304852"/>
              </a:solidFill>
              <a:latin typeface="Cabin"/>
              <a:ea typeface="Cabin"/>
              <a:cs typeface="Cabin"/>
              <a:sym typeface="Cabin"/>
            </a:endParaRPr>
          </a:p>
        </p:txBody>
      </p:sp>
      <p:pic>
        <p:nvPicPr>
          <p:cNvPr id="185" name="Google Shape;185;p25"/>
          <p:cNvPicPr preferRelativeResize="0"/>
          <p:nvPr/>
        </p:nvPicPr>
        <p:blipFill rotWithShape="1">
          <a:blip r:embed="rId3">
            <a:alphaModFix/>
          </a:blip>
          <a:srcRect b="0" l="0" r="0" t="0"/>
          <a:stretch/>
        </p:blipFill>
        <p:spPr>
          <a:xfrm>
            <a:off x="684888" y="1762825"/>
            <a:ext cx="1514475" cy="16764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6"/>
          <p:cNvSpPr/>
          <p:nvPr/>
        </p:nvSpPr>
        <p:spPr>
          <a:xfrm>
            <a:off x="457200" y="1459250"/>
            <a:ext cx="8229600" cy="4792800"/>
          </a:xfrm>
          <a:prstGeom prst="rect">
            <a:avLst/>
          </a:prstGeom>
          <a:solidFill>
            <a:srgbClr val="EBF0F2"/>
          </a:solidFill>
          <a:ln cap="flat" cmpd="sng" w="19050">
            <a:solidFill>
              <a:srgbClr val="304852"/>
            </a:solidFill>
            <a:prstDash val="solid"/>
            <a:round/>
            <a:headEnd len="sm" w="sm" type="none"/>
            <a:tailEnd len="sm" w="sm" type="none"/>
          </a:ln>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2400"/>
              <a:buFont typeface="Arial"/>
              <a:buNone/>
            </a:pPr>
            <a:r>
              <a:t/>
            </a:r>
            <a:endParaRPr b="1" i="0" sz="2400" u="none" cap="none" strike="noStrike">
              <a:solidFill>
                <a:srgbClr val="980000"/>
              </a:solidFill>
              <a:latin typeface="Cabin Condensed"/>
              <a:ea typeface="Cabin Condensed"/>
              <a:cs typeface="Cabin Condensed"/>
              <a:sym typeface="Cabin Condensed"/>
            </a:endParaRPr>
          </a:p>
        </p:txBody>
      </p:sp>
      <p:sp>
        <p:nvSpPr>
          <p:cNvPr id="191" name="Google Shape;191;p26"/>
          <p:cNvSpPr txBox="1"/>
          <p:nvPr>
            <p:ph type="title"/>
          </p:nvPr>
        </p:nvSpPr>
        <p:spPr>
          <a:xfrm>
            <a:off x="457200" y="548650"/>
            <a:ext cx="8229600" cy="685800"/>
          </a:xfrm>
          <a:prstGeom prst="rect">
            <a:avLst/>
          </a:prstGeom>
          <a:solidFill>
            <a:srgbClr val="304852"/>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Use Mathematical Thinking</a:t>
            </a:r>
            <a:endParaRPr/>
          </a:p>
        </p:txBody>
      </p:sp>
      <p:sp>
        <p:nvSpPr>
          <p:cNvPr id="192" name="Google Shape;192;p26"/>
          <p:cNvSpPr txBox="1"/>
          <p:nvPr>
            <p:ph idx="2" type="subTitle"/>
          </p:nvPr>
        </p:nvSpPr>
        <p:spPr>
          <a:xfrm>
            <a:off x="457200" y="106750"/>
            <a:ext cx="2916900" cy="458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3600"/>
              <a:buNone/>
            </a:pPr>
            <a:r>
              <a:rPr b="0" lang="en" sz="1500"/>
              <a:t>Slide L</a:t>
            </a:r>
            <a:endParaRPr b="0" sz="1500"/>
          </a:p>
        </p:txBody>
      </p:sp>
      <p:sp>
        <p:nvSpPr>
          <p:cNvPr id="193" name="Google Shape;193;p26"/>
          <p:cNvSpPr txBox="1"/>
          <p:nvPr/>
        </p:nvSpPr>
        <p:spPr>
          <a:xfrm>
            <a:off x="2228050" y="1625725"/>
            <a:ext cx="58386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3000"/>
              <a:buFont typeface="Arial"/>
              <a:buNone/>
            </a:pPr>
            <a:r>
              <a:rPr b="1" i="0" lang="en" sz="3000" u="none" cap="none" strike="noStrike">
                <a:solidFill>
                  <a:srgbClr val="304852"/>
                </a:solidFill>
                <a:latin typeface="Open Sans"/>
                <a:ea typeface="Open Sans"/>
                <a:cs typeface="Open Sans"/>
                <a:sym typeface="Open Sans"/>
              </a:rPr>
              <a:t>Exit Ticket</a:t>
            </a:r>
            <a:endParaRPr b="0" i="0" sz="2400" u="none" cap="none" strike="noStrike">
              <a:solidFill>
                <a:srgbClr val="304852"/>
              </a:solidFill>
              <a:latin typeface="Cabin"/>
              <a:ea typeface="Cabin"/>
              <a:cs typeface="Cabin"/>
              <a:sym typeface="Cabin"/>
            </a:endParaRPr>
          </a:p>
        </p:txBody>
      </p:sp>
      <p:sp>
        <p:nvSpPr>
          <p:cNvPr id="194" name="Google Shape;194;p26"/>
          <p:cNvSpPr txBox="1"/>
          <p:nvPr/>
        </p:nvSpPr>
        <p:spPr>
          <a:xfrm>
            <a:off x="2228050" y="2158650"/>
            <a:ext cx="6166500" cy="1403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1000"/>
              </a:spcAft>
              <a:buClr>
                <a:srgbClr val="000000"/>
              </a:buClr>
              <a:buSzPts val="2400"/>
              <a:buFont typeface="Arial"/>
              <a:buNone/>
            </a:pPr>
            <a:r>
              <a:rPr b="0" i="0" lang="en" sz="2400" u="none" cap="none" strike="noStrike">
                <a:solidFill>
                  <a:srgbClr val="304852"/>
                </a:solidFill>
                <a:latin typeface="Cabin"/>
                <a:ea typeface="Cabin"/>
                <a:cs typeface="Cabin"/>
                <a:sym typeface="Cabin"/>
              </a:rPr>
              <a:t>Record these on your exit ticket as well as on the bottom of your handout and store your handout in your notebook.</a:t>
            </a:r>
            <a:endParaRPr b="0" i="0" sz="2400" u="none" cap="none" strike="noStrike">
              <a:solidFill>
                <a:srgbClr val="304852"/>
              </a:solidFill>
              <a:latin typeface="Cabin"/>
              <a:ea typeface="Cabin"/>
              <a:cs typeface="Cabin"/>
              <a:sym typeface="Cabin"/>
            </a:endParaRPr>
          </a:p>
        </p:txBody>
      </p:sp>
      <p:sp>
        <p:nvSpPr>
          <p:cNvPr id="195" name="Google Shape;195;p26"/>
          <p:cNvSpPr txBox="1"/>
          <p:nvPr/>
        </p:nvSpPr>
        <p:spPr>
          <a:xfrm rot="-127046">
            <a:off x="6066974" y="5767732"/>
            <a:ext cx="2785002" cy="881407"/>
          </a:xfrm>
          <a:prstGeom prst="rect">
            <a:avLst/>
          </a:prstGeom>
          <a:solidFill>
            <a:srgbClr val="FFFFFF"/>
          </a:solidFill>
          <a:ln cap="flat" cmpd="sng" w="9525">
            <a:solidFill>
              <a:srgbClr val="304852"/>
            </a:solidFill>
            <a:prstDash val="solid"/>
            <a:round/>
            <a:headEnd len="sm" w="sm" type="none"/>
            <a:tailEnd len="sm" w="sm" type="none"/>
          </a:ln>
          <a:effectLst>
            <a:outerShdw blurRad="57150" rotWithShape="0" algn="bl" dir="5400000" dist="19050">
              <a:srgbClr val="000000">
                <a:alpha val="49411"/>
              </a:srgbClr>
            </a:outerShdw>
          </a:effectLst>
        </p:spPr>
        <p:txBody>
          <a:bodyPr anchorCtr="0" anchor="t" bIns="91425" lIns="91425" spcFirstLastPara="1" rIns="91425" wrap="square" tIns="91425">
            <a:noAutofit/>
          </a:bodyPr>
          <a:lstStyle/>
          <a:p>
            <a:pPr indent="-368300" lvl="0" marL="457200" marR="0" rtl="0" algn="l">
              <a:lnSpc>
                <a:spcPct val="100000"/>
              </a:lnSpc>
              <a:spcBef>
                <a:spcPts val="0"/>
              </a:spcBef>
              <a:spcAft>
                <a:spcPts val="0"/>
              </a:spcAft>
              <a:buClr>
                <a:srgbClr val="304852"/>
              </a:buClr>
              <a:buSzPts val="2200"/>
              <a:buFont typeface="Cabin Condensed"/>
              <a:buChar char="➔"/>
            </a:pPr>
            <a:r>
              <a:rPr b="0" i="0" lang="en" sz="2200" u="none" cap="none" strike="noStrike">
                <a:solidFill>
                  <a:srgbClr val="304852"/>
                </a:solidFill>
                <a:latin typeface="Cabin Condensed"/>
                <a:ea typeface="Cabin Condensed"/>
                <a:cs typeface="Cabin Condensed"/>
                <a:sym typeface="Cabin Condensed"/>
              </a:rPr>
              <a:t>Be ready to share with the whole class.</a:t>
            </a:r>
            <a:endParaRPr b="0" i="0" sz="2200" u="none" cap="none" strike="noStrike">
              <a:solidFill>
                <a:srgbClr val="304852"/>
              </a:solidFill>
              <a:latin typeface="Cabin Condensed"/>
              <a:ea typeface="Cabin Condensed"/>
              <a:cs typeface="Cabin Condensed"/>
              <a:sym typeface="Cabin Condensed"/>
            </a:endParaRPr>
          </a:p>
        </p:txBody>
      </p:sp>
      <p:pic>
        <p:nvPicPr>
          <p:cNvPr id="196" name="Google Shape;196;p26"/>
          <p:cNvPicPr preferRelativeResize="0"/>
          <p:nvPr/>
        </p:nvPicPr>
        <p:blipFill rotWithShape="1">
          <a:blip r:embed="rId3">
            <a:alphaModFix/>
          </a:blip>
          <a:srcRect b="0" l="0" r="0" t="0"/>
          <a:stretch/>
        </p:blipFill>
        <p:spPr>
          <a:xfrm>
            <a:off x="881400" y="1793650"/>
            <a:ext cx="865050" cy="1023375"/>
          </a:xfrm>
          <a:prstGeom prst="rect">
            <a:avLst/>
          </a:prstGeom>
          <a:noFill/>
          <a:ln>
            <a:noFill/>
          </a:ln>
        </p:spPr>
      </p:pic>
      <p:sp>
        <p:nvSpPr>
          <p:cNvPr id="197" name="Google Shape;197;p26"/>
          <p:cNvSpPr txBox="1"/>
          <p:nvPr/>
        </p:nvSpPr>
        <p:spPr>
          <a:xfrm>
            <a:off x="754175" y="3790950"/>
            <a:ext cx="7640400" cy="1790700"/>
          </a:xfrm>
          <a:prstGeom prst="rect">
            <a:avLst/>
          </a:prstGeom>
          <a:noFill/>
          <a:ln>
            <a:noFill/>
          </a:ln>
        </p:spPr>
        <p:txBody>
          <a:bodyPr anchorCtr="0" anchor="t" bIns="91425" lIns="91425" spcFirstLastPara="1" rIns="91425" wrap="square" tIns="91425">
            <a:spAutoFit/>
          </a:bodyPr>
          <a:lstStyle/>
          <a:p>
            <a:pPr indent="-381000" lvl="0" marL="457200" marR="0" rtl="0" algn="l">
              <a:lnSpc>
                <a:spcPct val="100000"/>
              </a:lnSpc>
              <a:spcBef>
                <a:spcPts val="0"/>
              </a:spcBef>
              <a:spcAft>
                <a:spcPts val="0"/>
              </a:spcAft>
              <a:buClr>
                <a:srgbClr val="304852"/>
              </a:buClr>
              <a:buSzPts val="2400"/>
              <a:buFont typeface="Cabin"/>
              <a:buChar char="●"/>
            </a:pPr>
            <a:r>
              <a:rPr b="0" i="0" lang="en" sz="2400" u="none" cap="none" strike="noStrike">
                <a:solidFill>
                  <a:srgbClr val="304852"/>
                </a:solidFill>
                <a:latin typeface="Cabin"/>
                <a:ea typeface="Cabin"/>
                <a:cs typeface="Cabin"/>
                <a:sym typeface="Cabin"/>
              </a:rPr>
              <a:t>Which collision produced the largest velocity change (ΔV) for each cart?</a:t>
            </a:r>
            <a:endParaRPr b="0" i="0" sz="2400" u="none" cap="none" strike="noStrike">
              <a:solidFill>
                <a:srgbClr val="304852"/>
              </a:solidFill>
              <a:latin typeface="Cabin"/>
              <a:ea typeface="Cabin"/>
              <a:cs typeface="Cabin"/>
              <a:sym typeface="Cabin"/>
            </a:endParaRPr>
          </a:p>
          <a:p>
            <a:pPr indent="-381000" lvl="0" marL="457200" marR="0" rtl="0" algn="l">
              <a:lnSpc>
                <a:spcPct val="100000"/>
              </a:lnSpc>
              <a:spcBef>
                <a:spcPts val="1000"/>
              </a:spcBef>
              <a:spcAft>
                <a:spcPts val="1000"/>
              </a:spcAft>
              <a:buClr>
                <a:srgbClr val="304852"/>
              </a:buClr>
              <a:buSzPts val="2400"/>
              <a:buFont typeface="Cabin"/>
              <a:buChar char="●"/>
            </a:pPr>
            <a:r>
              <a:rPr b="0" i="0" lang="en" sz="2400" u="none" cap="none" strike="noStrike">
                <a:solidFill>
                  <a:srgbClr val="304852"/>
                </a:solidFill>
                <a:latin typeface="Cabin"/>
                <a:ea typeface="Cabin"/>
                <a:cs typeface="Cabin"/>
                <a:sym typeface="Cabin"/>
              </a:rPr>
              <a:t>How much did the velocity of each cart change in that collision?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7"/>
          <p:cNvSpPr/>
          <p:nvPr/>
        </p:nvSpPr>
        <p:spPr>
          <a:xfrm>
            <a:off x="457200" y="1459250"/>
            <a:ext cx="8229600" cy="3905700"/>
          </a:xfrm>
          <a:prstGeom prst="rect">
            <a:avLst/>
          </a:prstGeom>
          <a:solidFill>
            <a:srgbClr val="EBF0F2"/>
          </a:solidFill>
          <a:ln cap="flat" cmpd="sng" w="19050">
            <a:solidFill>
              <a:srgbClr val="304852"/>
            </a:solidFill>
            <a:prstDash val="solid"/>
            <a:round/>
            <a:headEnd len="sm" w="sm" type="none"/>
            <a:tailEnd len="sm" w="sm" type="none"/>
          </a:ln>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2400"/>
              <a:buFont typeface="Arial"/>
              <a:buNone/>
            </a:pPr>
            <a:r>
              <a:t/>
            </a:r>
            <a:endParaRPr b="1" i="0" sz="2400" u="none" cap="none" strike="noStrike">
              <a:solidFill>
                <a:srgbClr val="980000"/>
              </a:solidFill>
              <a:latin typeface="Cabin Condensed"/>
              <a:ea typeface="Cabin Condensed"/>
              <a:cs typeface="Cabin Condensed"/>
              <a:sym typeface="Cabin Condensed"/>
            </a:endParaRPr>
          </a:p>
        </p:txBody>
      </p:sp>
      <p:sp>
        <p:nvSpPr>
          <p:cNvPr id="203" name="Google Shape;203;p27"/>
          <p:cNvSpPr txBox="1"/>
          <p:nvPr>
            <p:ph type="title"/>
          </p:nvPr>
        </p:nvSpPr>
        <p:spPr>
          <a:xfrm>
            <a:off x="457200" y="548650"/>
            <a:ext cx="8229600" cy="685800"/>
          </a:xfrm>
          <a:prstGeom prst="rect">
            <a:avLst/>
          </a:prstGeom>
          <a:solidFill>
            <a:srgbClr val="304852"/>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Use Mathematical Thinking</a:t>
            </a:r>
            <a:endParaRPr/>
          </a:p>
        </p:txBody>
      </p:sp>
      <p:sp>
        <p:nvSpPr>
          <p:cNvPr id="204" name="Google Shape;204;p27"/>
          <p:cNvSpPr txBox="1"/>
          <p:nvPr>
            <p:ph idx="2" type="subTitle"/>
          </p:nvPr>
        </p:nvSpPr>
        <p:spPr>
          <a:xfrm>
            <a:off x="457200" y="106750"/>
            <a:ext cx="2916900" cy="458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3600"/>
              <a:buNone/>
            </a:pPr>
            <a:r>
              <a:rPr b="0" lang="en" sz="1500"/>
              <a:t>Slide M</a:t>
            </a:r>
            <a:endParaRPr b="0" sz="1500"/>
          </a:p>
        </p:txBody>
      </p:sp>
      <p:sp>
        <p:nvSpPr>
          <p:cNvPr id="205" name="Google Shape;205;p27"/>
          <p:cNvSpPr txBox="1"/>
          <p:nvPr/>
        </p:nvSpPr>
        <p:spPr>
          <a:xfrm>
            <a:off x="2242900" y="1625725"/>
            <a:ext cx="5838600" cy="6618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3100"/>
              <a:buFont typeface="Arial"/>
              <a:buNone/>
            </a:pPr>
            <a:r>
              <a:rPr b="1" i="0" lang="en" sz="3100" u="none" cap="none" strike="noStrike">
                <a:solidFill>
                  <a:srgbClr val="304852"/>
                </a:solidFill>
                <a:latin typeface="Open Sans"/>
                <a:ea typeface="Open Sans"/>
                <a:cs typeface="Open Sans"/>
                <a:sym typeface="Open Sans"/>
              </a:rPr>
              <a:t>With your class </a:t>
            </a:r>
            <a:endParaRPr b="0" i="0" sz="1900" u="none" cap="none" strike="noStrike">
              <a:solidFill>
                <a:srgbClr val="304852"/>
              </a:solidFill>
              <a:latin typeface="Open Sans"/>
              <a:ea typeface="Open Sans"/>
              <a:cs typeface="Open Sans"/>
              <a:sym typeface="Open Sans"/>
            </a:endParaRPr>
          </a:p>
        </p:txBody>
      </p:sp>
      <p:sp>
        <p:nvSpPr>
          <p:cNvPr id="206" name="Google Shape;206;p27"/>
          <p:cNvSpPr txBox="1"/>
          <p:nvPr/>
        </p:nvSpPr>
        <p:spPr>
          <a:xfrm>
            <a:off x="2228050" y="2311050"/>
            <a:ext cx="6166500" cy="2191200"/>
          </a:xfrm>
          <a:prstGeom prst="rect">
            <a:avLst/>
          </a:prstGeom>
          <a:noFill/>
          <a:ln>
            <a:noFill/>
          </a:ln>
        </p:spPr>
        <p:txBody>
          <a:bodyPr anchorCtr="0" anchor="t" bIns="91425" lIns="91425" spcFirstLastPara="1" rIns="91425" wrap="square" tIns="91425">
            <a:spAutoFit/>
          </a:bodyPr>
          <a:lstStyle/>
          <a:p>
            <a:pPr indent="-381000" lvl="0" marL="457200" marR="0" rtl="0" algn="l">
              <a:lnSpc>
                <a:spcPct val="115000"/>
              </a:lnSpc>
              <a:spcBef>
                <a:spcPts val="0"/>
              </a:spcBef>
              <a:spcAft>
                <a:spcPts val="0"/>
              </a:spcAft>
              <a:buClr>
                <a:srgbClr val="304852"/>
              </a:buClr>
              <a:buSzPts val="2400"/>
              <a:buFont typeface="Cabin"/>
              <a:buChar char="●"/>
            </a:pPr>
            <a:r>
              <a:rPr b="0" i="0" lang="en" sz="2400" u="none" cap="none" strike="noStrike">
                <a:solidFill>
                  <a:srgbClr val="304852"/>
                </a:solidFill>
                <a:latin typeface="Cabin"/>
                <a:ea typeface="Cabin"/>
                <a:cs typeface="Cabin"/>
                <a:sym typeface="Cabin"/>
              </a:rPr>
              <a:t>Which collision produced the largest velocity change (ΔV) for each cart?</a:t>
            </a:r>
            <a:endParaRPr b="0" i="0" sz="2400" u="none" cap="none" strike="noStrike">
              <a:solidFill>
                <a:srgbClr val="304852"/>
              </a:solidFill>
              <a:latin typeface="Cabin"/>
              <a:ea typeface="Cabin"/>
              <a:cs typeface="Cabin"/>
              <a:sym typeface="Cabin"/>
            </a:endParaRPr>
          </a:p>
          <a:p>
            <a:pPr indent="0" lvl="0" marL="0" marR="0" rtl="0" algn="l">
              <a:lnSpc>
                <a:spcPct val="115000"/>
              </a:lnSpc>
              <a:spcBef>
                <a:spcPts val="1000"/>
              </a:spcBef>
              <a:spcAft>
                <a:spcPts val="0"/>
              </a:spcAft>
              <a:buClr>
                <a:srgbClr val="000000"/>
              </a:buClr>
              <a:buSzPts val="600"/>
              <a:buFont typeface="Arial"/>
              <a:buNone/>
            </a:pPr>
            <a:r>
              <a:t/>
            </a:r>
            <a:endParaRPr b="0" i="0" sz="600" u="none" cap="none" strike="noStrike">
              <a:solidFill>
                <a:srgbClr val="304852"/>
              </a:solidFill>
              <a:latin typeface="Cabin"/>
              <a:ea typeface="Cabin"/>
              <a:cs typeface="Cabin"/>
              <a:sym typeface="Cabin"/>
            </a:endParaRPr>
          </a:p>
          <a:p>
            <a:pPr indent="-381000" lvl="0" marL="457200" marR="0" rtl="0" algn="l">
              <a:lnSpc>
                <a:spcPct val="115000"/>
              </a:lnSpc>
              <a:spcBef>
                <a:spcPts val="1000"/>
              </a:spcBef>
              <a:spcAft>
                <a:spcPts val="0"/>
              </a:spcAft>
              <a:buClr>
                <a:srgbClr val="304852"/>
              </a:buClr>
              <a:buSzPts val="2400"/>
              <a:buFont typeface="Cabin"/>
              <a:buChar char="●"/>
            </a:pPr>
            <a:r>
              <a:rPr b="0" i="0" lang="en" sz="2400" u="none" cap="none" strike="noStrike">
                <a:solidFill>
                  <a:srgbClr val="304852"/>
                </a:solidFill>
                <a:latin typeface="Cabin"/>
                <a:ea typeface="Cabin"/>
                <a:cs typeface="Cabin"/>
                <a:sym typeface="Cabin"/>
              </a:rPr>
              <a:t>How much did the velocity of each cart change in that collision?</a:t>
            </a:r>
            <a:endParaRPr b="0" i="0" sz="2400" u="none" cap="none" strike="noStrike">
              <a:solidFill>
                <a:srgbClr val="304852"/>
              </a:solidFill>
              <a:latin typeface="Cabin"/>
              <a:ea typeface="Cabin"/>
              <a:cs typeface="Cabin"/>
              <a:sym typeface="Cabin"/>
            </a:endParaRPr>
          </a:p>
        </p:txBody>
      </p:sp>
      <p:sp>
        <p:nvSpPr>
          <p:cNvPr id="207" name="Google Shape;207;p27"/>
          <p:cNvSpPr txBox="1"/>
          <p:nvPr/>
        </p:nvSpPr>
        <p:spPr>
          <a:xfrm rot="-126999">
            <a:off x="6047600" y="4951875"/>
            <a:ext cx="2859151" cy="881407"/>
          </a:xfrm>
          <a:prstGeom prst="rect">
            <a:avLst/>
          </a:prstGeom>
          <a:solidFill>
            <a:srgbClr val="FFFFFF"/>
          </a:solidFill>
          <a:ln cap="flat" cmpd="sng" w="9525">
            <a:solidFill>
              <a:srgbClr val="304852"/>
            </a:solidFill>
            <a:prstDash val="solid"/>
            <a:round/>
            <a:headEnd len="sm" w="sm" type="none"/>
            <a:tailEnd len="sm" w="sm" type="none"/>
          </a:ln>
          <a:effectLst>
            <a:outerShdw blurRad="57150" rotWithShape="0" algn="bl" dir="5400000" dist="19050">
              <a:srgbClr val="000000">
                <a:alpha val="49411"/>
              </a:srgbClr>
            </a:outerShdw>
          </a:effectLst>
        </p:spPr>
        <p:txBody>
          <a:bodyPr anchorCtr="0" anchor="t" bIns="91425" lIns="91425" spcFirstLastPara="1" rIns="91425" wrap="square" tIns="91425">
            <a:noAutofit/>
          </a:bodyPr>
          <a:lstStyle/>
          <a:p>
            <a:pPr indent="-368300" lvl="0" marL="457200" marR="0" rtl="0" algn="l">
              <a:lnSpc>
                <a:spcPct val="100000"/>
              </a:lnSpc>
              <a:spcBef>
                <a:spcPts val="0"/>
              </a:spcBef>
              <a:spcAft>
                <a:spcPts val="0"/>
              </a:spcAft>
              <a:buClr>
                <a:srgbClr val="304852"/>
              </a:buClr>
              <a:buSzPts val="2200"/>
              <a:buFont typeface="Cabin Condensed"/>
              <a:buChar char="➔"/>
            </a:pPr>
            <a:r>
              <a:rPr b="0" i="0" lang="en" sz="2200" u="none" cap="none" strike="noStrike">
                <a:solidFill>
                  <a:srgbClr val="304852"/>
                </a:solidFill>
                <a:latin typeface="Cabin Condensed"/>
                <a:ea typeface="Cabin Condensed"/>
                <a:cs typeface="Cabin Condensed"/>
                <a:sym typeface="Cabin Condensed"/>
              </a:rPr>
              <a:t>Be ready to share with the whole class.</a:t>
            </a:r>
            <a:endParaRPr b="0" i="0" sz="2200" u="none" cap="none" strike="noStrike">
              <a:solidFill>
                <a:srgbClr val="304852"/>
              </a:solidFill>
              <a:latin typeface="Cabin Condensed"/>
              <a:ea typeface="Cabin Condensed"/>
              <a:cs typeface="Cabin Condensed"/>
              <a:sym typeface="Cabin Condensed"/>
            </a:endParaRPr>
          </a:p>
        </p:txBody>
      </p:sp>
      <p:pic>
        <p:nvPicPr>
          <p:cNvPr id="208" name="Google Shape;208;p27"/>
          <p:cNvPicPr preferRelativeResize="0"/>
          <p:nvPr/>
        </p:nvPicPr>
        <p:blipFill rotWithShape="1">
          <a:blip r:embed="rId3">
            <a:alphaModFix/>
          </a:blip>
          <a:srcRect b="0" l="0" r="0" t="0"/>
          <a:stretch/>
        </p:blipFill>
        <p:spPr>
          <a:xfrm>
            <a:off x="820348" y="1782650"/>
            <a:ext cx="1168390" cy="11913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8"/>
          <p:cNvSpPr/>
          <p:nvPr/>
        </p:nvSpPr>
        <p:spPr>
          <a:xfrm>
            <a:off x="457200" y="1459250"/>
            <a:ext cx="8229600" cy="3905700"/>
          </a:xfrm>
          <a:prstGeom prst="rect">
            <a:avLst/>
          </a:prstGeom>
          <a:solidFill>
            <a:srgbClr val="EBF0F2"/>
          </a:solidFill>
          <a:ln cap="flat" cmpd="sng" w="19050">
            <a:solidFill>
              <a:srgbClr val="304852"/>
            </a:solidFill>
            <a:prstDash val="solid"/>
            <a:round/>
            <a:headEnd len="sm" w="sm" type="none"/>
            <a:tailEnd len="sm" w="sm" type="none"/>
          </a:ln>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2400"/>
              <a:buFont typeface="Arial"/>
              <a:buNone/>
            </a:pPr>
            <a:r>
              <a:t/>
            </a:r>
            <a:endParaRPr b="1" i="0" sz="2400" u="none" cap="none" strike="noStrike">
              <a:solidFill>
                <a:srgbClr val="980000"/>
              </a:solidFill>
              <a:latin typeface="Cabin Condensed"/>
              <a:ea typeface="Cabin Condensed"/>
              <a:cs typeface="Cabin Condensed"/>
              <a:sym typeface="Cabin Condensed"/>
            </a:endParaRPr>
          </a:p>
        </p:txBody>
      </p:sp>
      <p:sp>
        <p:nvSpPr>
          <p:cNvPr id="214" name="Google Shape;214;p28"/>
          <p:cNvSpPr txBox="1"/>
          <p:nvPr>
            <p:ph type="title"/>
          </p:nvPr>
        </p:nvSpPr>
        <p:spPr>
          <a:xfrm>
            <a:off x="457200" y="548650"/>
            <a:ext cx="8229600" cy="685800"/>
          </a:xfrm>
          <a:prstGeom prst="rect">
            <a:avLst/>
          </a:prstGeom>
          <a:solidFill>
            <a:srgbClr val="304852"/>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Analyze data</a:t>
            </a:r>
            <a:endParaRPr/>
          </a:p>
        </p:txBody>
      </p:sp>
      <p:sp>
        <p:nvSpPr>
          <p:cNvPr id="215" name="Google Shape;215;p28"/>
          <p:cNvSpPr txBox="1"/>
          <p:nvPr>
            <p:ph idx="2" type="subTitle"/>
          </p:nvPr>
        </p:nvSpPr>
        <p:spPr>
          <a:xfrm>
            <a:off x="457200" y="106750"/>
            <a:ext cx="2916900" cy="458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3600"/>
              <a:buNone/>
            </a:pPr>
            <a:r>
              <a:rPr b="0" lang="en" sz="1500"/>
              <a:t>Slide N</a:t>
            </a:r>
            <a:endParaRPr b="0" sz="1500"/>
          </a:p>
        </p:txBody>
      </p:sp>
      <p:sp>
        <p:nvSpPr>
          <p:cNvPr id="216" name="Google Shape;216;p28"/>
          <p:cNvSpPr txBox="1"/>
          <p:nvPr/>
        </p:nvSpPr>
        <p:spPr>
          <a:xfrm>
            <a:off x="2242900" y="1625725"/>
            <a:ext cx="5838600" cy="6618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3100"/>
              <a:buFont typeface="Arial"/>
              <a:buNone/>
            </a:pPr>
            <a:r>
              <a:rPr b="1" i="0" lang="en" sz="3100" u="none" cap="none" strike="noStrike">
                <a:solidFill>
                  <a:srgbClr val="304852"/>
                </a:solidFill>
                <a:latin typeface="Open Sans"/>
                <a:ea typeface="Open Sans"/>
                <a:cs typeface="Open Sans"/>
                <a:sym typeface="Open Sans"/>
              </a:rPr>
              <a:t>With your class </a:t>
            </a:r>
            <a:endParaRPr b="0" i="0" sz="1900" u="none" cap="none" strike="noStrike">
              <a:solidFill>
                <a:srgbClr val="304852"/>
              </a:solidFill>
              <a:latin typeface="Open Sans"/>
              <a:ea typeface="Open Sans"/>
              <a:cs typeface="Open Sans"/>
              <a:sym typeface="Open Sans"/>
            </a:endParaRPr>
          </a:p>
        </p:txBody>
      </p:sp>
      <p:sp>
        <p:nvSpPr>
          <p:cNvPr id="217" name="Google Shape;217;p28"/>
          <p:cNvSpPr txBox="1"/>
          <p:nvPr/>
        </p:nvSpPr>
        <p:spPr>
          <a:xfrm>
            <a:off x="2228050" y="2311050"/>
            <a:ext cx="6166500" cy="2381700"/>
          </a:xfrm>
          <a:prstGeom prst="rect">
            <a:avLst/>
          </a:prstGeom>
          <a:noFill/>
          <a:ln>
            <a:noFill/>
          </a:ln>
        </p:spPr>
        <p:txBody>
          <a:bodyPr anchorCtr="0" anchor="t" bIns="91425" lIns="91425" spcFirstLastPara="1" rIns="91425" wrap="square" tIns="91425">
            <a:spAutoFit/>
          </a:bodyPr>
          <a:lstStyle/>
          <a:p>
            <a:pPr indent="-381000" lvl="0" marL="457200" marR="0" rtl="0" algn="l">
              <a:lnSpc>
                <a:spcPct val="115000"/>
              </a:lnSpc>
              <a:spcBef>
                <a:spcPts val="1000"/>
              </a:spcBef>
              <a:spcAft>
                <a:spcPts val="0"/>
              </a:spcAft>
              <a:buClr>
                <a:srgbClr val="304852"/>
              </a:buClr>
              <a:buSzPts val="2400"/>
              <a:buFont typeface="Cabin"/>
              <a:buChar char="●"/>
            </a:pPr>
            <a:r>
              <a:rPr b="0" i="0" lang="en" sz="2400" u="none" cap="none" strike="noStrike">
                <a:solidFill>
                  <a:srgbClr val="304852"/>
                </a:solidFill>
                <a:latin typeface="Cabin"/>
                <a:ea typeface="Cabin"/>
                <a:cs typeface="Cabin"/>
                <a:sym typeface="Cabin"/>
              </a:rPr>
              <a:t>Rank order the 3 collision them from where the velocity changes were the largest to the smallest</a:t>
            </a:r>
            <a:endParaRPr b="0" i="0" sz="2400" u="none" cap="none" strike="noStrike">
              <a:solidFill>
                <a:srgbClr val="304852"/>
              </a:solidFill>
              <a:latin typeface="Cabin"/>
              <a:ea typeface="Cabin"/>
              <a:cs typeface="Cabin"/>
              <a:sym typeface="Cabin"/>
            </a:endParaRPr>
          </a:p>
          <a:p>
            <a:pPr indent="-381000" lvl="0" marL="457200" marR="0" rtl="0" algn="l">
              <a:lnSpc>
                <a:spcPct val="115000"/>
              </a:lnSpc>
              <a:spcBef>
                <a:spcPts val="1000"/>
              </a:spcBef>
              <a:spcAft>
                <a:spcPts val="1000"/>
              </a:spcAft>
              <a:buClr>
                <a:srgbClr val="304852"/>
              </a:buClr>
              <a:buSzPts val="2400"/>
              <a:buFont typeface="Cabin"/>
              <a:buChar char="●"/>
            </a:pPr>
            <a:r>
              <a:rPr b="0" i="0" lang="en" sz="2400" u="none" cap="none" strike="noStrike">
                <a:solidFill>
                  <a:srgbClr val="304852"/>
                </a:solidFill>
                <a:latin typeface="Cabin"/>
                <a:ea typeface="Cabin"/>
                <a:cs typeface="Cabin"/>
                <a:sym typeface="Cabin"/>
              </a:rPr>
              <a:t>How do the magnitude of the forces on the carts compare for this ranking?</a:t>
            </a:r>
            <a:endParaRPr b="0" i="0" sz="2400" u="none" cap="none" strike="noStrike">
              <a:solidFill>
                <a:srgbClr val="304852"/>
              </a:solidFill>
              <a:latin typeface="Cabin"/>
              <a:ea typeface="Cabin"/>
              <a:cs typeface="Cabin"/>
              <a:sym typeface="Cabin"/>
            </a:endParaRPr>
          </a:p>
        </p:txBody>
      </p:sp>
      <p:sp>
        <p:nvSpPr>
          <p:cNvPr id="218" name="Google Shape;218;p28"/>
          <p:cNvSpPr txBox="1"/>
          <p:nvPr/>
        </p:nvSpPr>
        <p:spPr>
          <a:xfrm rot="-126999">
            <a:off x="6047600" y="4951875"/>
            <a:ext cx="2859151" cy="881407"/>
          </a:xfrm>
          <a:prstGeom prst="rect">
            <a:avLst/>
          </a:prstGeom>
          <a:solidFill>
            <a:srgbClr val="FFFFFF"/>
          </a:solidFill>
          <a:ln cap="flat" cmpd="sng" w="9525">
            <a:solidFill>
              <a:srgbClr val="304852"/>
            </a:solidFill>
            <a:prstDash val="solid"/>
            <a:round/>
            <a:headEnd len="sm" w="sm" type="none"/>
            <a:tailEnd len="sm" w="sm" type="none"/>
          </a:ln>
          <a:effectLst>
            <a:outerShdw blurRad="57150" rotWithShape="0" algn="bl" dir="5400000" dist="19050">
              <a:srgbClr val="000000">
                <a:alpha val="49411"/>
              </a:srgbClr>
            </a:outerShdw>
          </a:effectLst>
        </p:spPr>
        <p:txBody>
          <a:bodyPr anchorCtr="0" anchor="t" bIns="91425" lIns="91425" spcFirstLastPara="1" rIns="91425" wrap="square" tIns="91425">
            <a:noAutofit/>
          </a:bodyPr>
          <a:lstStyle/>
          <a:p>
            <a:pPr indent="-368300" lvl="0" marL="457200" marR="0" rtl="0" algn="l">
              <a:lnSpc>
                <a:spcPct val="100000"/>
              </a:lnSpc>
              <a:spcBef>
                <a:spcPts val="0"/>
              </a:spcBef>
              <a:spcAft>
                <a:spcPts val="0"/>
              </a:spcAft>
              <a:buClr>
                <a:srgbClr val="304852"/>
              </a:buClr>
              <a:buSzPts val="2200"/>
              <a:buFont typeface="Cabin Condensed"/>
              <a:buChar char="➔"/>
            </a:pPr>
            <a:r>
              <a:rPr b="0" i="0" lang="en" sz="2200" u="none" cap="none" strike="noStrike">
                <a:solidFill>
                  <a:srgbClr val="304852"/>
                </a:solidFill>
                <a:latin typeface="Cabin Condensed"/>
                <a:ea typeface="Cabin Condensed"/>
                <a:cs typeface="Cabin Condensed"/>
                <a:sym typeface="Cabin Condensed"/>
              </a:rPr>
              <a:t>Be ready to share with the whole class.</a:t>
            </a:r>
            <a:endParaRPr b="0" i="0" sz="2200" u="none" cap="none" strike="noStrike">
              <a:solidFill>
                <a:srgbClr val="304852"/>
              </a:solidFill>
              <a:latin typeface="Cabin Condensed"/>
              <a:ea typeface="Cabin Condensed"/>
              <a:cs typeface="Cabin Condensed"/>
              <a:sym typeface="Cabin Condensed"/>
            </a:endParaRPr>
          </a:p>
        </p:txBody>
      </p:sp>
      <p:pic>
        <p:nvPicPr>
          <p:cNvPr id="219" name="Google Shape;219;p28"/>
          <p:cNvPicPr preferRelativeResize="0"/>
          <p:nvPr/>
        </p:nvPicPr>
        <p:blipFill rotWithShape="1">
          <a:blip r:embed="rId3">
            <a:alphaModFix/>
          </a:blip>
          <a:srcRect b="0" l="0" r="0" t="0"/>
          <a:stretch/>
        </p:blipFill>
        <p:spPr>
          <a:xfrm>
            <a:off x="820348" y="1782650"/>
            <a:ext cx="1168390" cy="11913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29"/>
          <p:cNvSpPr/>
          <p:nvPr/>
        </p:nvSpPr>
        <p:spPr>
          <a:xfrm>
            <a:off x="457200" y="3821450"/>
            <a:ext cx="8229600" cy="2246100"/>
          </a:xfrm>
          <a:prstGeom prst="rect">
            <a:avLst/>
          </a:prstGeom>
          <a:solidFill>
            <a:srgbClr val="EBF0F2"/>
          </a:solidFill>
          <a:ln cap="flat" cmpd="sng" w="19050">
            <a:solidFill>
              <a:srgbClr val="304852"/>
            </a:solidFill>
            <a:prstDash val="solid"/>
            <a:round/>
            <a:headEnd len="sm" w="sm" type="none"/>
            <a:tailEnd len="sm" w="sm" type="none"/>
          </a:ln>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2400"/>
              <a:buFont typeface="Arial"/>
              <a:buNone/>
            </a:pPr>
            <a:r>
              <a:t/>
            </a:r>
            <a:endParaRPr b="1" i="0" sz="2400" u="none" cap="none" strike="noStrike">
              <a:solidFill>
                <a:srgbClr val="980000"/>
              </a:solidFill>
              <a:latin typeface="Cabin Condensed"/>
              <a:ea typeface="Cabin Condensed"/>
              <a:cs typeface="Cabin Condensed"/>
              <a:sym typeface="Cabin Condensed"/>
            </a:endParaRPr>
          </a:p>
        </p:txBody>
      </p:sp>
      <p:sp>
        <p:nvSpPr>
          <p:cNvPr id="225" name="Google Shape;225;p29"/>
          <p:cNvSpPr txBox="1"/>
          <p:nvPr>
            <p:ph type="title"/>
          </p:nvPr>
        </p:nvSpPr>
        <p:spPr>
          <a:xfrm>
            <a:off x="457200" y="548650"/>
            <a:ext cx="8229600" cy="685800"/>
          </a:xfrm>
          <a:prstGeom prst="rect">
            <a:avLst/>
          </a:prstGeom>
          <a:solidFill>
            <a:srgbClr val="304852"/>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Develop Initial Explanations</a:t>
            </a:r>
            <a:endParaRPr/>
          </a:p>
        </p:txBody>
      </p:sp>
      <p:sp>
        <p:nvSpPr>
          <p:cNvPr id="226" name="Google Shape;226;p29"/>
          <p:cNvSpPr txBox="1"/>
          <p:nvPr>
            <p:ph idx="2" type="subTitle"/>
          </p:nvPr>
        </p:nvSpPr>
        <p:spPr>
          <a:xfrm>
            <a:off x="457200" y="106750"/>
            <a:ext cx="2916900" cy="458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3600"/>
              <a:buNone/>
            </a:pPr>
            <a:r>
              <a:rPr b="0" lang="en" sz="1500"/>
              <a:t>Slide O</a:t>
            </a:r>
            <a:endParaRPr b="0" sz="1500"/>
          </a:p>
        </p:txBody>
      </p:sp>
      <p:pic>
        <p:nvPicPr>
          <p:cNvPr id="227" name="Google Shape;227;p29"/>
          <p:cNvPicPr preferRelativeResize="0"/>
          <p:nvPr/>
        </p:nvPicPr>
        <p:blipFill rotWithShape="1">
          <a:blip r:embed="rId3">
            <a:alphaModFix/>
          </a:blip>
          <a:srcRect b="0" l="0" r="0" t="0"/>
          <a:stretch/>
        </p:blipFill>
        <p:spPr>
          <a:xfrm>
            <a:off x="667948" y="4144850"/>
            <a:ext cx="1168390" cy="1191300"/>
          </a:xfrm>
          <a:prstGeom prst="rect">
            <a:avLst/>
          </a:prstGeom>
          <a:noFill/>
          <a:ln>
            <a:noFill/>
          </a:ln>
        </p:spPr>
      </p:pic>
      <p:sp>
        <p:nvSpPr>
          <p:cNvPr id="228" name="Google Shape;228;p29"/>
          <p:cNvSpPr txBox="1"/>
          <p:nvPr/>
        </p:nvSpPr>
        <p:spPr>
          <a:xfrm>
            <a:off x="2242900" y="3987925"/>
            <a:ext cx="5838600" cy="10851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3000"/>
              <a:buFont typeface="Arial"/>
              <a:buNone/>
            </a:pPr>
            <a:r>
              <a:rPr b="1" i="0" lang="en" sz="3000" u="none" cap="none" strike="noStrike">
                <a:solidFill>
                  <a:srgbClr val="304852"/>
                </a:solidFill>
                <a:latin typeface="Open Sans"/>
                <a:ea typeface="Open Sans"/>
                <a:cs typeface="Open Sans"/>
                <a:sym typeface="Open Sans"/>
              </a:rPr>
              <a:t>With your class</a:t>
            </a:r>
            <a:endParaRPr b="1" i="0" sz="3000" u="none" cap="none" strike="noStrike">
              <a:solidFill>
                <a:srgbClr val="304852"/>
              </a:solidFill>
              <a:latin typeface="Open Sans"/>
              <a:ea typeface="Open Sans"/>
              <a:cs typeface="Open Sans"/>
              <a:sym typeface="Open Sans"/>
            </a:endParaRPr>
          </a:p>
          <a:p>
            <a:pPr indent="0" lvl="0" marL="457200" marR="0" rtl="0" algn="l">
              <a:lnSpc>
                <a:spcPct val="115000"/>
              </a:lnSpc>
              <a:spcBef>
                <a:spcPts val="0"/>
              </a:spcBef>
              <a:spcAft>
                <a:spcPts val="0"/>
              </a:spcAft>
              <a:buClr>
                <a:srgbClr val="000000"/>
              </a:buClr>
              <a:buSzPts val="2400"/>
              <a:buFont typeface="Arial"/>
              <a:buNone/>
            </a:pPr>
            <a:r>
              <a:t/>
            </a:r>
            <a:endParaRPr b="0" i="0" sz="2400" u="none" cap="none" strike="noStrike">
              <a:solidFill>
                <a:srgbClr val="304852"/>
              </a:solidFill>
              <a:latin typeface="Cabin"/>
              <a:ea typeface="Cabin"/>
              <a:cs typeface="Cabin"/>
              <a:sym typeface="Cabin"/>
            </a:endParaRPr>
          </a:p>
        </p:txBody>
      </p:sp>
      <p:sp>
        <p:nvSpPr>
          <p:cNvPr id="229" name="Google Shape;229;p29"/>
          <p:cNvSpPr txBox="1"/>
          <p:nvPr/>
        </p:nvSpPr>
        <p:spPr>
          <a:xfrm>
            <a:off x="2228050" y="4673250"/>
            <a:ext cx="6166500" cy="9789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1000"/>
              </a:spcAft>
              <a:buClr>
                <a:srgbClr val="000000"/>
              </a:buClr>
              <a:buSzPts val="2400"/>
              <a:buFont typeface="Arial"/>
              <a:buNone/>
            </a:pPr>
            <a:r>
              <a:rPr b="0" i="0" lang="en" sz="2400" u="none" cap="none" strike="noStrike">
                <a:solidFill>
                  <a:srgbClr val="304852"/>
                </a:solidFill>
                <a:latin typeface="Cabin"/>
                <a:ea typeface="Cabin"/>
                <a:cs typeface="Cabin"/>
                <a:sym typeface="Cabin"/>
              </a:rPr>
              <a:t>What is happening during every collision that is causing this symmetry in outcomes?</a:t>
            </a:r>
            <a:endParaRPr b="0" i="0" sz="2100" u="none" cap="none" strike="noStrike">
              <a:solidFill>
                <a:srgbClr val="000000"/>
              </a:solidFill>
              <a:latin typeface="Arial"/>
              <a:ea typeface="Arial"/>
              <a:cs typeface="Arial"/>
              <a:sym typeface="Arial"/>
            </a:endParaRPr>
          </a:p>
        </p:txBody>
      </p:sp>
      <p:sp>
        <p:nvSpPr>
          <p:cNvPr id="230" name="Google Shape;230;p29"/>
          <p:cNvSpPr txBox="1"/>
          <p:nvPr/>
        </p:nvSpPr>
        <p:spPr>
          <a:xfrm>
            <a:off x="390525" y="1381125"/>
            <a:ext cx="8296200" cy="2337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000"/>
              </a:spcBef>
              <a:spcAft>
                <a:spcPts val="0"/>
              </a:spcAft>
              <a:buClr>
                <a:srgbClr val="000000"/>
              </a:buClr>
              <a:buSzPts val="2200"/>
              <a:buFont typeface="Arial"/>
              <a:buNone/>
            </a:pPr>
            <a:r>
              <a:rPr b="0" i="0" lang="en" sz="2200" u="none" cap="none" strike="noStrike">
                <a:solidFill>
                  <a:srgbClr val="304852"/>
                </a:solidFill>
                <a:latin typeface="Cabin"/>
                <a:ea typeface="Cabin"/>
                <a:cs typeface="Cabin"/>
                <a:sym typeface="Cabin"/>
              </a:rPr>
              <a:t>In each collision:</a:t>
            </a:r>
            <a:endParaRPr b="0" i="0" sz="2200" u="none" cap="none" strike="noStrike">
              <a:solidFill>
                <a:srgbClr val="304852"/>
              </a:solidFill>
              <a:latin typeface="Cabin"/>
              <a:ea typeface="Cabin"/>
              <a:cs typeface="Cabin"/>
              <a:sym typeface="Cabin"/>
            </a:endParaRPr>
          </a:p>
          <a:p>
            <a:pPr indent="-368300" lvl="0" marL="457200" marR="0" rtl="0" algn="l">
              <a:lnSpc>
                <a:spcPct val="115000"/>
              </a:lnSpc>
              <a:spcBef>
                <a:spcPts val="1000"/>
              </a:spcBef>
              <a:spcAft>
                <a:spcPts val="0"/>
              </a:spcAft>
              <a:buClr>
                <a:srgbClr val="304852"/>
              </a:buClr>
              <a:buSzPts val="2200"/>
              <a:buFont typeface="Cabin"/>
              <a:buChar char="●"/>
            </a:pPr>
            <a:r>
              <a:rPr b="0" i="0" lang="en" sz="2200" u="none" cap="none" strike="noStrike">
                <a:solidFill>
                  <a:srgbClr val="304852"/>
                </a:solidFill>
                <a:latin typeface="Cabin"/>
                <a:ea typeface="Cabin"/>
                <a:cs typeface="Cabin"/>
                <a:sym typeface="Cabin"/>
              </a:rPr>
              <a:t>The magnitude (size) of the forces on both carts were equal to each other across every point in time.</a:t>
            </a:r>
            <a:endParaRPr b="0" i="0" sz="2200" u="none" cap="none" strike="noStrike">
              <a:solidFill>
                <a:srgbClr val="304852"/>
              </a:solidFill>
              <a:latin typeface="Cabin"/>
              <a:ea typeface="Cabin"/>
              <a:cs typeface="Cabin"/>
              <a:sym typeface="Cabin"/>
            </a:endParaRPr>
          </a:p>
          <a:p>
            <a:pPr indent="-368300" lvl="0" marL="457200" marR="0" rtl="0" algn="l">
              <a:lnSpc>
                <a:spcPct val="115000"/>
              </a:lnSpc>
              <a:spcBef>
                <a:spcPts val="1000"/>
              </a:spcBef>
              <a:spcAft>
                <a:spcPts val="1000"/>
              </a:spcAft>
              <a:buClr>
                <a:srgbClr val="304852"/>
              </a:buClr>
              <a:buSzPts val="2200"/>
              <a:buFont typeface="Cabin"/>
              <a:buChar char="●"/>
            </a:pPr>
            <a:r>
              <a:rPr b="0" i="0" lang="en" sz="2200" u="none" cap="none" strike="noStrike">
                <a:solidFill>
                  <a:srgbClr val="304852"/>
                </a:solidFill>
                <a:latin typeface="Cabin"/>
                <a:ea typeface="Cabin"/>
                <a:cs typeface="Cabin"/>
                <a:sym typeface="Cabin"/>
              </a:rPr>
              <a:t>The magnitude (size) of the velocity changes for both carts were equal.</a:t>
            </a:r>
            <a:endParaRPr b="0" i="0" sz="2200" u="none" cap="none" strike="noStrike">
              <a:solidFill>
                <a:srgbClr val="304852"/>
              </a:solidFill>
              <a:latin typeface="Cabin"/>
              <a:ea typeface="Cabin"/>
              <a:cs typeface="Cabin"/>
              <a:sym typeface="Cabi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0"/>
          <p:cNvSpPr/>
          <p:nvPr/>
        </p:nvSpPr>
        <p:spPr>
          <a:xfrm>
            <a:off x="457200" y="1505525"/>
            <a:ext cx="8229600" cy="5022300"/>
          </a:xfrm>
          <a:prstGeom prst="rect">
            <a:avLst/>
          </a:prstGeom>
          <a:solidFill>
            <a:srgbClr val="EBF0F2"/>
          </a:solidFill>
          <a:ln cap="flat" cmpd="sng" w="19050">
            <a:solidFill>
              <a:srgbClr val="304852"/>
            </a:solidFill>
            <a:prstDash val="solid"/>
            <a:round/>
            <a:headEnd len="sm" w="sm" type="none"/>
            <a:tailEnd len="sm" w="sm" type="none"/>
          </a:ln>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2400"/>
              <a:buFont typeface="Arial"/>
              <a:buNone/>
            </a:pPr>
            <a:r>
              <a:t/>
            </a:r>
            <a:endParaRPr b="1" i="0" sz="2400" u="none" cap="none" strike="noStrike">
              <a:solidFill>
                <a:srgbClr val="980000"/>
              </a:solidFill>
              <a:latin typeface="Cabin Condensed"/>
              <a:ea typeface="Cabin Condensed"/>
              <a:cs typeface="Cabin Condensed"/>
              <a:sym typeface="Cabin Condensed"/>
            </a:endParaRPr>
          </a:p>
        </p:txBody>
      </p:sp>
      <p:sp>
        <p:nvSpPr>
          <p:cNvPr id="236" name="Google Shape;236;p30"/>
          <p:cNvSpPr txBox="1"/>
          <p:nvPr>
            <p:ph type="title"/>
          </p:nvPr>
        </p:nvSpPr>
        <p:spPr>
          <a:xfrm>
            <a:off x="457200" y="548650"/>
            <a:ext cx="8229600" cy="685800"/>
          </a:xfrm>
          <a:prstGeom prst="rect">
            <a:avLst/>
          </a:prstGeom>
          <a:solidFill>
            <a:srgbClr val="304852"/>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Make Predictions</a:t>
            </a:r>
            <a:endParaRPr/>
          </a:p>
        </p:txBody>
      </p:sp>
      <p:sp>
        <p:nvSpPr>
          <p:cNvPr id="237" name="Google Shape;237;p30"/>
          <p:cNvSpPr txBox="1"/>
          <p:nvPr>
            <p:ph idx="2" type="subTitle"/>
          </p:nvPr>
        </p:nvSpPr>
        <p:spPr>
          <a:xfrm>
            <a:off x="457200" y="106750"/>
            <a:ext cx="2916900" cy="458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3600"/>
              <a:buNone/>
            </a:pPr>
            <a:r>
              <a:rPr b="0" lang="en" sz="1500"/>
              <a:t>Slide P</a:t>
            </a:r>
            <a:endParaRPr b="0" sz="1500"/>
          </a:p>
        </p:txBody>
      </p:sp>
      <p:sp>
        <p:nvSpPr>
          <p:cNvPr id="238" name="Google Shape;238;p30"/>
          <p:cNvSpPr txBox="1"/>
          <p:nvPr/>
        </p:nvSpPr>
        <p:spPr>
          <a:xfrm>
            <a:off x="2235775" y="2083725"/>
            <a:ext cx="6374700" cy="9789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1000"/>
              </a:spcAft>
              <a:buClr>
                <a:srgbClr val="000000"/>
              </a:buClr>
              <a:buSzPts val="2400"/>
              <a:buFont typeface="Arial"/>
              <a:buNone/>
            </a:pPr>
            <a:r>
              <a:rPr b="0" i="0" lang="en" sz="2400" u="none" cap="none" strike="noStrike">
                <a:solidFill>
                  <a:srgbClr val="304852"/>
                </a:solidFill>
                <a:latin typeface="Cabin"/>
                <a:ea typeface="Cabin"/>
                <a:cs typeface="Cabin"/>
                <a:sym typeface="Cabin"/>
              </a:rPr>
              <a:t>Record your predictions for the 3 collision listed below on a new sheet for your notebook.</a:t>
            </a:r>
            <a:endParaRPr b="0" i="0" sz="2300" u="none" cap="none" strike="noStrike">
              <a:solidFill>
                <a:srgbClr val="000000"/>
              </a:solidFill>
              <a:latin typeface="Cabin"/>
              <a:ea typeface="Cabin"/>
              <a:cs typeface="Cabin"/>
              <a:sym typeface="Cabin"/>
            </a:endParaRPr>
          </a:p>
        </p:txBody>
      </p:sp>
      <p:sp>
        <p:nvSpPr>
          <p:cNvPr id="239" name="Google Shape;239;p30"/>
          <p:cNvSpPr txBox="1"/>
          <p:nvPr/>
        </p:nvSpPr>
        <p:spPr>
          <a:xfrm>
            <a:off x="739575" y="4088200"/>
            <a:ext cx="8586300" cy="554100"/>
          </a:xfrm>
          <a:prstGeom prst="rect">
            <a:avLst/>
          </a:prstGeom>
          <a:noFill/>
          <a:ln>
            <a:noFill/>
          </a:ln>
        </p:spPr>
        <p:txBody>
          <a:bodyPr anchorCtr="0" anchor="t" bIns="91425" lIns="91425" spcFirstLastPara="1" rIns="91425" wrap="square" tIns="91425">
            <a:spAutoFit/>
          </a:bodyPr>
          <a:lstStyle/>
          <a:p>
            <a:pPr indent="-381000" lvl="0" marL="457200" marR="0" rtl="0" algn="l">
              <a:lnSpc>
                <a:spcPct val="115000"/>
              </a:lnSpc>
              <a:spcBef>
                <a:spcPts val="0"/>
              </a:spcBef>
              <a:spcAft>
                <a:spcPts val="0"/>
              </a:spcAft>
              <a:buClr>
                <a:srgbClr val="304852"/>
              </a:buClr>
              <a:buSzPts val="2400"/>
              <a:buFont typeface="Cabin"/>
              <a:buChar char="●"/>
            </a:pPr>
            <a:r>
              <a:rPr b="1" i="0" lang="en" sz="2400" u="none" cap="none" strike="noStrike">
                <a:solidFill>
                  <a:srgbClr val="304852"/>
                </a:solidFill>
                <a:latin typeface="Cabin"/>
                <a:ea typeface="Cabin"/>
                <a:cs typeface="Cabin"/>
                <a:sym typeface="Cabin"/>
              </a:rPr>
              <a:t>Collision D:</a:t>
            </a:r>
            <a:r>
              <a:rPr b="0" i="0" lang="en" sz="2400" u="none" cap="none" strike="noStrike">
                <a:solidFill>
                  <a:srgbClr val="304852"/>
                </a:solidFill>
                <a:latin typeface="Cabin"/>
                <a:ea typeface="Cabin"/>
                <a:cs typeface="Cabin"/>
                <a:sym typeface="Cabin"/>
              </a:rPr>
              <a:t>  we will double the mass of both carts.</a:t>
            </a:r>
            <a:endParaRPr b="0" i="0" sz="1400" u="none" cap="none" strike="noStrike">
              <a:solidFill>
                <a:srgbClr val="000000"/>
              </a:solidFill>
              <a:latin typeface="Arial"/>
              <a:ea typeface="Arial"/>
              <a:cs typeface="Arial"/>
              <a:sym typeface="Arial"/>
            </a:endParaRPr>
          </a:p>
        </p:txBody>
      </p:sp>
      <p:sp>
        <p:nvSpPr>
          <p:cNvPr id="240" name="Google Shape;240;p30"/>
          <p:cNvSpPr txBox="1"/>
          <p:nvPr/>
        </p:nvSpPr>
        <p:spPr>
          <a:xfrm>
            <a:off x="2192824" y="1590525"/>
            <a:ext cx="27429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500"/>
              <a:buFont typeface="Arial"/>
              <a:buNone/>
            </a:pPr>
            <a:r>
              <a:rPr b="1" i="0" lang="en" sz="2500" u="none" cap="none" strike="noStrike">
                <a:solidFill>
                  <a:srgbClr val="304852"/>
                </a:solidFill>
                <a:latin typeface="Open Sans"/>
                <a:ea typeface="Open Sans"/>
                <a:cs typeface="Open Sans"/>
                <a:sym typeface="Open Sans"/>
              </a:rPr>
              <a:t>On Your Own </a:t>
            </a:r>
            <a:endParaRPr b="0" i="0" sz="2500" u="none" cap="none" strike="noStrike">
              <a:solidFill>
                <a:srgbClr val="304852"/>
              </a:solidFill>
              <a:latin typeface="Cabin"/>
              <a:ea typeface="Cabin"/>
              <a:cs typeface="Cabin"/>
              <a:sym typeface="Cabin"/>
            </a:endParaRPr>
          </a:p>
        </p:txBody>
      </p:sp>
      <p:pic>
        <p:nvPicPr>
          <p:cNvPr id="241" name="Google Shape;241;p30"/>
          <p:cNvPicPr preferRelativeResize="0"/>
          <p:nvPr/>
        </p:nvPicPr>
        <p:blipFill rotWithShape="1">
          <a:blip r:embed="rId3">
            <a:alphaModFix/>
          </a:blip>
          <a:srcRect b="0" l="0" r="0" t="0"/>
          <a:stretch/>
        </p:blipFill>
        <p:spPr>
          <a:xfrm>
            <a:off x="868400" y="1687200"/>
            <a:ext cx="865050" cy="1023375"/>
          </a:xfrm>
          <a:prstGeom prst="rect">
            <a:avLst/>
          </a:prstGeom>
          <a:noFill/>
          <a:ln>
            <a:noFill/>
          </a:ln>
        </p:spPr>
      </p:pic>
      <p:sp>
        <p:nvSpPr>
          <p:cNvPr id="242" name="Google Shape;242;p30"/>
          <p:cNvSpPr txBox="1"/>
          <p:nvPr/>
        </p:nvSpPr>
        <p:spPr>
          <a:xfrm>
            <a:off x="716000" y="4563125"/>
            <a:ext cx="7725600" cy="1828500"/>
          </a:xfrm>
          <a:prstGeom prst="rect">
            <a:avLst/>
          </a:prstGeom>
          <a:noFill/>
          <a:ln>
            <a:noFill/>
          </a:ln>
        </p:spPr>
        <p:txBody>
          <a:bodyPr anchorCtr="0" anchor="t" bIns="91425" lIns="91425" spcFirstLastPara="1" rIns="91425" wrap="square" tIns="91425">
            <a:spAutoFit/>
          </a:bodyPr>
          <a:lstStyle/>
          <a:p>
            <a:pPr indent="-381000" lvl="0" marL="457200" marR="0" rtl="0" algn="l">
              <a:lnSpc>
                <a:spcPct val="115000"/>
              </a:lnSpc>
              <a:spcBef>
                <a:spcPts val="0"/>
              </a:spcBef>
              <a:spcAft>
                <a:spcPts val="0"/>
              </a:spcAft>
              <a:buClr>
                <a:srgbClr val="304852"/>
              </a:buClr>
              <a:buSzPts val="2400"/>
              <a:buFont typeface="Cabin"/>
              <a:buChar char="●"/>
            </a:pPr>
            <a:r>
              <a:rPr b="1" i="0" lang="en" sz="2400" u="none" cap="none" strike="noStrike">
                <a:solidFill>
                  <a:srgbClr val="304852"/>
                </a:solidFill>
                <a:latin typeface="Cabin"/>
                <a:ea typeface="Cabin"/>
                <a:cs typeface="Cabin"/>
                <a:sym typeface="Cabin"/>
              </a:rPr>
              <a:t>Collision E:</a:t>
            </a:r>
            <a:r>
              <a:rPr b="0" i="0" lang="en" sz="2400" u="none" cap="none" strike="noStrike">
                <a:solidFill>
                  <a:srgbClr val="304852"/>
                </a:solidFill>
                <a:latin typeface="Cabin"/>
                <a:ea typeface="Cabin"/>
                <a:cs typeface="Cabin"/>
                <a:sym typeface="Cabin"/>
              </a:rPr>
              <a:t>  we will double the mass of the green (left) cart but not the blue (right) cart.</a:t>
            </a:r>
            <a:endParaRPr b="0" i="0" sz="2400" u="none" cap="none" strike="noStrike">
              <a:solidFill>
                <a:srgbClr val="304852"/>
              </a:solidFill>
              <a:latin typeface="Cabin"/>
              <a:ea typeface="Cabin"/>
              <a:cs typeface="Cabin"/>
              <a:sym typeface="Cabin"/>
            </a:endParaRPr>
          </a:p>
          <a:p>
            <a:pPr indent="-381000" lvl="0" marL="457200" marR="0" rtl="0" algn="l">
              <a:lnSpc>
                <a:spcPct val="115000"/>
              </a:lnSpc>
              <a:spcBef>
                <a:spcPts val="0"/>
              </a:spcBef>
              <a:spcAft>
                <a:spcPts val="0"/>
              </a:spcAft>
              <a:buClr>
                <a:srgbClr val="304852"/>
              </a:buClr>
              <a:buSzPts val="2400"/>
              <a:buFont typeface="Cabin"/>
              <a:buChar char="●"/>
            </a:pPr>
            <a:r>
              <a:rPr b="1" i="0" lang="en" sz="2400" u="none" cap="none" strike="noStrike">
                <a:solidFill>
                  <a:srgbClr val="304852"/>
                </a:solidFill>
                <a:latin typeface="Cabin"/>
                <a:ea typeface="Cabin"/>
                <a:cs typeface="Cabin"/>
                <a:sym typeface="Cabin"/>
              </a:rPr>
              <a:t>Collision F:</a:t>
            </a:r>
            <a:r>
              <a:rPr b="0" i="0" lang="en" sz="2400" u="none" cap="none" strike="noStrike">
                <a:solidFill>
                  <a:srgbClr val="304852"/>
                </a:solidFill>
                <a:latin typeface="Cabin"/>
                <a:ea typeface="Cabin"/>
                <a:cs typeface="Cabin"/>
                <a:sym typeface="Cabin"/>
              </a:rPr>
              <a:t>  we will double the mass of the blue (right) cart but not the green (left) cart.</a:t>
            </a:r>
            <a:endParaRPr b="0" i="0" sz="2400" u="none" cap="none" strike="noStrike">
              <a:solidFill>
                <a:srgbClr val="304852"/>
              </a:solidFill>
              <a:latin typeface="Cabin"/>
              <a:ea typeface="Cabin"/>
              <a:cs typeface="Cabin"/>
              <a:sym typeface="Cabin"/>
            </a:endParaRPr>
          </a:p>
        </p:txBody>
      </p:sp>
      <p:sp>
        <p:nvSpPr>
          <p:cNvPr id="243" name="Google Shape;243;p30"/>
          <p:cNvSpPr txBox="1"/>
          <p:nvPr/>
        </p:nvSpPr>
        <p:spPr>
          <a:xfrm>
            <a:off x="685425" y="3109300"/>
            <a:ext cx="7390500" cy="9789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1000"/>
              </a:spcAft>
              <a:buClr>
                <a:srgbClr val="000000"/>
              </a:buClr>
              <a:buSzPts val="2400"/>
              <a:buFont typeface="Arial"/>
              <a:buNone/>
            </a:pPr>
            <a:r>
              <a:rPr b="0" i="1" lang="en" sz="2400" u="none" cap="none" strike="noStrike">
                <a:solidFill>
                  <a:srgbClr val="304852"/>
                </a:solidFill>
                <a:latin typeface="Cabin"/>
                <a:ea typeface="Cabin"/>
                <a:cs typeface="Cabin"/>
                <a:sym typeface="Cabin"/>
              </a:rPr>
              <a:t>We will keep the initial velocities of the carts the same as in Collision A and change only the mass of the carts.</a:t>
            </a:r>
            <a:endParaRPr b="0" i="1"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1"/>
          <p:cNvSpPr/>
          <p:nvPr/>
        </p:nvSpPr>
        <p:spPr>
          <a:xfrm>
            <a:off x="457200" y="1394450"/>
            <a:ext cx="8229600" cy="5262300"/>
          </a:xfrm>
          <a:prstGeom prst="rect">
            <a:avLst/>
          </a:prstGeom>
          <a:solidFill>
            <a:srgbClr val="EBF0F2"/>
          </a:solidFill>
          <a:ln cap="flat" cmpd="sng" w="19050">
            <a:solidFill>
              <a:srgbClr val="30485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1" i="0" sz="2400" u="none" cap="none" strike="noStrike">
              <a:solidFill>
                <a:srgbClr val="980000"/>
              </a:solidFill>
              <a:latin typeface="Cabin Condensed"/>
              <a:ea typeface="Cabin Condensed"/>
              <a:cs typeface="Cabin Condensed"/>
              <a:sym typeface="Cabin Condensed"/>
            </a:endParaRPr>
          </a:p>
        </p:txBody>
      </p:sp>
      <p:sp>
        <p:nvSpPr>
          <p:cNvPr id="249" name="Google Shape;249;p31"/>
          <p:cNvSpPr txBox="1"/>
          <p:nvPr>
            <p:ph type="title"/>
          </p:nvPr>
        </p:nvSpPr>
        <p:spPr>
          <a:xfrm>
            <a:off x="457200" y="548650"/>
            <a:ext cx="8229600" cy="685800"/>
          </a:xfrm>
          <a:prstGeom prst="rect">
            <a:avLst/>
          </a:prstGeom>
          <a:solidFill>
            <a:srgbClr val="304852"/>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Analyze Data</a:t>
            </a:r>
            <a:endParaRPr/>
          </a:p>
        </p:txBody>
      </p:sp>
      <p:sp>
        <p:nvSpPr>
          <p:cNvPr id="250" name="Google Shape;250;p31"/>
          <p:cNvSpPr txBox="1"/>
          <p:nvPr>
            <p:ph idx="2" type="subTitle"/>
          </p:nvPr>
        </p:nvSpPr>
        <p:spPr>
          <a:xfrm>
            <a:off x="457200" y="106750"/>
            <a:ext cx="2916900" cy="458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3600"/>
              <a:buNone/>
            </a:pPr>
            <a:r>
              <a:rPr b="0" lang="en" sz="1500"/>
              <a:t>Slide Q</a:t>
            </a:r>
            <a:endParaRPr b="0" sz="1500"/>
          </a:p>
        </p:txBody>
      </p:sp>
      <p:sp>
        <p:nvSpPr>
          <p:cNvPr id="251" name="Google Shape;251;p31"/>
          <p:cNvSpPr txBox="1"/>
          <p:nvPr/>
        </p:nvSpPr>
        <p:spPr>
          <a:xfrm>
            <a:off x="1952850" y="1591325"/>
            <a:ext cx="6618000" cy="40410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3200"/>
              <a:buFont typeface="Arial"/>
              <a:buNone/>
            </a:pPr>
            <a:r>
              <a:rPr b="1" i="0" lang="en" sz="3200" u="none" cap="none" strike="noStrike">
                <a:solidFill>
                  <a:srgbClr val="304852"/>
                </a:solidFill>
                <a:latin typeface="Open Sans"/>
                <a:ea typeface="Open Sans"/>
                <a:cs typeface="Open Sans"/>
                <a:sym typeface="Open Sans"/>
              </a:rPr>
              <a:t>With A Partner</a:t>
            </a:r>
            <a:endParaRPr b="0" i="0" sz="2000" u="none" cap="none" strike="noStrike">
              <a:solidFill>
                <a:srgbClr val="304852"/>
              </a:solidFill>
              <a:latin typeface="Cabin"/>
              <a:ea typeface="Cabin"/>
              <a:cs typeface="Cabin"/>
              <a:sym typeface="Cabin"/>
            </a:endParaRPr>
          </a:p>
          <a:p>
            <a:pPr indent="-381000" lvl="0" marL="457200" marR="0" rtl="0" algn="l">
              <a:lnSpc>
                <a:spcPct val="115000"/>
              </a:lnSpc>
              <a:spcBef>
                <a:spcPts val="1000"/>
              </a:spcBef>
              <a:spcAft>
                <a:spcPts val="0"/>
              </a:spcAft>
              <a:buClr>
                <a:srgbClr val="304852"/>
              </a:buClr>
              <a:buSzPts val="2400"/>
              <a:buFont typeface="Cabin"/>
              <a:buChar char="●"/>
            </a:pPr>
            <a:r>
              <a:rPr b="0" i="0" lang="en" sz="2600" u="none" cap="none" strike="noStrike">
                <a:solidFill>
                  <a:srgbClr val="304852"/>
                </a:solidFill>
                <a:latin typeface="Cabin"/>
                <a:ea typeface="Cabin"/>
                <a:cs typeface="Cabin"/>
                <a:sym typeface="Cabin"/>
              </a:rPr>
              <a:t>Watch the </a:t>
            </a:r>
            <a:r>
              <a:rPr b="0" i="0" lang="en" sz="2600" u="sng" cap="none" strike="noStrike">
                <a:solidFill>
                  <a:schemeClr val="hlink"/>
                </a:solidFill>
                <a:latin typeface="Cabin"/>
                <a:ea typeface="Cabin"/>
                <a:cs typeface="Cabin"/>
                <a:sym typeface="Cabin"/>
                <a:hlinkClick r:id="rId3"/>
              </a:rPr>
              <a:t>video</a:t>
            </a:r>
            <a:r>
              <a:rPr b="0" i="0" lang="en" sz="2500" u="sng" cap="none" strike="noStrike">
                <a:solidFill>
                  <a:schemeClr val="hlink"/>
                </a:solidFill>
                <a:latin typeface="Cabin"/>
                <a:ea typeface="Cabin"/>
                <a:cs typeface="Cabin"/>
                <a:sym typeface="Cabin"/>
                <a:hlinkClick r:id="rId4"/>
              </a:rPr>
              <a:t> </a:t>
            </a:r>
            <a:r>
              <a:rPr b="0" i="0" lang="en" sz="2600" u="sng" cap="none" strike="noStrike">
                <a:solidFill>
                  <a:schemeClr val="hlink"/>
                </a:solidFill>
                <a:latin typeface="Cabin"/>
                <a:ea typeface="Cabin"/>
                <a:cs typeface="Cabin"/>
                <a:sym typeface="Cabin"/>
                <a:hlinkClick r:id="rId5"/>
              </a:rPr>
              <a:t>of collisions D, E, &amp; F</a:t>
            </a:r>
            <a:endParaRPr b="0" i="0" sz="2600" u="none" cap="none" strike="noStrike">
              <a:solidFill>
                <a:srgbClr val="304852"/>
              </a:solidFill>
              <a:latin typeface="Cabin"/>
              <a:ea typeface="Cabin"/>
              <a:cs typeface="Cabin"/>
              <a:sym typeface="Cabin"/>
            </a:endParaRPr>
          </a:p>
          <a:p>
            <a:pPr indent="-393700" lvl="0" marL="457200" marR="0" rtl="0" algn="l">
              <a:lnSpc>
                <a:spcPct val="115000"/>
              </a:lnSpc>
              <a:spcBef>
                <a:spcPts val="0"/>
              </a:spcBef>
              <a:spcAft>
                <a:spcPts val="0"/>
              </a:spcAft>
              <a:buClr>
                <a:srgbClr val="304852"/>
              </a:buClr>
              <a:buSzPts val="2600"/>
              <a:buFont typeface="Cabin"/>
              <a:buChar char="●"/>
            </a:pPr>
            <a:r>
              <a:rPr b="0" i="0" lang="en" sz="2600" u="none" cap="none" strike="noStrike">
                <a:solidFill>
                  <a:srgbClr val="304852"/>
                </a:solidFill>
                <a:latin typeface="Cabin"/>
                <a:ea typeface="Cabin"/>
                <a:cs typeface="Cabin"/>
                <a:sym typeface="Cabin"/>
              </a:rPr>
              <a:t>Analyze the patterns in the related sensor data on the related handout and compare these to collision A.</a:t>
            </a:r>
            <a:endParaRPr b="0" i="0" sz="2600" u="none" cap="none" strike="noStrike">
              <a:solidFill>
                <a:srgbClr val="304852"/>
              </a:solidFill>
              <a:latin typeface="Cabin"/>
              <a:ea typeface="Cabin"/>
              <a:cs typeface="Cabin"/>
              <a:sym typeface="Cabin"/>
            </a:endParaRPr>
          </a:p>
          <a:p>
            <a:pPr indent="-393700" lvl="0" marL="457200" marR="0" rtl="0" algn="l">
              <a:lnSpc>
                <a:spcPct val="115000"/>
              </a:lnSpc>
              <a:spcBef>
                <a:spcPts val="0"/>
              </a:spcBef>
              <a:spcAft>
                <a:spcPts val="0"/>
              </a:spcAft>
              <a:buClr>
                <a:srgbClr val="304852"/>
              </a:buClr>
              <a:buSzPts val="2600"/>
              <a:buFont typeface="Cabin"/>
              <a:buChar char="●"/>
            </a:pPr>
            <a:r>
              <a:rPr b="0" i="0" lang="en" sz="2600" u="none" cap="none" strike="noStrike">
                <a:solidFill>
                  <a:srgbClr val="304852"/>
                </a:solidFill>
                <a:latin typeface="Cabin"/>
                <a:ea typeface="Cabin"/>
                <a:cs typeface="Cabin"/>
                <a:sym typeface="Cabin"/>
              </a:rPr>
              <a:t>Annotate the handout to help you figure out how changes in mass affected the outcomes of the collision. </a:t>
            </a:r>
            <a:endParaRPr b="0" i="1" sz="2600" u="none" cap="none" strike="noStrike">
              <a:solidFill>
                <a:srgbClr val="304852"/>
              </a:solidFill>
              <a:latin typeface="Cabin"/>
              <a:ea typeface="Cabin"/>
              <a:cs typeface="Cabin"/>
              <a:sym typeface="Cabin"/>
            </a:endParaRPr>
          </a:p>
        </p:txBody>
      </p:sp>
      <p:pic>
        <p:nvPicPr>
          <p:cNvPr id="252" name="Google Shape;252;p31"/>
          <p:cNvPicPr preferRelativeResize="0"/>
          <p:nvPr/>
        </p:nvPicPr>
        <p:blipFill rotWithShape="1">
          <a:blip r:embed="rId6">
            <a:alphaModFix/>
          </a:blip>
          <a:srcRect b="0" l="0" r="0" t="0"/>
          <a:stretch/>
        </p:blipFill>
        <p:spPr>
          <a:xfrm>
            <a:off x="725700" y="1685875"/>
            <a:ext cx="1105600" cy="13038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32"/>
          <p:cNvSpPr/>
          <p:nvPr/>
        </p:nvSpPr>
        <p:spPr>
          <a:xfrm>
            <a:off x="457200" y="1394450"/>
            <a:ext cx="8229600" cy="3362700"/>
          </a:xfrm>
          <a:prstGeom prst="rect">
            <a:avLst/>
          </a:prstGeom>
          <a:solidFill>
            <a:srgbClr val="EBF0F2"/>
          </a:solidFill>
          <a:ln cap="flat" cmpd="sng" w="19050">
            <a:solidFill>
              <a:srgbClr val="30485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1" i="0" sz="2400" u="none" cap="none" strike="noStrike">
              <a:solidFill>
                <a:srgbClr val="980000"/>
              </a:solidFill>
              <a:latin typeface="Cabin Condensed"/>
              <a:ea typeface="Cabin Condensed"/>
              <a:cs typeface="Cabin Condensed"/>
              <a:sym typeface="Cabin Condensed"/>
            </a:endParaRPr>
          </a:p>
        </p:txBody>
      </p:sp>
      <p:sp>
        <p:nvSpPr>
          <p:cNvPr id="258" name="Google Shape;258;p32"/>
          <p:cNvSpPr txBox="1"/>
          <p:nvPr>
            <p:ph type="title"/>
          </p:nvPr>
        </p:nvSpPr>
        <p:spPr>
          <a:xfrm>
            <a:off x="457200" y="548650"/>
            <a:ext cx="8229600" cy="685800"/>
          </a:xfrm>
          <a:prstGeom prst="rect">
            <a:avLst/>
          </a:prstGeom>
          <a:solidFill>
            <a:srgbClr val="304852"/>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solidFill>
                  <a:schemeClr val="lt1"/>
                </a:solidFill>
              </a:rPr>
              <a:t>Argue from Evidence</a:t>
            </a:r>
            <a:endParaRPr/>
          </a:p>
        </p:txBody>
      </p:sp>
      <p:sp>
        <p:nvSpPr>
          <p:cNvPr id="259" name="Google Shape;259;p32"/>
          <p:cNvSpPr txBox="1"/>
          <p:nvPr>
            <p:ph idx="2" type="subTitle"/>
          </p:nvPr>
        </p:nvSpPr>
        <p:spPr>
          <a:xfrm>
            <a:off x="457200" y="106750"/>
            <a:ext cx="2916900" cy="458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3600"/>
              <a:buNone/>
            </a:pPr>
            <a:r>
              <a:rPr b="0" lang="en" sz="1500"/>
              <a:t>Slide R</a:t>
            </a:r>
            <a:endParaRPr b="0" sz="1500"/>
          </a:p>
        </p:txBody>
      </p:sp>
      <p:sp>
        <p:nvSpPr>
          <p:cNvPr id="260" name="Google Shape;260;p32"/>
          <p:cNvSpPr txBox="1"/>
          <p:nvPr/>
        </p:nvSpPr>
        <p:spPr>
          <a:xfrm>
            <a:off x="2434800" y="1591325"/>
            <a:ext cx="6135900" cy="46071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000"/>
              </a:spcBef>
              <a:spcAft>
                <a:spcPts val="0"/>
              </a:spcAft>
              <a:buClr>
                <a:srgbClr val="000000"/>
              </a:buClr>
              <a:buSzPts val="2900"/>
              <a:buFont typeface="Arial"/>
              <a:buNone/>
            </a:pPr>
            <a:r>
              <a:rPr b="1" i="0" lang="en" sz="2900" u="none" cap="none" strike="noStrike">
                <a:solidFill>
                  <a:srgbClr val="304852"/>
                </a:solidFill>
                <a:latin typeface="Open Sans"/>
                <a:ea typeface="Open Sans"/>
                <a:cs typeface="Open Sans"/>
                <a:sym typeface="Open Sans"/>
              </a:rPr>
              <a:t>With Your Class</a:t>
            </a:r>
            <a:endParaRPr b="0" i="0" sz="1700" u="none" cap="none" strike="noStrike">
              <a:solidFill>
                <a:srgbClr val="304852"/>
              </a:solidFill>
              <a:latin typeface="Open Sans"/>
              <a:ea typeface="Open Sans"/>
              <a:cs typeface="Open Sans"/>
              <a:sym typeface="Open Sans"/>
            </a:endParaRPr>
          </a:p>
          <a:p>
            <a:pPr indent="0" lvl="0" marL="0" marR="0" rtl="0" algn="l">
              <a:lnSpc>
                <a:spcPct val="115000"/>
              </a:lnSpc>
              <a:spcBef>
                <a:spcPts val="1000"/>
              </a:spcBef>
              <a:spcAft>
                <a:spcPts val="0"/>
              </a:spcAft>
              <a:buClr>
                <a:srgbClr val="000000"/>
              </a:buClr>
              <a:buSzPts val="2800"/>
              <a:buFont typeface="Arial"/>
              <a:buNone/>
            </a:pPr>
            <a:r>
              <a:rPr b="0" i="0" lang="en" sz="2800" u="none" cap="none" strike="noStrike">
                <a:solidFill>
                  <a:srgbClr val="304852"/>
                </a:solidFill>
                <a:latin typeface="Cabin"/>
                <a:ea typeface="Cabin"/>
                <a:cs typeface="Cabin"/>
                <a:sym typeface="Cabin"/>
              </a:rPr>
              <a:t>How does mass affect the forces on each object in a collision?</a:t>
            </a:r>
            <a:endParaRPr b="0" i="0" sz="2800" u="none" cap="none" strike="noStrike">
              <a:solidFill>
                <a:srgbClr val="304852"/>
              </a:solidFill>
              <a:latin typeface="Cabin"/>
              <a:ea typeface="Cabin"/>
              <a:cs typeface="Cabin"/>
              <a:sym typeface="Cabin"/>
            </a:endParaRPr>
          </a:p>
          <a:p>
            <a:pPr indent="0" lvl="0" marL="0" marR="0" rtl="0" algn="l">
              <a:lnSpc>
                <a:spcPct val="115000"/>
              </a:lnSpc>
              <a:spcBef>
                <a:spcPts val="1000"/>
              </a:spcBef>
              <a:spcAft>
                <a:spcPts val="0"/>
              </a:spcAft>
              <a:buClr>
                <a:srgbClr val="000000"/>
              </a:buClr>
              <a:buSzPts val="2800"/>
              <a:buFont typeface="Arial"/>
              <a:buNone/>
            </a:pPr>
            <a:r>
              <a:rPr b="0" i="0" lang="en" sz="2800" u="none" cap="none" strike="noStrike">
                <a:solidFill>
                  <a:srgbClr val="304852"/>
                </a:solidFill>
                <a:latin typeface="Cabin"/>
                <a:ea typeface="Cabin"/>
                <a:cs typeface="Cabin"/>
                <a:sym typeface="Cabin"/>
              </a:rPr>
              <a:t>How does mass affect the change in velocity of each object in a collision?</a:t>
            </a:r>
            <a:endParaRPr b="0" i="0" sz="2800" u="none" cap="none" strike="noStrike">
              <a:solidFill>
                <a:srgbClr val="304852"/>
              </a:solidFill>
              <a:latin typeface="Cabin"/>
              <a:ea typeface="Cabin"/>
              <a:cs typeface="Cabin"/>
              <a:sym typeface="Cabin"/>
            </a:endParaRPr>
          </a:p>
          <a:p>
            <a:pPr indent="0" lvl="0" marL="0" marR="0" rtl="0" algn="l">
              <a:lnSpc>
                <a:spcPct val="115000"/>
              </a:lnSpc>
              <a:spcBef>
                <a:spcPts val="1000"/>
              </a:spcBef>
              <a:spcAft>
                <a:spcPts val="0"/>
              </a:spcAft>
              <a:buClr>
                <a:srgbClr val="000000"/>
              </a:buClr>
              <a:buSzPts val="2800"/>
              <a:buFont typeface="Arial"/>
              <a:buNone/>
            </a:pPr>
            <a:r>
              <a:t/>
            </a:r>
            <a:endParaRPr b="0" i="0" sz="2800" u="none" cap="none" strike="noStrike">
              <a:solidFill>
                <a:srgbClr val="304852"/>
              </a:solidFill>
              <a:latin typeface="Cabin"/>
              <a:ea typeface="Cabin"/>
              <a:cs typeface="Cabin"/>
              <a:sym typeface="Cabin"/>
            </a:endParaRPr>
          </a:p>
          <a:p>
            <a:pPr indent="0" lvl="0" marL="0" marR="0" rtl="0" algn="l">
              <a:lnSpc>
                <a:spcPct val="115000"/>
              </a:lnSpc>
              <a:spcBef>
                <a:spcPts val="1000"/>
              </a:spcBef>
              <a:spcAft>
                <a:spcPts val="0"/>
              </a:spcAft>
              <a:buClr>
                <a:srgbClr val="000000"/>
              </a:buClr>
              <a:buSzPts val="2200"/>
              <a:buFont typeface="Arial"/>
              <a:buNone/>
            </a:pPr>
            <a:r>
              <a:t/>
            </a:r>
            <a:endParaRPr b="0" i="0" sz="2200" u="none" cap="none" strike="noStrike">
              <a:solidFill>
                <a:srgbClr val="304852"/>
              </a:solidFill>
              <a:latin typeface="Cabin"/>
              <a:ea typeface="Cabin"/>
              <a:cs typeface="Cabin"/>
              <a:sym typeface="Cabin"/>
            </a:endParaRPr>
          </a:p>
          <a:p>
            <a:pPr indent="0" lvl="0" marL="0" marR="0" rtl="0" algn="l">
              <a:lnSpc>
                <a:spcPct val="115000"/>
              </a:lnSpc>
              <a:spcBef>
                <a:spcPts val="1000"/>
              </a:spcBef>
              <a:spcAft>
                <a:spcPts val="0"/>
              </a:spcAft>
              <a:buClr>
                <a:srgbClr val="000000"/>
              </a:buClr>
              <a:buSzPts val="2600"/>
              <a:buFont typeface="Arial"/>
              <a:buNone/>
            </a:pPr>
            <a:r>
              <a:t/>
            </a:r>
            <a:endParaRPr b="0" i="0" sz="2600" u="none" cap="none" strike="noStrike">
              <a:solidFill>
                <a:srgbClr val="304852"/>
              </a:solidFill>
              <a:latin typeface="Cabin"/>
              <a:ea typeface="Cabin"/>
              <a:cs typeface="Cabin"/>
              <a:sym typeface="Cabin"/>
            </a:endParaRPr>
          </a:p>
        </p:txBody>
      </p:sp>
      <p:pic>
        <p:nvPicPr>
          <p:cNvPr id="261" name="Google Shape;261;p32"/>
          <p:cNvPicPr preferRelativeResize="0"/>
          <p:nvPr/>
        </p:nvPicPr>
        <p:blipFill rotWithShape="1">
          <a:blip r:embed="rId3">
            <a:alphaModFix/>
          </a:blip>
          <a:srcRect b="0" l="0" r="0" t="0"/>
          <a:stretch/>
        </p:blipFill>
        <p:spPr>
          <a:xfrm>
            <a:off x="667951" y="1782650"/>
            <a:ext cx="1512475" cy="15421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33"/>
          <p:cNvSpPr/>
          <p:nvPr/>
        </p:nvSpPr>
        <p:spPr>
          <a:xfrm>
            <a:off x="457200" y="1394450"/>
            <a:ext cx="8229600" cy="4932300"/>
          </a:xfrm>
          <a:prstGeom prst="rect">
            <a:avLst/>
          </a:prstGeom>
          <a:solidFill>
            <a:srgbClr val="FFFFFF"/>
          </a:solidFill>
          <a:ln cap="flat" cmpd="sng" w="19050">
            <a:solidFill>
              <a:srgbClr val="30485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1" i="0" sz="2400" u="none" cap="none" strike="noStrike">
              <a:solidFill>
                <a:srgbClr val="980000"/>
              </a:solidFill>
              <a:latin typeface="Cabin Condensed"/>
              <a:ea typeface="Cabin Condensed"/>
              <a:cs typeface="Cabin Condensed"/>
              <a:sym typeface="Cabin Condensed"/>
            </a:endParaRPr>
          </a:p>
        </p:txBody>
      </p:sp>
      <p:sp>
        <p:nvSpPr>
          <p:cNvPr id="267" name="Google Shape;267;p33"/>
          <p:cNvSpPr txBox="1"/>
          <p:nvPr>
            <p:ph type="title"/>
          </p:nvPr>
        </p:nvSpPr>
        <p:spPr>
          <a:xfrm>
            <a:off x="457200" y="548650"/>
            <a:ext cx="8229600" cy="685800"/>
          </a:xfrm>
          <a:prstGeom prst="rect">
            <a:avLst/>
          </a:prstGeom>
          <a:solidFill>
            <a:srgbClr val="304852"/>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solidFill>
                  <a:schemeClr val="lt1"/>
                </a:solidFill>
              </a:rPr>
              <a:t>Looking for a Relationship</a:t>
            </a:r>
            <a:endParaRPr/>
          </a:p>
        </p:txBody>
      </p:sp>
      <p:sp>
        <p:nvSpPr>
          <p:cNvPr id="268" name="Google Shape;268;p33"/>
          <p:cNvSpPr txBox="1"/>
          <p:nvPr>
            <p:ph idx="2" type="subTitle"/>
          </p:nvPr>
        </p:nvSpPr>
        <p:spPr>
          <a:xfrm>
            <a:off x="457200" y="106750"/>
            <a:ext cx="2916900" cy="458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3600"/>
              <a:buNone/>
            </a:pPr>
            <a:r>
              <a:rPr b="0" lang="en" sz="1500"/>
              <a:t>Slide S</a:t>
            </a:r>
            <a:endParaRPr b="0" sz="1500"/>
          </a:p>
        </p:txBody>
      </p:sp>
      <p:sp>
        <p:nvSpPr>
          <p:cNvPr id="269" name="Google Shape;269;p33"/>
          <p:cNvSpPr txBox="1"/>
          <p:nvPr/>
        </p:nvSpPr>
        <p:spPr>
          <a:xfrm>
            <a:off x="2462141" y="1557063"/>
            <a:ext cx="3681900" cy="631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000"/>
              </a:spcBef>
              <a:spcAft>
                <a:spcPts val="0"/>
              </a:spcAft>
              <a:buClr>
                <a:srgbClr val="000000"/>
              </a:buClr>
              <a:buSzPts val="2900"/>
              <a:buFont typeface="Arial"/>
              <a:buNone/>
            </a:pPr>
            <a:r>
              <a:rPr b="1" i="0" lang="en" sz="2900" u="none" cap="none" strike="noStrike">
                <a:solidFill>
                  <a:srgbClr val="304852"/>
                </a:solidFill>
                <a:latin typeface="Open Sans"/>
                <a:ea typeface="Open Sans"/>
                <a:cs typeface="Open Sans"/>
                <a:sym typeface="Open Sans"/>
              </a:rPr>
              <a:t>With Your Class</a:t>
            </a:r>
            <a:endParaRPr b="0" i="0" sz="2600" u="none" cap="none" strike="noStrike">
              <a:solidFill>
                <a:srgbClr val="304852"/>
              </a:solidFill>
              <a:latin typeface="Cabin"/>
              <a:ea typeface="Cabin"/>
              <a:cs typeface="Cabin"/>
              <a:sym typeface="Cabin"/>
            </a:endParaRPr>
          </a:p>
        </p:txBody>
      </p:sp>
      <p:pic>
        <p:nvPicPr>
          <p:cNvPr id="270" name="Google Shape;270;p33"/>
          <p:cNvPicPr preferRelativeResize="0"/>
          <p:nvPr/>
        </p:nvPicPr>
        <p:blipFill rotWithShape="1">
          <a:blip r:embed="rId3">
            <a:alphaModFix/>
          </a:blip>
          <a:srcRect b="0" l="0" r="0" t="0"/>
          <a:stretch/>
        </p:blipFill>
        <p:spPr>
          <a:xfrm>
            <a:off x="667950" y="1706450"/>
            <a:ext cx="1359597" cy="1386250"/>
          </a:xfrm>
          <a:prstGeom prst="rect">
            <a:avLst/>
          </a:prstGeom>
          <a:noFill/>
          <a:ln>
            <a:noFill/>
          </a:ln>
        </p:spPr>
      </p:pic>
      <p:pic>
        <p:nvPicPr>
          <p:cNvPr id="271" name="Google Shape;271;p33"/>
          <p:cNvPicPr preferRelativeResize="0"/>
          <p:nvPr/>
        </p:nvPicPr>
        <p:blipFill rotWithShape="1">
          <a:blip r:embed="rId4">
            <a:alphaModFix/>
          </a:blip>
          <a:srcRect b="0" l="0" r="0" t="0"/>
          <a:stretch/>
        </p:blipFill>
        <p:spPr>
          <a:xfrm>
            <a:off x="2347450" y="2815676"/>
            <a:ext cx="5184675" cy="3319898"/>
          </a:xfrm>
          <a:prstGeom prst="rect">
            <a:avLst/>
          </a:prstGeom>
          <a:noFill/>
          <a:ln>
            <a:noFill/>
          </a:ln>
        </p:spPr>
      </p:pic>
      <p:cxnSp>
        <p:nvCxnSpPr>
          <p:cNvPr id="272" name="Google Shape;272;p33"/>
          <p:cNvCxnSpPr/>
          <p:nvPr/>
        </p:nvCxnSpPr>
        <p:spPr>
          <a:xfrm>
            <a:off x="3859981" y="3109306"/>
            <a:ext cx="0" cy="396000"/>
          </a:xfrm>
          <a:prstGeom prst="straightConnector1">
            <a:avLst/>
          </a:prstGeom>
          <a:noFill/>
          <a:ln cap="flat" cmpd="sng" w="19050">
            <a:solidFill>
              <a:srgbClr val="FF0000"/>
            </a:solidFill>
            <a:prstDash val="solid"/>
            <a:round/>
            <a:headEnd len="med" w="med" type="stealth"/>
            <a:tailEnd len="med" w="med" type="stealth"/>
          </a:ln>
        </p:spPr>
      </p:cxnSp>
      <p:cxnSp>
        <p:nvCxnSpPr>
          <p:cNvPr id="273" name="Google Shape;273;p33"/>
          <p:cNvCxnSpPr/>
          <p:nvPr/>
        </p:nvCxnSpPr>
        <p:spPr>
          <a:xfrm>
            <a:off x="6518914" y="5284557"/>
            <a:ext cx="9300" cy="381300"/>
          </a:xfrm>
          <a:prstGeom prst="straightConnector1">
            <a:avLst/>
          </a:prstGeom>
          <a:noFill/>
          <a:ln cap="flat" cmpd="sng" w="19050">
            <a:solidFill>
              <a:srgbClr val="FF0000"/>
            </a:solidFill>
            <a:prstDash val="solid"/>
            <a:round/>
            <a:headEnd len="med" w="med" type="stealth"/>
            <a:tailEnd len="med" w="med" type="stealth"/>
          </a:ln>
        </p:spPr>
      </p:cxnSp>
      <p:cxnSp>
        <p:nvCxnSpPr>
          <p:cNvPr id="274" name="Google Shape;274;p33"/>
          <p:cNvCxnSpPr/>
          <p:nvPr/>
        </p:nvCxnSpPr>
        <p:spPr>
          <a:xfrm flipH="1">
            <a:off x="3881312" y="4920360"/>
            <a:ext cx="11400" cy="745500"/>
          </a:xfrm>
          <a:prstGeom prst="straightConnector1">
            <a:avLst/>
          </a:prstGeom>
          <a:noFill/>
          <a:ln cap="flat" cmpd="sng" w="19050">
            <a:solidFill>
              <a:srgbClr val="FF0000"/>
            </a:solidFill>
            <a:prstDash val="solid"/>
            <a:round/>
            <a:headEnd len="med" w="med" type="stealth"/>
            <a:tailEnd len="med" w="med" type="stealth"/>
          </a:ln>
        </p:spPr>
      </p:cxnSp>
      <p:cxnSp>
        <p:nvCxnSpPr>
          <p:cNvPr id="275" name="Google Shape;275;p33"/>
          <p:cNvCxnSpPr/>
          <p:nvPr/>
        </p:nvCxnSpPr>
        <p:spPr>
          <a:xfrm>
            <a:off x="6518920" y="3131643"/>
            <a:ext cx="0" cy="750900"/>
          </a:xfrm>
          <a:prstGeom prst="straightConnector1">
            <a:avLst/>
          </a:prstGeom>
          <a:noFill/>
          <a:ln cap="flat" cmpd="sng" w="19050">
            <a:solidFill>
              <a:srgbClr val="FF0000"/>
            </a:solidFill>
            <a:prstDash val="solid"/>
            <a:round/>
            <a:headEnd len="med" w="med" type="stealth"/>
            <a:tailEnd len="med" w="med" type="stealth"/>
          </a:ln>
        </p:spPr>
      </p:cxnSp>
      <p:sp>
        <p:nvSpPr>
          <p:cNvPr id="276" name="Google Shape;276;p33"/>
          <p:cNvSpPr txBox="1"/>
          <p:nvPr/>
        </p:nvSpPr>
        <p:spPr>
          <a:xfrm>
            <a:off x="3589841" y="2731442"/>
            <a:ext cx="604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0000"/>
                </a:solidFill>
                <a:latin typeface="Open Sans"/>
                <a:ea typeface="Open Sans"/>
                <a:cs typeface="Open Sans"/>
                <a:sym typeface="Open Sans"/>
              </a:rPr>
              <a:t>.6 kg</a:t>
            </a:r>
            <a:endParaRPr b="0" i="0" sz="1400" u="none" cap="none" strike="noStrike">
              <a:solidFill>
                <a:srgbClr val="FF0000"/>
              </a:solidFill>
              <a:latin typeface="Open Sans"/>
              <a:ea typeface="Open Sans"/>
              <a:cs typeface="Open Sans"/>
              <a:sym typeface="Open Sans"/>
            </a:endParaRPr>
          </a:p>
        </p:txBody>
      </p:sp>
      <p:sp>
        <p:nvSpPr>
          <p:cNvPr id="277" name="Google Shape;277;p33"/>
          <p:cNvSpPr txBox="1"/>
          <p:nvPr/>
        </p:nvSpPr>
        <p:spPr>
          <a:xfrm>
            <a:off x="6152551" y="4628639"/>
            <a:ext cx="604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0000"/>
                </a:solidFill>
                <a:latin typeface="Open Sans"/>
                <a:ea typeface="Open Sans"/>
                <a:cs typeface="Open Sans"/>
                <a:sym typeface="Open Sans"/>
              </a:rPr>
              <a:t>.6 kg</a:t>
            </a:r>
            <a:endParaRPr b="0" i="0" sz="1400" u="none" cap="none" strike="noStrike">
              <a:solidFill>
                <a:srgbClr val="FF0000"/>
              </a:solidFill>
              <a:latin typeface="Open Sans"/>
              <a:ea typeface="Open Sans"/>
              <a:cs typeface="Open Sans"/>
              <a:sym typeface="Open Sans"/>
            </a:endParaRPr>
          </a:p>
        </p:txBody>
      </p:sp>
      <p:sp>
        <p:nvSpPr>
          <p:cNvPr id="278" name="Google Shape;278;p33"/>
          <p:cNvSpPr txBox="1"/>
          <p:nvPr/>
        </p:nvSpPr>
        <p:spPr>
          <a:xfrm>
            <a:off x="6228759" y="2731458"/>
            <a:ext cx="604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0000"/>
                </a:solidFill>
                <a:latin typeface="Open Sans"/>
                <a:ea typeface="Open Sans"/>
                <a:cs typeface="Open Sans"/>
                <a:sym typeface="Open Sans"/>
              </a:rPr>
              <a:t>.3 kg</a:t>
            </a:r>
            <a:endParaRPr b="0" i="0" sz="1400" u="none" cap="none" strike="noStrike">
              <a:solidFill>
                <a:srgbClr val="FF0000"/>
              </a:solidFill>
              <a:latin typeface="Open Sans"/>
              <a:ea typeface="Open Sans"/>
              <a:cs typeface="Open Sans"/>
              <a:sym typeface="Open Sans"/>
            </a:endParaRPr>
          </a:p>
        </p:txBody>
      </p:sp>
      <p:sp>
        <p:nvSpPr>
          <p:cNvPr id="279" name="Google Shape;279;p33"/>
          <p:cNvSpPr txBox="1"/>
          <p:nvPr/>
        </p:nvSpPr>
        <p:spPr>
          <a:xfrm>
            <a:off x="3589837" y="4531671"/>
            <a:ext cx="604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0000"/>
                </a:solidFill>
                <a:latin typeface="Open Sans"/>
                <a:ea typeface="Open Sans"/>
                <a:cs typeface="Open Sans"/>
                <a:sym typeface="Open Sans"/>
              </a:rPr>
              <a:t>.3 kg</a:t>
            </a:r>
            <a:endParaRPr b="0" i="0" sz="1400" u="none" cap="none" strike="noStrike">
              <a:solidFill>
                <a:srgbClr val="FF0000"/>
              </a:solidFill>
              <a:latin typeface="Open Sans"/>
              <a:ea typeface="Open Sans"/>
              <a:cs typeface="Open Sans"/>
              <a:sym typeface="Open Sans"/>
            </a:endParaRPr>
          </a:p>
        </p:txBody>
      </p:sp>
      <p:sp>
        <p:nvSpPr>
          <p:cNvPr id="280" name="Google Shape;280;p33"/>
          <p:cNvSpPr txBox="1"/>
          <p:nvPr/>
        </p:nvSpPr>
        <p:spPr>
          <a:xfrm>
            <a:off x="3118825" y="2399075"/>
            <a:ext cx="18339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Open Sans"/>
                <a:ea typeface="Open Sans"/>
                <a:cs typeface="Open Sans"/>
                <a:sym typeface="Open Sans"/>
              </a:rPr>
              <a:t>Collision E</a:t>
            </a:r>
            <a:endParaRPr b="1" i="0" sz="1800" u="none" cap="none" strike="noStrike">
              <a:solidFill>
                <a:srgbClr val="000000"/>
              </a:solidFill>
              <a:latin typeface="Open Sans"/>
              <a:ea typeface="Open Sans"/>
              <a:cs typeface="Open Sans"/>
              <a:sym typeface="Open Sans"/>
            </a:endParaRPr>
          </a:p>
        </p:txBody>
      </p:sp>
      <p:sp>
        <p:nvSpPr>
          <p:cNvPr id="281" name="Google Shape;281;p33"/>
          <p:cNvSpPr txBox="1"/>
          <p:nvPr/>
        </p:nvSpPr>
        <p:spPr>
          <a:xfrm>
            <a:off x="5818813" y="2399075"/>
            <a:ext cx="15654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Open Sans"/>
                <a:ea typeface="Open Sans"/>
                <a:cs typeface="Open Sans"/>
                <a:sym typeface="Open Sans"/>
              </a:rPr>
              <a:t>Collision F</a:t>
            </a:r>
            <a:endParaRPr b="1" i="0" sz="1800" u="none" cap="none" strike="noStrike">
              <a:solidFill>
                <a:srgbClr val="000000"/>
              </a:solidFill>
              <a:latin typeface="Open Sans"/>
              <a:ea typeface="Open Sans"/>
              <a:cs typeface="Open Sans"/>
              <a:sym typeface="Open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34"/>
          <p:cNvSpPr/>
          <p:nvPr/>
        </p:nvSpPr>
        <p:spPr>
          <a:xfrm>
            <a:off x="457200" y="1394450"/>
            <a:ext cx="8229600" cy="4932300"/>
          </a:xfrm>
          <a:prstGeom prst="rect">
            <a:avLst/>
          </a:prstGeom>
          <a:solidFill>
            <a:srgbClr val="FFFFFF"/>
          </a:solidFill>
          <a:ln cap="flat" cmpd="sng" w="19050">
            <a:solidFill>
              <a:srgbClr val="30485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1" i="0" sz="2400" u="none" cap="none" strike="noStrike">
              <a:solidFill>
                <a:srgbClr val="980000"/>
              </a:solidFill>
              <a:latin typeface="Cabin Condensed"/>
              <a:ea typeface="Cabin Condensed"/>
              <a:cs typeface="Cabin Condensed"/>
              <a:sym typeface="Cabin Condensed"/>
            </a:endParaRPr>
          </a:p>
        </p:txBody>
      </p:sp>
      <p:sp>
        <p:nvSpPr>
          <p:cNvPr id="287" name="Google Shape;287;p34"/>
          <p:cNvSpPr txBox="1"/>
          <p:nvPr>
            <p:ph type="title"/>
          </p:nvPr>
        </p:nvSpPr>
        <p:spPr>
          <a:xfrm>
            <a:off x="457200" y="548650"/>
            <a:ext cx="8229600" cy="685800"/>
          </a:xfrm>
          <a:prstGeom prst="rect">
            <a:avLst/>
          </a:prstGeom>
          <a:solidFill>
            <a:srgbClr val="304852"/>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solidFill>
                  <a:schemeClr val="lt1"/>
                </a:solidFill>
              </a:rPr>
              <a:t>Looking for a Relationship</a:t>
            </a:r>
            <a:endParaRPr/>
          </a:p>
        </p:txBody>
      </p:sp>
      <p:sp>
        <p:nvSpPr>
          <p:cNvPr id="288" name="Google Shape;288;p34"/>
          <p:cNvSpPr txBox="1"/>
          <p:nvPr>
            <p:ph idx="2" type="subTitle"/>
          </p:nvPr>
        </p:nvSpPr>
        <p:spPr>
          <a:xfrm>
            <a:off x="457200" y="106750"/>
            <a:ext cx="2916900" cy="458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3600"/>
              <a:buNone/>
            </a:pPr>
            <a:r>
              <a:rPr b="0" lang="en" sz="1500"/>
              <a:t>Slide T</a:t>
            </a:r>
            <a:endParaRPr b="0" sz="1500"/>
          </a:p>
        </p:txBody>
      </p:sp>
      <p:sp>
        <p:nvSpPr>
          <p:cNvPr id="289" name="Google Shape;289;p34"/>
          <p:cNvSpPr txBox="1"/>
          <p:nvPr/>
        </p:nvSpPr>
        <p:spPr>
          <a:xfrm>
            <a:off x="2462141" y="1557063"/>
            <a:ext cx="3681900" cy="631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000"/>
              </a:spcBef>
              <a:spcAft>
                <a:spcPts val="0"/>
              </a:spcAft>
              <a:buClr>
                <a:srgbClr val="000000"/>
              </a:buClr>
              <a:buSzPts val="2900"/>
              <a:buFont typeface="Arial"/>
              <a:buNone/>
            </a:pPr>
            <a:r>
              <a:rPr b="1" i="0" lang="en" sz="2900" u="none" cap="none" strike="noStrike">
                <a:solidFill>
                  <a:srgbClr val="304852"/>
                </a:solidFill>
                <a:latin typeface="Open Sans"/>
                <a:ea typeface="Open Sans"/>
                <a:cs typeface="Open Sans"/>
                <a:sym typeface="Open Sans"/>
              </a:rPr>
              <a:t>With Your Class</a:t>
            </a:r>
            <a:endParaRPr b="0" i="0" sz="2600" u="none" cap="none" strike="noStrike">
              <a:solidFill>
                <a:srgbClr val="304852"/>
              </a:solidFill>
              <a:latin typeface="Cabin"/>
              <a:ea typeface="Cabin"/>
              <a:cs typeface="Cabin"/>
              <a:sym typeface="Cabin"/>
            </a:endParaRPr>
          </a:p>
        </p:txBody>
      </p:sp>
      <p:pic>
        <p:nvPicPr>
          <p:cNvPr id="290" name="Google Shape;290;p34"/>
          <p:cNvPicPr preferRelativeResize="0"/>
          <p:nvPr/>
        </p:nvPicPr>
        <p:blipFill rotWithShape="1">
          <a:blip r:embed="rId3">
            <a:alphaModFix/>
          </a:blip>
          <a:srcRect b="0" l="0" r="0" t="0"/>
          <a:stretch/>
        </p:blipFill>
        <p:spPr>
          <a:xfrm>
            <a:off x="667950" y="1706450"/>
            <a:ext cx="1359597" cy="1386250"/>
          </a:xfrm>
          <a:prstGeom prst="rect">
            <a:avLst/>
          </a:prstGeom>
          <a:noFill/>
          <a:ln>
            <a:noFill/>
          </a:ln>
        </p:spPr>
      </p:pic>
      <p:pic>
        <p:nvPicPr>
          <p:cNvPr id="291" name="Google Shape;291;p34"/>
          <p:cNvPicPr preferRelativeResize="0"/>
          <p:nvPr/>
        </p:nvPicPr>
        <p:blipFill rotWithShape="1">
          <a:blip r:embed="rId4">
            <a:alphaModFix/>
          </a:blip>
          <a:srcRect b="0" l="0" r="54887" t="0"/>
          <a:stretch/>
        </p:blipFill>
        <p:spPr>
          <a:xfrm>
            <a:off x="2118850" y="2815675"/>
            <a:ext cx="2338851" cy="3319900"/>
          </a:xfrm>
          <a:prstGeom prst="rect">
            <a:avLst/>
          </a:prstGeom>
          <a:noFill/>
          <a:ln cap="flat" cmpd="sng" w="9525">
            <a:solidFill>
              <a:srgbClr val="B7B7B7"/>
            </a:solidFill>
            <a:prstDash val="solid"/>
            <a:round/>
            <a:headEnd len="sm" w="sm" type="none"/>
            <a:tailEnd len="sm" w="sm" type="none"/>
          </a:ln>
        </p:spPr>
      </p:pic>
      <p:cxnSp>
        <p:nvCxnSpPr>
          <p:cNvPr id="292" name="Google Shape;292;p34"/>
          <p:cNvCxnSpPr/>
          <p:nvPr/>
        </p:nvCxnSpPr>
        <p:spPr>
          <a:xfrm>
            <a:off x="3631381" y="3109306"/>
            <a:ext cx="0" cy="396000"/>
          </a:xfrm>
          <a:prstGeom prst="straightConnector1">
            <a:avLst/>
          </a:prstGeom>
          <a:noFill/>
          <a:ln cap="flat" cmpd="sng" w="19050">
            <a:solidFill>
              <a:srgbClr val="FF0000"/>
            </a:solidFill>
            <a:prstDash val="solid"/>
            <a:round/>
            <a:headEnd len="med" w="med" type="stealth"/>
            <a:tailEnd len="med" w="med" type="stealth"/>
          </a:ln>
        </p:spPr>
      </p:cxnSp>
      <p:cxnSp>
        <p:nvCxnSpPr>
          <p:cNvPr id="293" name="Google Shape;293;p34"/>
          <p:cNvCxnSpPr/>
          <p:nvPr/>
        </p:nvCxnSpPr>
        <p:spPr>
          <a:xfrm>
            <a:off x="6290314" y="5284557"/>
            <a:ext cx="9300" cy="381300"/>
          </a:xfrm>
          <a:prstGeom prst="straightConnector1">
            <a:avLst/>
          </a:prstGeom>
          <a:noFill/>
          <a:ln cap="flat" cmpd="sng" w="19050">
            <a:solidFill>
              <a:srgbClr val="FF0000"/>
            </a:solidFill>
            <a:prstDash val="solid"/>
            <a:round/>
            <a:headEnd len="med" w="med" type="stealth"/>
            <a:tailEnd len="med" w="med" type="stealth"/>
          </a:ln>
        </p:spPr>
      </p:cxnSp>
      <p:cxnSp>
        <p:nvCxnSpPr>
          <p:cNvPr id="294" name="Google Shape;294;p34"/>
          <p:cNvCxnSpPr/>
          <p:nvPr/>
        </p:nvCxnSpPr>
        <p:spPr>
          <a:xfrm flipH="1">
            <a:off x="3652712" y="4920360"/>
            <a:ext cx="11400" cy="745500"/>
          </a:xfrm>
          <a:prstGeom prst="straightConnector1">
            <a:avLst/>
          </a:prstGeom>
          <a:noFill/>
          <a:ln cap="flat" cmpd="sng" w="19050">
            <a:solidFill>
              <a:srgbClr val="FF0000"/>
            </a:solidFill>
            <a:prstDash val="solid"/>
            <a:round/>
            <a:headEnd len="med" w="med" type="stealth"/>
            <a:tailEnd len="med" w="med" type="stealth"/>
          </a:ln>
        </p:spPr>
      </p:cxnSp>
      <p:cxnSp>
        <p:nvCxnSpPr>
          <p:cNvPr id="295" name="Google Shape;295;p34"/>
          <p:cNvCxnSpPr/>
          <p:nvPr/>
        </p:nvCxnSpPr>
        <p:spPr>
          <a:xfrm>
            <a:off x="6290320" y="3131643"/>
            <a:ext cx="0" cy="750900"/>
          </a:xfrm>
          <a:prstGeom prst="straightConnector1">
            <a:avLst/>
          </a:prstGeom>
          <a:noFill/>
          <a:ln cap="flat" cmpd="sng" w="19050">
            <a:solidFill>
              <a:srgbClr val="FF0000"/>
            </a:solidFill>
            <a:prstDash val="solid"/>
            <a:round/>
            <a:headEnd len="med" w="med" type="stealth"/>
            <a:tailEnd len="med" w="med" type="stealth"/>
          </a:ln>
        </p:spPr>
      </p:cxnSp>
      <p:sp>
        <p:nvSpPr>
          <p:cNvPr id="296" name="Google Shape;296;p34"/>
          <p:cNvSpPr txBox="1"/>
          <p:nvPr/>
        </p:nvSpPr>
        <p:spPr>
          <a:xfrm>
            <a:off x="3361241" y="2731442"/>
            <a:ext cx="604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0000"/>
                </a:solidFill>
                <a:latin typeface="Open Sans"/>
                <a:ea typeface="Open Sans"/>
                <a:cs typeface="Open Sans"/>
                <a:sym typeface="Open Sans"/>
              </a:rPr>
              <a:t>.6 kg</a:t>
            </a:r>
            <a:endParaRPr b="0" i="0" sz="1400" u="none" cap="none" strike="noStrike">
              <a:solidFill>
                <a:srgbClr val="FF0000"/>
              </a:solidFill>
              <a:latin typeface="Open Sans"/>
              <a:ea typeface="Open Sans"/>
              <a:cs typeface="Open Sans"/>
              <a:sym typeface="Open Sans"/>
            </a:endParaRPr>
          </a:p>
        </p:txBody>
      </p:sp>
      <p:sp>
        <p:nvSpPr>
          <p:cNvPr id="297" name="Google Shape;297;p34"/>
          <p:cNvSpPr txBox="1"/>
          <p:nvPr/>
        </p:nvSpPr>
        <p:spPr>
          <a:xfrm>
            <a:off x="5923951" y="4628639"/>
            <a:ext cx="604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0000"/>
                </a:solidFill>
                <a:latin typeface="Open Sans"/>
                <a:ea typeface="Open Sans"/>
                <a:cs typeface="Open Sans"/>
                <a:sym typeface="Open Sans"/>
              </a:rPr>
              <a:t>.6 kg</a:t>
            </a:r>
            <a:endParaRPr b="0" i="0" sz="1400" u="none" cap="none" strike="noStrike">
              <a:solidFill>
                <a:srgbClr val="FF0000"/>
              </a:solidFill>
              <a:latin typeface="Open Sans"/>
              <a:ea typeface="Open Sans"/>
              <a:cs typeface="Open Sans"/>
              <a:sym typeface="Open Sans"/>
            </a:endParaRPr>
          </a:p>
        </p:txBody>
      </p:sp>
      <p:sp>
        <p:nvSpPr>
          <p:cNvPr id="298" name="Google Shape;298;p34"/>
          <p:cNvSpPr txBox="1"/>
          <p:nvPr/>
        </p:nvSpPr>
        <p:spPr>
          <a:xfrm>
            <a:off x="6000159" y="2731458"/>
            <a:ext cx="604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0000"/>
                </a:solidFill>
                <a:latin typeface="Open Sans"/>
                <a:ea typeface="Open Sans"/>
                <a:cs typeface="Open Sans"/>
                <a:sym typeface="Open Sans"/>
              </a:rPr>
              <a:t>.3 kg</a:t>
            </a:r>
            <a:endParaRPr b="0" i="0" sz="1400" u="none" cap="none" strike="noStrike">
              <a:solidFill>
                <a:srgbClr val="FF0000"/>
              </a:solidFill>
              <a:latin typeface="Open Sans"/>
              <a:ea typeface="Open Sans"/>
              <a:cs typeface="Open Sans"/>
              <a:sym typeface="Open Sans"/>
            </a:endParaRPr>
          </a:p>
        </p:txBody>
      </p:sp>
      <p:sp>
        <p:nvSpPr>
          <p:cNvPr id="299" name="Google Shape;299;p34"/>
          <p:cNvSpPr txBox="1"/>
          <p:nvPr/>
        </p:nvSpPr>
        <p:spPr>
          <a:xfrm>
            <a:off x="3361237" y="4531671"/>
            <a:ext cx="604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0000"/>
                </a:solidFill>
                <a:latin typeface="Open Sans"/>
                <a:ea typeface="Open Sans"/>
                <a:cs typeface="Open Sans"/>
                <a:sym typeface="Open Sans"/>
              </a:rPr>
              <a:t>.3 kg</a:t>
            </a:r>
            <a:endParaRPr b="0" i="0" sz="1400" u="none" cap="none" strike="noStrike">
              <a:solidFill>
                <a:srgbClr val="FF0000"/>
              </a:solidFill>
              <a:latin typeface="Open Sans"/>
              <a:ea typeface="Open Sans"/>
              <a:cs typeface="Open Sans"/>
              <a:sym typeface="Open Sans"/>
            </a:endParaRPr>
          </a:p>
        </p:txBody>
      </p:sp>
      <p:sp>
        <p:nvSpPr>
          <p:cNvPr id="300" name="Google Shape;300;p34"/>
          <p:cNvSpPr txBox="1"/>
          <p:nvPr/>
        </p:nvSpPr>
        <p:spPr>
          <a:xfrm>
            <a:off x="2890225" y="2399075"/>
            <a:ext cx="18339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Open Sans"/>
                <a:ea typeface="Open Sans"/>
                <a:cs typeface="Open Sans"/>
                <a:sym typeface="Open Sans"/>
              </a:rPr>
              <a:t>Collision E</a:t>
            </a:r>
            <a:endParaRPr b="1" i="0" sz="1800" u="none" cap="none" strike="noStrike">
              <a:solidFill>
                <a:srgbClr val="000000"/>
              </a:solidFill>
              <a:latin typeface="Open Sans"/>
              <a:ea typeface="Open Sans"/>
              <a:cs typeface="Open Sans"/>
              <a:sym typeface="Open Sans"/>
            </a:endParaRPr>
          </a:p>
        </p:txBody>
      </p:sp>
      <p:sp>
        <p:nvSpPr>
          <p:cNvPr id="301" name="Google Shape;301;p34"/>
          <p:cNvSpPr txBox="1"/>
          <p:nvPr/>
        </p:nvSpPr>
        <p:spPr>
          <a:xfrm>
            <a:off x="5590213" y="2399075"/>
            <a:ext cx="15654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Open Sans"/>
                <a:ea typeface="Open Sans"/>
                <a:cs typeface="Open Sans"/>
                <a:sym typeface="Open Sans"/>
              </a:rPr>
              <a:t>Collision F</a:t>
            </a:r>
            <a:endParaRPr b="1" i="0" sz="1800" u="none" cap="none" strike="noStrike">
              <a:solidFill>
                <a:srgbClr val="000000"/>
              </a:solidFill>
              <a:latin typeface="Open Sans"/>
              <a:ea typeface="Open Sans"/>
              <a:cs typeface="Open Sans"/>
              <a:sym typeface="Open Sans"/>
            </a:endParaRPr>
          </a:p>
        </p:txBody>
      </p:sp>
      <p:pic>
        <p:nvPicPr>
          <p:cNvPr id="302" name="Google Shape;302;p34"/>
          <p:cNvPicPr preferRelativeResize="0"/>
          <p:nvPr/>
        </p:nvPicPr>
        <p:blipFill rotWithShape="1">
          <a:blip r:embed="rId4">
            <a:alphaModFix/>
          </a:blip>
          <a:srcRect b="0" l="52948" r="654" t="0"/>
          <a:stretch/>
        </p:blipFill>
        <p:spPr>
          <a:xfrm>
            <a:off x="5013575" y="2815675"/>
            <a:ext cx="2405526" cy="3319900"/>
          </a:xfrm>
          <a:prstGeom prst="rect">
            <a:avLst/>
          </a:prstGeom>
          <a:noFill/>
          <a:ln cap="flat" cmpd="sng" w="9525">
            <a:solidFill>
              <a:srgbClr val="B7B7B7"/>
            </a:solidFill>
            <a:prstDash val="solid"/>
            <a:round/>
            <a:headEnd len="sm" w="sm" type="none"/>
            <a:tailEnd len="sm" w="sm" type="none"/>
          </a:ln>
        </p:spPr>
      </p:pic>
      <p:sp>
        <p:nvSpPr>
          <p:cNvPr id="303" name="Google Shape;303;p34"/>
          <p:cNvSpPr txBox="1"/>
          <p:nvPr/>
        </p:nvSpPr>
        <p:spPr>
          <a:xfrm>
            <a:off x="722200" y="3642975"/>
            <a:ext cx="1634100" cy="2447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900"/>
              <a:buFont typeface="Arial"/>
              <a:buNone/>
            </a:pPr>
            <a:r>
              <a:rPr b="0" i="0" lang="en" sz="1900" u="none" cap="none" strike="noStrike">
                <a:solidFill>
                  <a:srgbClr val="000000"/>
                </a:solidFill>
                <a:highlight>
                  <a:schemeClr val="accent6"/>
                </a:highlight>
                <a:latin typeface="Open Sans"/>
                <a:ea typeface="Open Sans"/>
                <a:cs typeface="Open Sans"/>
                <a:sym typeface="Open Sans"/>
              </a:rPr>
              <a:t>v</a:t>
            </a:r>
            <a:r>
              <a:rPr b="0" baseline="-25000" i="0" lang="en" sz="1900" u="none" cap="none" strike="noStrike">
                <a:solidFill>
                  <a:srgbClr val="000000"/>
                </a:solidFill>
                <a:highlight>
                  <a:schemeClr val="accent6"/>
                </a:highlight>
                <a:latin typeface="Open Sans"/>
                <a:ea typeface="Open Sans"/>
                <a:cs typeface="Open Sans"/>
                <a:sym typeface="Open Sans"/>
              </a:rPr>
              <a:t>Gi </a:t>
            </a:r>
            <a:r>
              <a:rPr b="0" i="0" lang="en" sz="1900" u="none" cap="none" strike="noStrike">
                <a:solidFill>
                  <a:srgbClr val="000000"/>
                </a:solidFill>
                <a:highlight>
                  <a:schemeClr val="accent6"/>
                </a:highlight>
                <a:latin typeface="Open Sans"/>
                <a:ea typeface="Open Sans"/>
                <a:cs typeface="Open Sans"/>
                <a:sym typeface="Open Sans"/>
              </a:rPr>
              <a:t>=.79 m/s</a:t>
            </a:r>
            <a:endParaRPr b="0" i="0" sz="1900" u="none" cap="none" strike="noStrike">
              <a:solidFill>
                <a:srgbClr val="000000"/>
              </a:solidFill>
              <a:highlight>
                <a:schemeClr val="accent6"/>
              </a:highlight>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highlight>
                <a:schemeClr val="accent6"/>
              </a:highlight>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900"/>
              <a:buFont typeface="Arial"/>
              <a:buNone/>
            </a:pPr>
            <a:r>
              <a:rPr b="0" i="0" lang="en" sz="1900" u="none" cap="none" strike="noStrike">
                <a:solidFill>
                  <a:schemeClr val="dk1"/>
                </a:solidFill>
                <a:highlight>
                  <a:schemeClr val="accent6"/>
                </a:highlight>
                <a:latin typeface="Open Sans"/>
                <a:ea typeface="Open Sans"/>
                <a:cs typeface="Open Sans"/>
                <a:sym typeface="Open Sans"/>
              </a:rPr>
              <a:t>v</a:t>
            </a:r>
            <a:r>
              <a:rPr b="0" baseline="-25000" i="0" lang="en" sz="1900" u="none" cap="none" strike="noStrike">
                <a:solidFill>
                  <a:schemeClr val="dk1"/>
                </a:solidFill>
                <a:highlight>
                  <a:schemeClr val="accent6"/>
                </a:highlight>
                <a:latin typeface="Open Sans"/>
                <a:ea typeface="Open Sans"/>
                <a:cs typeface="Open Sans"/>
                <a:sym typeface="Open Sans"/>
              </a:rPr>
              <a:t>Gf </a:t>
            </a:r>
            <a:r>
              <a:rPr b="0" i="0" lang="en" sz="1900" u="none" cap="none" strike="noStrike">
                <a:solidFill>
                  <a:schemeClr val="dk1"/>
                </a:solidFill>
                <a:highlight>
                  <a:schemeClr val="accent6"/>
                </a:highlight>
                <a:latin typeface="Open Sans"/>
                <a:ea typeface="Open Sans"/>
                <a:cs typeface="Open Sans"/>
                <a:sym typeface="Open Sans"/>
              </a:rPr>
              <a:t>=.33 m/s</a:t>
            </a:r>
            <a:endParaRPr b="0" i="0" sz="1900" u="none" cap="none" strike="noStrike">
              <a:solidFill>
                <a:schemeClr val="dk1"/>
              </a:solidFill>
              <a:highlight>
                <a:schemeClr val="accent6"/>
              </a:highlight>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highlight>
                <a:schemeClr val="accent6"/>
              </a:highlight>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900"/>
              <a:buFont typeface="Arial"/>
              <a:buNone/>
            </a:pPr>
            <a:r>
              <a:rPr b="0" i="0" lang="en" sz="1900" u="none" cap="none" strike="noStrike">
                <a:solidFill>
                  <a:schemeClr val="dk1"/>
                </a:solidFill>
                <a:highlight>
                  <a:schemeClr val="accent6"/>
                </a:highlight>
                <a:latin typeface="Open Sans"/>
                <a:ea typeface="Open Sans"/>
                <a:cs typeface="Open Sans"/>
                <a:sym typeface="Open Sans"/>
              </a:rPr>
              <a:t>v</a:t>
            </a:r>
            <a:r>
              <a:rPr b="0" baseline="-25000" i="0" lang="en" sz="1900" u="none" cap="none" strike="noStrike">
                <a:solidFill>
                  <a:schemeClr val="dk1"/>
                </a:solidFill>
                <a:highlight>
                  <a:schemeClr val="accent6"/>
                </a:highlight>
                <a:latin typeface="Open Sans"/>
                <a:ea typeface="Open Sans"/>
                <a:cs typeface="Open Sans"/>
                <a:sym typeface="Open Sans"/>
              </a:rPr>
              <a:t>Bi </a:t>
            </a:r>
            <a:r>
              <a:rPr b="0" i="0" lang="en" sz="1900" u="none" cap="none" strike="noStrike">
                <a:solidFill>
                  <a:schemeClr val="dk1"/>
                </a:solidFill>
                <a:highlight>
                  <a:schemeClr val="accent6"/>
                </a:highlight>
                <a:latin typeface="Open Sans"/>
                <a:ea typeface="Open Sans"/>
                <a:cs typeface="Open Sans"/>
                <a:sym typeface="Open Sans"/>
              </a:rPr>
              <a:t>=0 m/s</a:t>
            </a:r>
            <a:endParaRPr b="0" i="0" sz="1900" u="none" cap="none" strike="noStrike">
              <a:solidFill>
                <a:schemeClr val="dk1"/>
              </a:solidFill>
              <a:highlight>
                <a:schemeClr val="accent6"/>
              </a:highlight>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highlight>
                <a:schemeClr val="accent6"/>
              </a:highlight>
              <a:latin typeface="Open Sans"/>
              <a:ea typeface="Open Sans"/>
              <a:cs typeface="Open Sans"/>
              <a:sym typeface="Open Sans"/>
            </a:endParaRPr>
          </a:p>
          <a:p>
            <a:pPr indent="0" lvl="0" marL="0" marR="0" rtl="0" algn="l">
              <a:lnSpc>
                <a:spcPct val="100000"/>
              </a:lnSpc>
              <a:spcBef>
                <a:spcPts val="0"/>
              </a:spcBef>
              <a:spcAft>
                <a:spcPts val="0"/>
              </a:spcAft>
              <a:buClr>
                <a:schemeClr val="dk1"/>
              </a:buClr>
              <a:buSzPts val="1100"/>
              <a:buFont typeface="Arial"/>
              <a:buNone/>
            </a:pPr>
            <a:r>
              <a:rPr b="0" i="0" lang="en" sz="1900" u="none" cap="none" strike="noStrike">
                <a:solidFill>
                  <a:schemeClr val="dk1"/>
                </a:solidFill>
                <a:highlight>
                  <a:schemeClr val="accent6"/>
                </a:highlight>
                <a:latin typeface="Open Sans"/>
                <a:ea typeface="Open Sans"/>
                <a:cs typeface="Open Sans"/>
                <a:sym typeface="Open Sans"/>
              </a:rPr>
              <a:t>v</a:t>
            </a:r>
            <a:r>
              <a:rPr b="0" baseline="-25000" i="0" lang="en" sz="1900" u="none" cap="none" strike="noStrike">
                <a:solidFill>
                  <a:schemeClr val="dk1"/>
                </a:solidFill>
                <a:highlight>
                  <a:schemeClr val="accent6"/>
                </a:highlight>
                <a:latin typeface="Open Sans"/>
                <a:ea typeface="Open Sans"/>
                <a:cs typeface="Open Sans"/>
                <a:sym typeface="Open Sans"/>
              </a:rPr>
              <a:t>Bf </a:t>
            </a:r>
            <a:r>
              <a:rPr b="0" i="0" lang="en" sz="1900" u="none" cap="none" strike="noStrike">
                <a:solidFill>
                  <a:schemeClr val="dk1"/>
                </a:solidFill>
                <a:highlight>
                  <a:schemeClr val="accent6"/>
                </a:highlight>
                <a:latin typeface="Open Sans"/>
                <a:ea typeface="Open Sans"/>
                <a:cs typeface="Open Sans"/>
                <a:sym typeface="Open Sans"/>
              </a:rPr>
              <a:t>=.92 m/s</a:t>
            </a:r>
            <a:endParaRPr b="0" i="0" sz="1900" u="none" cap="none" strike="noStrike">
              <a:solidFill>
                <a:schemeClr val="dk1"/>
              </a:solidFill>
              <a:highlight>
                <a:schemeClr val="accent6"/>
              </a:highlight>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sp>
        <p:nvSpPr>
          <p:cNvPr id="304" name="Google Shape;304;p34"/>
          <p:cNvSpPr txBox="1"/>
          <p:nvPr/>
        </p:nvSpPr>
        <p:spPr>
          <a:xfrm>
            <a:off x="7155625" y="3642975"/>
            <a:ext cx="1634100" cy="2447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900"/>
              <a:buFont typeface="Arial"/>
              <a:buNone/>
            </a:pPr>
            <a:r>
              <a:rPr b="0" i="0" lang="en" sz="1900" u="none" cap="none" strike="noStrike">
                <a:solidFill>
                  <a:srgbClr val="000000"/>
                </a:solidFill>
                <a:highlight>
                  <a:schemeClr val="accent6"/>
                </a:highlight>
                <a:latin typeface="Open Sans"/>
                <a:ea typeface="Open Sans"/>
                <a:cs typeface="Open Sans"/>
                <a:sym typeface="Open Sans"/>
              </a:rPr>
              <a:t>v</a:t>
            </a:r>
            <a:r>
              <a:rPr b="0" baseline="-25000" i="0" lang="en" sz="1900" u="none" cap="none" strike="noStrike">
                <a:solidFill>
                  <a:srgbClr val="000000"/>
                </a:solidFill>
                <a:highlight>
                  <a:schemeClr val="accent6"/>
                </a:highlight>
                <a:latin typeface="Open Sans"/>
                <a:ea typeface="Open Sans"/>
                <a:cs typeface="Open Sans"/>
                <a:sym typeface="Open Sans"/>
              </a:rPr>
              <a:t>Gi </a:t>
            </a:r>
            <a:r>
              <a:rPr b="0" i="0" lang="en" sz="1900" u="none" cap="none" strike="noStrike">
                <a:solidFill>
                  <a:srgbClr val="000000"/>
                </a:solidFill>
                <a:highlight>
                  <a:schemeClr val="accent6"/>
                </a:highlight>
                <a:latin typeface="Open Sans"/>
                <a:ea typeface="Open Sans"/>
                <a:cs typeface="Open Sans"/>
                <a:sym typeface="Open Sans"/>
              </a:rPr>
              <a:t>= .8 m/s</a:t>
            </a:r>
            <a:endParaRPr b="0" i="0" sz="1900" u="none" cap="none" strike="noStrike">
              <a:solidFill>
                <a:srgbClr val="000000"/>
              </a:solidFill>
              <a:highlight>
                <a:schemeClr val="accent6"/>
              </a:highlight>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highlight>
                <a:schemeClr val="accent6"/>
              </a:highlight>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900"/>
              <a:buFont typeface="Arial"/>
              <a:buNone/>
            </a:pPr>
            <a:r>
              <a:rPr b="0" i="0" lang="en" sz="1900" u="none" cap="none" strike="noStrike">
                <a:solidFill>
                  <a:schemeClr val="dk1"/>
                </a:solidFill>
                <a:highlight>
                  <a:schemeClr val="accent6"/>
                </a:highlight>
                <a:latin typeface="Open Sans"/>
                <a:ea typeface="Open Sans"/>
                <a:cs typeface="Open Sans"/>
                <a:sym typeface="Open Sans"/>
              </a:rPr>
              <a:t>v</a:t>
            </a:r>
            <a:r>
              <a:rPr b="0" baseline="-25000" i="0" lang="en" sz="1900" u="none" cap="none" strike="noStrike">
                <a:solidFill>
                  <a:schemeClr val="dk1"/>
                </a:solidFill>
                <a:highlight>
                  <a:schemeClr val="accent6"/>
                </a:highlight>
                <a:latin typeface="Open Sans"/>
                <a:ea typeface="Open Sans"/>
                <a:cs typeface="Open Sans"/>
                <a:sym typeface="Open Sans"/>
              </a:rPr>
              <a:t>Gf </a:t>
            </a:r>
            <a:r>
              <a:rPr b="0" i="0" lang="en" sz="1900" u="none" cap="none" strike="noStrike">
                <a:solidFill>
                  <a:schemeClr val="dk1"/>
                </a:solidFill>
                <a:highlight>
                  <a:schemeClr val="accent6"/>
                </a:highlight>
                <a:latin typeface="Open Sans"/>
                <a:ea typeface="Open Sans"/>
                <a:cs typeface="Open Sans"/>
                <a:sym typeface="Open Sans"/>
              </a:rPr>
              <a:t>=-.12 m/s</a:t>
            </a:r>
            <a:endParaRPr b="0" i="0" sz="1900" u="none" cap="none" strike="noStrike">
              <a:solidFill>
                <a:schemeClr val="dk1"/>
              </a:solidFill>
              <a:highlight>
                <a:schemeClr val="accent6"/>
              </a:highlight>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highlight>
                <a:schemeClr val="accent6"/>
              </a:highlight>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900"/>
              <a:buFont typeface="Arial"/>
              <a:buNone/>
            </a:pPr>
            <a:r>
              <a:rPr b="0" i="0" lang="en" sz="1900" u="none" cap="none" strike="noStrike">
                <a:solidFill>
                  <a:schemeClr val="dk1"/>
                </a:solidFill>
                <a:highlight>
                  <a:schemeClr val="accent6"/>
                </a:highlight>
                <a:latin typeface="Open Sans"/>
                <a:ea typeface="Open Sans"/>
                <a:cs typeface="Open Sans"/>
                <a:sym typeface="Open Sans"/>
              </a:rPr>
              <a:t>v</a:t>
            </a:r>
            <a:r>
              <a:rPr b="0" baseline="-25000" i="0" lang="en" sz="1900" u="none" cap="none" strike="noStrike">
                <a:solidFill>
                  <a:schemeClr val="dk1"/>
                </a:solidFill>
                <a:highlight>
                  <a:schemeClr val="accent6"/>
                </a:highlight>
                <a:latin typeface="Open Sans"/>
                <a:ea typeface="Open Sans"/>
                <a:cs typeface="Open Sans"/>
                <a:sym typeface="Open Sans"/>
              </a:rPr>
              <a:t>Bi </a:t>
            </a:r>
            <a:r>
              <a:rPr b="0" i="0" lang="en" sz="1900" u="none" cap="none" strike="noStrike">
                <a:solidFill>
                  <a:schemeClr val="dk1"/>
                </a:solidFill>
                <a:highlight>
                  <a:schemeClr val="accent6"/>
                </a:highlight>
                <a:latin typeface="Open Sans"/>
                <a:ea typeface="Open Sans"/>
                <a:cs typeface="Open Sans"/>
                <a:sym typeface="Open Sans"/>
              </a:rPr>
              <a:t>=0 m/s</a:t>
            </a:r>
            <a:endParaRPr b="0" i="0" sz="1900" u="none" cap="none" strike="noStrike">
              <a:solidFill>
                <a:schemeClr val="dk1"/>
              </a:solidFill>
              <a:highlight>
                <a:schemeClr val="accent6"/>
              </a:highlight>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highlight>
                <a:schemeClr val="accent6"/>
              </a:highlight>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900"/>
              <a:buFont typeface="Arial"/>
              <a:buNone/>
            </a:pPr>
            <a:r>
              <a:rPr b="0" i="0" lang="en" sz="1900" u="none" cap="none" strike="noStrike">
                <a:solidFill>
                  <a:schemeClr val="dk1"/>
                </a:solidFill>
                <a:highlight>
                  <a:schemeClr val="accent6"/>
                </a:highlight>
                <a:latin typeface="Open Sans"/>
                <a:ea typeface="Open Sans"/>
                <a:cs typeface="Open Sans"/>
                <a:sym typeface="Open Sans"/>
              </a:rPr>
              <a:t>v</a:t>
            </a:r>
            <a:r>
              <a:rPr b="0" baseline="-25000" i="0" lang="en" sz="1900" u="none" cap="none" strike="noStrike">
                <a:solidFill>
                  <a:schemeClr val="dk1"/>
                </a:solidFill>
                <a:highlight>
                  <a:schemeClr val="accent6"/>
                </a:highlight>
                <a:latin typeface="Open Sans"/>
                <a:ea typeface="Open Sans"/>
                <a:cs typeface="Open Sans"/>
                <a:sym typeface="Open Sans"/>
              </a:rPr>
              <a:t>Bf </a:t>
            </a:r>
            <a:r>
              <a:rPr b="0" i="0" lang="en" sz="1900" u="none" cap="none" strike="noStrike">
                <a:solidFill>
                  <a:schemeClr val="dk1"/>
                </a:solidFill>
                <a:highlight>
                  <a:schemeClr val="accent6"/>
                </a:highlight>
                <a:latin typeface="Open Sans"/>
                <a:ea typeface="Open Sans"/>
                <a:cs typeface="Open Sans"/>
                <a:sym typeface="Open Sans"/>
              </a:rPr>
              <a:t>=.46 m/s</a:t>
            </a:r>
            <a:endParaRPr b="0" i="0" sz="1900" u="none" cap="none" strike="noStrike">
              <a:solidFill>
                <a:schemeClr val="dk1"/>
              </a:solidFill>
              <a:highlight>
                <a:schemeClr val="accent6"/>
              </a:highlight>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35"/>
          <p:cNvSpPr/>
          <p:nvPr/>
        </p:nvSpPr>
        <p:spPr>
          <a:xfrm>
            <a:off x="457200" y="1394450"/>
            <a:ext cx="8229600" cy="4750500"/>
          </a:xfrm>
          <a:prstGeom prst="rect">
            <a:avLst/>
          </a:prstGeom>
          <a:solidFill>
            <a:srgbClr val="EBF0F2"/>
          </a:solidFill>
          <a:ln cap="flat" cmpd="sng" w="19050">
            <a:solidFill>
              <a:srgbClr val="30485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1" i="0" sz="2400" u="none" cap="none" strike="noStrike">
              <a:solidFill>
                <a:srgbClr val="980000"/>
              </a:solidFill>
              <a:latin typeface="Cabin Condensed"/>
              <a:ea typeface="Cabin Condensed"/>
              <a:cs typeface="Cabin Condensed"/>
              <a:sym typeface="Cabin Condensed"/>
            </a:endParaRPr>
          </a:p>
        </p:txBody>
      </p:sp>
      <p:sp>
        <p:nvSpPr>
          <p:cNvPr id="310" name="Google Shape;310;p35"/>
          <p:cNvSpPr txBox="1"/>
          <p:nvPr>
            <p:ph type="title"/>
          </p:nvPr>
        </p:nvSpPr>
        <p:spPr>
          <a:xfrm>
            <a:off x="457200" y="548650"/>
            <a:ext cx="8229600" cy="685800"/>
          </a:xfrm>
          <a:prstGeom prst="rect">
            <a:avLst/>
          </a:prstGeom>
          <a:solidFill>
            <a:srgbClr val="304852"/>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solidFill>
                  <a:schemeClr val="lt1"/>
                </a:solidFill>
              </a:rPr>
              <a:t>Use Mathematical Thinking</a:t>
            </a:r>
            <a:endParaRPr/>
          </a:p>
        </p:txBody>
      </p:sp>
      <p:sp>
        <p:nvSpPr>
          <p:cNvPr id="311" name="Google Shape;311;p35"/>
          <p:cNvSpPr txBox="1"/>
          <p:nvPr>
            <p:ph idx="2" type="subTitle"/>
          </p:nvPr>
        </p:nvSpPr>
        <p:spPr>
          <a:xfrm>
            <a:off x="457200" y="106750"/>
            <a:ext cx="2916900" cy="458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3600"/>
              <a:buNone/>
            </a:pPr>
            <a:r>
              <a:rPr b="0" lang="en" sz="1500"/>
              <a:t>Slide U</a:t>
            </a:r>
            <a:endParaRPr b="0" sz="1500"/>
          </a:p>
        </p:txBody>
      </p:sp>
      <p:sp>
        <p:nvSpPr>
          <p:cNvPr id="312" name="Google Shape;312;p35"/>
          <p:cNvSpPr txBox="1"/>
          <p:nvPr/>
        </p:nvSpPr>
        <p:spPr>
          <a:xfrm>
            <a:off x="2438400" y="1547550"/>
            <a:ext cx="5800200" cy="38199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000"/>
              </a:spcBef>
              <a:spcAft>
                <a:spcPts val="0"/>
              </a:spcAft>
              <a:buClr>
                <a:srgbClr val="000000"/>
              </a:buClr>
              <a:buSzPts val="3000"/>
              <a:buFont typeface="Arial"/>
              <a:buNone/>
            </a:pPr>
            <a:r>
              <a:rPr b="1" i="0" lang="en" sz="3000" u="none" cap="none" strike="noStrike">
                <a:solidFill>
                  <a:srgbClr val="304852"/>
                </a:solidFill>
                <a:latin typeface="Open Sans"/>
                <a:ea typeface="Open Sans"/>
                <a:cs typeface="Open Sans"/>
                <a:sym typeface="Open Sans"/>
              </a:rPr>
              <a:t>Turn and Talk</a:t>
            </a:r>
            <a:endParaRPr b="0" i="0" sz="1800" u="none" cap="none" strike="noStrike">
              <a:solidFill>
                <a:srgbClr val="304852"/>
              </a:solidFill>
              <a:latin typeface="Cabin"/>
              <a:ea typeface="Cabin"/>
              <a:cs typeface="Cabin"/>
              <a:sym typeface="Cabin"/>
            </a:endParaRPr>
          </a:p>
          <a:p>
            <a:pPr indent="0" lvl="0" marL="0" marR="0" rtl="0" algn="l">
              <a:lnSpc>
                <a:spcPct val="115000"/>
              </a:lnSpc>
              <a:spcBef>
                <a:spcPts val="1000"/>
              </a:spcBef>
              <a:spcAft>
                <a:spcPts val="0"/>
              </a:spcAft>
              <a:buClr>
                <a:srgbClr val="000000"/>
              </a:buClr>
              <a:buSzPts val="2800"/>
              <a:buFont typeface="Arial"/>
              <a:buNone/>
            </a:pPr>
            <a:r>
              <a:rPr b="0" i="0" lang="en" sz="2800" u="none" cap="none" strike="noStrike">
                <a:solidFill>
                  <a:srgbClr val="304852"/>
                </a:solidFill>
                <a:latin typeface="Cabin"/>
                <a:ea typeface="Cabin"/>
                <a:cs typeface="Cabin"/>
                <a:sym typeface="Cabin"/>
              </a:rPr>
              <a:t>Based on the patterns we have figured out so far, what do you predict would happen if the mass of one cart was </a:t>
            </a:r>
            <a:r>
              <a:rPr b="0" i="0" lang="en" sz="2800" u="sng" cap="none" strike="noStrike">
                <a:solidFill>
                  <a:srgbClr val="304852"/>
                </a:solidFill>
                <a:latin typeface="Cabin"/>
                <a:ea typeface="Cabin"/>
                <a:cs typeface="Cabin"/>
                <a:sym typeface="Cabin"/>
              </a:rPr>
              <a:t>five times</a:t>
            </a:r>
            <a:r>
              <a:rPr b="0" i="0" lang="en" sz="2800" u="none" cap="none" strike="noStrike">
                <a:solidFill>
                  <a:srgbClr val="304852"/>
                </a:solidFill>
                <a:latin typeface="Cabin"/>
                <a:ea typeface="Cabin"/>
                <a:cs typeface="Cabin"/>
                <a:sym typeface="Cabin"/>
              </a:rPr>
              <a:t> the mass of the other cart and they collided? </a:t>
            </a:r>
            <a:endParaRPr b="0" i="0" sz="2800" u="none" cap="none" strike="noStrike">
              <a:solidFill>
                <a:srgbClr val="304852"/>
              </a:solidFill>
              <a:latin typeface="Cabin"/>
              <a:ea typeface="Cabin"/>
              <a:cs typeface="Cabin"/>
              <a:sym typeface="Cabin"/>
            </a:endParaRPr>
          </a:p>
          <a:p>
            <a:pPr indent="0" lvl="0" marL="0" marR="0" rtl="0" algn="l">
              <a:lnSpc>
                <a:spcPct val="115000"/>
              </a:lnSpc>
              <a:spcBef>
                <a:spcPts val="1000"/>
              </a:spcBef>
              <a:spcAft>
                <a:spcPts val="0"/>
              </a:spcAft>
              <a:buClr>
                <a:srgbClr val="000000"/>
              </a:buClr>
              <a:buSzPts val="2400"/>
              <a:buFont typeface="Arial"/>
              <a:buNone/>
            </a:pPr>
            <a:r>
              <a:t/>
            </a:r>
            <a:endParaRPr b="0" i="0" sz="2400" u="none" cap="none" strike="noStrike">
              <a:solidFill>
                <a:srgbClr val="304852"/>
              </a:solidFill>
              <a:latin typeface="Cabin"/>
              <a:ea typeface="Cabin"/>
              <a:cs typeface="Cabin"/>
              <a:sym typeface="Cabin"/>
            </a:endParaRPr>
          </a:p>
        </p:txBody>
      </p:sp>
      <p:sp>
        <p:nvSpPr>
          <p:cNvPr id="313" name="Google Shape;313;p35"/>
          <p:cNvSpPr txBox="1"/>
          <p:nvPr/>
        </p:nvSpPr>
        <p:spPr>
          <a:xfrm rot="-126673">
            <a:off x="3513683" y="5669009"/>
            <a:ext cx="4763934" cy="541273"/>
          </a:xfrm>
          <a:prstGeom prst="rect">
            <a:avLst/>
          </a:prstGeom>
          <a:solidFill>
            <a:srgbClr val="FFFFFF"/>
          </a:solidFill>
          <a:ln cap="flat" cmpd="sng" w="9525">
            <a:solidFill>
              <a:srgbClr val="304852"/>
            </a:solidFill>
            <a:prstDash val="solid"/>
            <a:round/>
            <a:headEnd len="sm" w="sm" type="none"/>
            <a:tailEnd len="sm" w="sm" type="none"/>
          </a:ln>
          <a:effectLst>
            <a:outerShdw blurRad="57150" rotWithShape="0" algn="bl" dir="5400000" dist="19050">
              <a:srgbClr val="000000">
                <a:alpha val="49411"/>
              </a:srgbClr>
            </a:outerShdw>
          </a:effectLst>
        </p:spPr>
        <p:txBody>
          <a:bodyPr anchorCtr="0" anchor="t" bIns="91425" lIns="91425" spcFirstLastPara="1" rIns="91425" wrap="square" tIns="91425">
            <a:noAutofit/>
          </a:bodyPr>
          <a:lstStyle/>
          <a:p>
            <a:pPr indent="-368300" lvl="0" marL="457200" marR="0" rtl="0" algn="l">
              <a:lnSpc>
                <a:spcPct val="100000"/>
              </a:lnSpc>
              <a:spcBef>
                <a:spcPts val="0"/>
              </a:spcBef>
              <a:spcAft>
                <a:spcPts val="0"/>
              </a:spcAft>
              <a:buClr>
                <a:srgbClr val="304852"/>
              </a:buClr>
              <a:buSzPts val="2200"/>
              <a:buFont typeface="Cabin Condensed"/>
              <a:buChar char="➔"/>
            </a:pPr>
            <a:r>
              <a:rPr b="0" i="0" lang="en" sz="2200" u="none" cap="none" strike="noStrike">
                <a:solidFill>
                  <a:srgbClr val="304852"/>
                </a:solidFill>
                <a:latin typeface="Cabin Condensed"/>
                <a:ea typeface="Cabin Condensed"/>
                <a:cs typeface="Cabin Condensed"/>
                <a:sym typeface="Cabin Condensed"/>
              </a:rPr>
              <a:t>Be ready to share with the whole class.</a:t>
            </a:r>
            <a:endParaRPr b="0" i="0" sz="2200" u="none" cap="none" strike="noStrike">
              <a:solidFill>
                <a:srgbClr val="304852"/>
              </a:solidFill>
              <a:latin typeface="Cabin Condensed"/>
              <a:ea typeface="Cabin Condensed"/>
              <a:cs typeface="Cabin Condensed"/>
              <a:sym typeface="Cabin Condensed"/>
            </a:endParaRPr>
          </a:p>
        </p:txBody>
      </p:sp>
      <p:pic>
        <p:nvPicPr>
          <p:cNvPr id="314" name="Google Shape;314;p35"/>
          <p:cNvPicPr preferRelativeResize="0"/>
          <p:nvPr/>
        </p:nvPicPr>
        <p:blipFill rotWithShape="1">
          <a:blip r:embed="rId3">
            <a:alphaModFix/>
          </a:blip>
          <a:srcRect b="0" l="0" r="0" t="0"/>
          <a:stretch/>
        </p:blipFill>
        <p:spPr>
          <a:xfrm>
            <a:off x="706000" y="1666250"/>
            <a:ext cx="1436050" cy="11912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36"/>
          <p:cNvSpPr/>
          <p:nvPr/>
        </p:nvSpPr>
        <p:spPr>
          <a:xfrm>
            <a:off x="457200" y="1394450"/>
            <a:ext cx="8229600" cy="4750500"/>
          </a:xfrm>
          <a:prstGeom prst="rect">
            <a:avLst/>
          </a:prstGeom>
          <a:solidFill>
            <a:schemeClr val="lt1"/>
          </a:solidFill>
          <a:ln cap="flat" cmpd="sng" w="19050">
            <a:solidFill>
              <a:srgbClr val="30485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1" i="0" sz="2400" u="none" cap="none" strike="noStrike">
              <a:solidFill>
                <a:srgbClr val="980000"/>
              </a:solidFill>
              <a:latin typeface="Cabin Condensed"/>
              <a:ea typeface="Cabin Condensed"/>
              <a:cs typeface="Cabin Condensed"/>
              <a:sym typeface="Cabin Condensed"/>
            </a:endParaRPr>
          </a:p>
        </p:txBody>
      </p:sp>
      <p:sp>
        <p:nvSpPr>
          <p:cNvPr id="320" name="Google Shape;320;p36"/>
          <p:cNvSpPr txBox="1"/>
          <p:nvPr>
            <p:ph type="title"/>
          </p:nvPr>
        </p:nvSpPr>
        <p:spPr>
          <a:xfrm>
            <a:off x="457200" y="548650"/>
            <a:ext cx="8229600" cy="685800"/>
          </a:xfrm>
          <a:prstGeom prst="rect">
            <a:avLst/>
          </a:prstGeom>
          <a:solidFill>
            <a:srgbClr val="304852"/>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solidFill>
                  <a:schemeClr val="lt1"/>
                </a:solidFill>
              </a:rPr>
              <a:t>Navigate</a:t>
            </a:r>
            <a:endParaRPr/>
          </a:p>
        </p:txBody>
      </p:sp>
      <p:sp>
        <p:nvSpPr>
          <p:cNvPr id="321" name="Google Shape;321;p36"/>
          <p:cNvSpPr txBox="1"/>
          <p:nvPr>
            <p:ph idx="2" type="subTitle"/>
          </p:nvPr>
        </p:nvSpPr>
        <p:spPr>
          <a:xfrm>
            <a:off x="457200" y="106750"/>
            <a:ext cx="2916900" cy="458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3600"/>
              <a:buNone/>
            </a:pPr>
            <a:r>
              <a:rPr b="0" lang="en" sz="1500"/>
              <a:t>Slide V</a:t>
            </a:r>
            <a:endParaRPr b="0" sz="1500"/>
          </a:p>
        </p:txBody>
      </p:sp>
      <p:sp>
        <p:nvSpPr>
          <p:cNvPr id="322" name="Google Shape;322;p36"/>
          <p:cNvSpPr txBox="1"/>
          <p:nvPr/>
        </p:nvSpPr>
        <p:spPr>
          <a:xfrm>
            <a:off x="2200950" y="1471350"/>
            <a:ext cx="6264300" cy="2266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000"/>
              </a:spcBef>
              <a:spcAft>
                <a:spcPts val="0"/>
              </a:spcAft>
              <a:buClr>
                <a:srgbClr val="000000"/>
              </a:buClr>
              <a:buSzPts val="3000"/>
              <a:buFont typeface="Arial"/>
              <a:buNone/>
            </a:pPr>
            <a:r>
              <a:rPr b="1" i="0" lang="en" sz="3000" u="none" cap="none" strike="noStrike">
                <a:solidFill>
                  <a:srgbClr val="304852"/>
                </a:solidFill>
                <a:latin typeface="Open Sans"/>
                <a:ea typeface="Open Sans"/>
                <a:cs typeface="Open Sans"/>
                <a:sym typeface="Open Sans"/>
              </a:rPr>
              <a:t>With your class</a:t>
            </a:r>
            <a:endParaRPr b="0" i="0" sz="1800" u="none" cap="none" strike="noStrike">
              <a:solidFill>
                <a:srgbClr val="304852"/>
              </a:solidFill>
              <a:latin typeface="Cabin"/>
              <a:ea typeface="Cabin"/>
              <a:cs typeface="Cabin"/>
              <a:sym typeface="Cabin"/>
            </a:endParaRPr>
          </a:p>
          <a:p>
            <a:pPr indent="0" lvl="0" marL="0" marR="0" rtl="0" algn="l">
              <a:lnSpc>
                <a:spcPct val="115000"/>
              </a:lnSpc>
              <a:spcBef>
                <a:spcPts val="1000"/>
              </a:spcBef>
              <a:spcAft>
                <a:spcPts val="0"/>
              </a:spcAft>
              <a:buClr>
                <a:srgbClr val="000000"/>
              </a:buClr>
              <a:buSzPts val="2800"/>
              <a:buFont typeface="Arial"/>
              <a:buNone/>
            </a:pPr>
            <a:r>
              <a:rPr b="0" i="0" lang="en" sz="2800" u="none" cap="none" strike="noStrike">
                <a:solidFill>
                  <a:srgbClr val="304852"/>
                </a:solidFill>
                <a:latin typeface="Cabin"/>
                <a:ea typeface="Cabin"/>
                <a:cs typeface="Cabin"/>
                <a:sym typeface="Cabin"/>
              </a:rPr>
              <a:t>What does this relationship predict the outcome would be for a more extreme mass ratio collison?</a:t>
            </a:r>
            <a:endParaRPr b="0" i="0" sz="2400" u="none" cap="none" strike="noStrike">
              <a:solidFill>
                <a:srgbClr val="304852"/>
              </a:solidFill>
              <a:latin typeface="Cabin"/>
              <a:ea typeface="Cabin"/>
              <a:cs typeface="Cabin"/>
              <a:sym typeface="Cabin"/>
            </a:endParaRPr>
          </a:p>
        </p:txBody>
      </p:sp>
      <p:sp>
        <p:nvSpPr>
          <p:cNvPr id="323" name="Google Shape;323;p36"/>
          <p:cNvSpPr txBox="1"/>
          <p:nvPr/>
        </p:nvSpPr>
        <p:spPr>
          <a:xfrm rot="-126673">
            <a:off x="3513683" y="5669009"/>
            <a:ext cx="4763934" cy="541273"/>
          </a:xfrm>
          <a:prstGeom prst="rect">
            <a:avLst/>
          </a:prstGeom>
          <a:solidFill>
            <a:srgbClr val="EBF0F2"/>
          </a:solidFill>
          <a:ln cap="flat" cmpd="sng" w="9525">
            <a:solidFill>
              <a:srgbClr val="304852"/>
            </a:solidFill>
            <a:prstDash val="solid"/>
            <a:round/>
            <a:headEnd len="sm" w="sm" type="none"/>
            <a:tailEnd len="sm" w="sm" type="none"/>
          </a:ln>
          <a:effectLst>
            <a:outerShdw blurRad="57150" rotWithShape="0" algn="bl" dir="5400000" dist="19050">
              <a:srgbClr val="000000">
                <a:alpha val="49411"/>
              </a:srgbClr>
            </a:outerShdw>
          </a:effectLst>
        </p:spPr>
        <p:txBody>
          <a:bodyPr anchorCtr="0" anchor="t" bIns="91425" lIns="91425" spcFirstLastPara="1" rIns="91425" wrap="square" tIns="91425">
            <a:noAutofit/>
          </a:bodyPr>
          <a:lstStyle/>
          <a:p>
            <a:pPr indent="-368300" lvl="0" marL="457200" marR="0" rtl="0" algn="l">
              <a:lnSpc>
                <a:spcPct val="100000"/>
              </a:lnSpc>
              <a:spcBef>
                <a:spcPts val="0"/>
              </a:spcBef>
              <a:spcAft>
                <a:spcPts val="0"/>
              </a:spcAft>
              <a:buClr>
                <a:srgbClr val="304852"/>
              </a:buClr>
              <a:buSzPts val="2200"/>
              <a:buFont typeface="Cabin Condensed"/>
              <a:buChar char="➔"/>
            </a:pPr>
            <a:r>
              <a:rPr b="0" i="0" lang="en" sz="2200" u="none" cap="none" strike="noStrike">
                <a:solidFill>
                  <a:srgbClr val="304852"/>
                </a:solidFill>
                <a:latin typeface="Cabin Condensed"/>
                <a:ea typeface="Cabin Condensed"/>
                <a:cs typeface="Cabin Condensed"/>
                <a:sym typeface="Cabin Condensed"/>
              </a:rPr>
              <a:t>Be ready to share with the whole class.</a:t>
            </a:r>
            <a:endParaRPr b="0" i="0" sz="2200" u="none" cap="none" strike="noStrike">
              <a:solidFill>
                <a:srgbClr val="304852"/>
              </a:solidFill>
              <a:latin typeface="Cabin Condensed"/>
              <a:ea typeface="Cabin Condensed"/>
              <a:cs typeface="Cabin Condensed"/>
              <a:sym typeface="Cabin Condensed"/>
            </a:endParaRPr>
          </a:p>
        </p:txBody>
      </p:sp>
      <p:pic>
        <p:nvPicPr>
          <p:cNvPr id="324" name="Google Shape;324;p36"/>
          <p:cNvPicPr preferRelativeResize="0"/>
          <p:nvPr/>
        </p:nvPicPr>
        <p:blipFill rotWithShape="1">
          <a:blip r:embed="rId3">
            <a:alphaModFix/>
          </a:blip>
          <a:srcRect b="0" l="0" r="0" t="0"/>
          <a:stretch/>
        </p:blipFill>
        <p:spPr>
          <a:xfrm>
            <a:off x="688475" y="1782650"/>
            <a:ext cx="1397975" cy="1425375"/>
          </a:xfrm>
          <a:prstGeom prst="rect">
            <a:avLst/>
          </a:prstGeom>
          <a:noFill/>
          <a:ln>
            <a:noFill/>
          </a:ln>
        </p:spPr>
      </p:pic>
      <p:pic>
        <p:nvPicPr>
          <p:cNvPr id="325" name="Google Shape;325;p36"/>
          <p:cNvPicPr preferRelativeResize="0"/>
          <p:nvPr/>
        </p:nvPicPr>
        <p:blipFill rotWithShape="1">
          <a:blip r:embed="rId4">
            <a:alphaModFix/>
          </a:blip>
          <a:srcRect b="0" l="0" r="0" t="0"/>
          <a:stretch/>
        </p:blipFill>
        <p:spPr>
          <a:xfrm>
            <a:off x="4247963" y="3866954"/>
            <a:ext cx="3295362" cy="1425375"/>
          </a:xfrm>
          <a:prstGeom prst="rect">
            <a:avLst/>
          </a:prstGeom>
          <a:noFill/>
          <a:ln>
            <a:noFill/>
          </a:ln>
        </p:spPr>
      </p:pic>
      <p:pic>
        <p:nvPicPr>
          <p:cNvPr id="326" name="Google Shape;326;p36"/>
          <p:cNvPicPr preferRelativeResize="0"/>
          <p:nvPr/>
        </p:nvPicPr>
        <p:blipFill rotWithShape="1">
          <a:blip r:embed="rId5">
            <a:alphaModFix/>
          </a:blip>
          <a:srcRect b="0" l="0" r="0" t="0"/>
          <a:stretch/>
        </p:blipFill>
        <p:spPr>
          <a:xfrm>
            <a:off x="825400" y="4709875"/>
            <a:ext cx="375331" cy="458400"/>
          </a:xfrm>
          <a:prstGeom prst="rect">
            <a:avLst/>
          </a:prstGeom>
          <a:noFill/>
          <a:ln>
            <a:noFill/>
          </a:ln>
        </p:spPr>
      </p:pic>
      <p:pic>
        <p:nvPicPr>
          <p:cNvPr id="327" name="Google Shape;327;p36"/>
          <p:cNvPicPr preferRelativeResize="0"/>
          <p:nvPr/>
        </p:nvPicPr>
        <p:blipFill rotWithShape="1">
          <a:blip r:embed="rId6">
            <a:alphaModFix/>
          </a:blip>
          <a:srcRect b="0" l="0" r="0" t="0"/>
          <a:stretch/>
        </p:blipFill>
        <p:spPr>
          <a:xfrm>
            <a:off x="1348326" y="3866943"/>
            <a:ext cx="2025775" cy="1532882"/>
          </a:xfrm>
          <a:prstGeom prst="rect">
            <a:avLst/>
          </a:prstGeom>
          <a:noFill/>
          <a:ln>
            <a:noFill/>
          </a:ln>
        </p:spPr>
      </p:pic>
      <p:sp>
        <p:nvSpPr>
          <p:cNvPr id="328" name="Google Shape;328;p36"/>
          <p:cNvSpPr txBox="1"/>
          <p:nvPr/>
        </p:nvSpPr>
        <p:spPr>
          <a:xfrm>
            <a:off x="749200" y="5274600"/>
            <a:ext cx="2625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1" lang="en" sz="1400" u="none" cap="none" strike="noStrike">
                <a:solidFill>
                  <a:srgbClr val="000000"/>
                </a:solidFill>
                <a:latin typeface="Open Sans"/>
                <a:ea typeface="Open Sans"/>
                <a:cs typeface="Open Sans"/>
                <a:sym typeface="Open Sans"/>
              </a:rPr>
              <a:t>20 kg 	         20,000 kg</a:t>
            </a:r>
            <a:endParaRPr b="0" i="1" sz="1400" u="none" cap="none" strike="noStrike">
              <a:solidFill>
                <a:srgbClr val="000000"/>
              </a:solidFill>
              <a:latin typeface="Open Sans"/>
              <a:ea typeface="Open Sans"/>
              <a:cs typeface="Open Sans"/>
              <a:sym typeface="Open Sans"/>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37"/>
          <p:cNvSpPr/>
          <p:nvPr/>
        </p:nvSpPr>
        <p:spPr>
          <a:xfrm>
            <a:off x="457200" y="1394450"/>
            <a:ext cx="8229600" cy="4759800"/>
          </a:xfrm>
          <a:prstGeom prst="rect">
            <a:avLst/>
          </a:prstGeom>
          <a:solidFill>
            <a:schemeClr val="lt1"/>
          </a:solidFill>
          <a:ln cap="flat" cmpd="sng" w="19050">
            <a:solidFill>
              <a:srgbClr val="30485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1" i="0" sz="2400" u="none" cap="none" strike="noStrike">
              <a:solidFill>
                <a:srgbClr val="980000"/>
              </a:solidFill>
              <a:latin typeface="Cabin Condensed"/>
              <a:ea typeface="Cabin Condensed"/>
              <a:cs typeface="Cabin Condensed"/>
              <a:sym typeface="Cabin Condensed"/>
            </a:endParaRPr>
          </a:p>
        </p:txBody>
      </p:sp>
      <p:sp>
        <p:nvSpPr>
          <p:cNvPr id="334" name="Google Shape;334;p37"/>
          <p:cNvSpPr txBox="1"/>
          <p:nvPr>
            <p:ph type="title"/>
          </p:nvPr>
        </p:nvSpPr>
        <p:spPr>
          <a:xfrm>
            <a:off x="457200" y="548650"/>
            <a:ext cx="8229600" cy="685800"/>
          </a:xfrm>
          <a:prstGeom prst="rect">
            <a:avLst/>
          </a:prstGeom>
          <a:solidFill>
            <a:srgbClr val="304852"/>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solidFill>
                  <a:schemeClr val="lt1"/>
                </a:solidFill>
              </a:rPr>
              <a:t>Navigate</a:t>
            </a:r>
            <a:endParaRPr/>
          </a:p>
        </p:txBody>
      </p:sp>
      <p:sp>
        <p:nvSpPr>
          <p:cNvPr id="335" name="Google Shape;335;p37"/>
          <p:cNvSpPr txBox="1"/>
          <p:nvPr>
            <p:ph idx="2" type="subTitle"/>
          </p:nvPr>
        </p:nvSpPr>
        <p:spPr>
          <a:xfrm>
            <a:off x="457200" y="106750"/>
            <a:ext cx="2916900" cy="458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3600"/>
              <a:buNone/>
            </a:pPr>
            <a:r>
              <a:rPr b="0" lang="en" sz="1500"/>
              <a:t>Slide W</a:t>
            </a:r>
            <a:endParaRPr b="0" sz="1500"/>
          </a:p>
        </p:txBody>
      </p:sp>
      <p:sp>
        <p:nvSpPr>
          <p:cNvPr id="336" name="Google Shape;336;p37"/>
          <p:cNvSpPr txBox="1"/>
          <p:nvPr/>
        </p:nvSpPr>
        <p:spPr>
          <a:xfrm>
            <a:off x="2505750" y="1471350"/>
            <a:ext cx="3105300" cy="2461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000"/>
              </a:spcBef>
              <a:spcAft>
                <a:spcPts val="0"/>
              </a:spcAft>
              <a:buClr>
                <a:srgbClr val="000000"/>
              </a:buClr>
              <a:buSzPts val="3000"/>
              <a:buFont typeface="Arial"/>
              <a:buNone/>
            </a:pPr>
            <a:r>
              <a:rPr b="1" i="0" lang="en" sz="3000" u="none" cap="none" strike="noStrike">
                <a:solidFill>
                  <a:srgbClr val="304852"/>
                </a:solidFill>
                <a:latin typeface="Open Sans"/>
                <a:ea typeface="Open Sans"/>
                <a:cs typeface="Open Sans"/>
                <a:sym typeface="Open Sans"/>
              </a:rPr>
              <a:t>With your class</a:t>
            </a:r>
            <a:endParaRPr b="0" i="0" sz="1800" u="none" cap="none" strike="noStrike">
              <a:solidFill>
                <a:srgbClr val="304852"/>
              </a:solidFill>
              <a:latin typeface="Cabin"/>
              <a:ea typeface="Cabin"/>
              <a:cs typeface="Cabin"/>
              <a:sym typeface="Cabin"/>
            </a:endParaRPr>
          </a:p>
          <a:p>
            <a:pPr indent="0" lvl="0" marL="0" marR="0" rtl="0" algn="l">
              <a:lnSpc>
                <a:spcPct val="115000"/>
              </a:lnSpc>
              <a:spcBef>
                <a:spcPts val="1000"/>
              </a:spcBef>
              <a:spcAft>
                <a:spcPts val="0"/>
              </a:spcAft>
              <a:buClr>
                <a:srgbClr val="000000"/>
              </a:buClr>
              <a:buSzPts val="2800"/>
              <a:buFont typeface="Arial"/>
              <a:buNone/>
            </a:pPr>
            <a:r>
              <a:t/>
            </a:r>
            <a:endParaRPr b="1" i="0" sz="2800" u="none" cap="none" strike="noStrike">
              <a:solidFill>
                <a:srgbClr val="304852"/>
              </a:solidFill>
              <a:latin typeface="Cabin"/>
              <a:ea typeface="Cabin"/>
              <a:cs typeface="Cabin"/>
              <a:sym typeface="Cabin"/>
            </a:endParaRPr>
          </a:p>
          <a:p>
            <a:pPr indent="0" lvl="0" marL="0" marR="0" rtl="0" algn="l">
              <a:lnSpc>
                <a:spcPct val="115000"/>
              </a:lnSpc>
              <a:spcBef>
                <a:spcPts val="1000"/>
              </a:spcBef>
              <a:spcAft>
                <a:spcPts val="0"/>
              </a:spcAft>
              <a:buClr>
                <a:srgbClr val="000000"/>
              </a:buClr>
              <a:buSzPts val="2800"/>
              <a:buFont typeface="Arial"/>
              <a:buNone/>
            </a:pPr>
            <a:r>
              <a:t/>
            </a:r>
            <a:endParaRPr b="1" i="0" sz="2800" u="none" cap="none" strike="noStrike">
              <a:solidFill>
                <a:srgbClr val="304852"/>
              </a:solidFill>
              <a:latin typeface="Cabin"/>
              <a:ea typeface="Cabin"/>
              <a:cs typeface="Cabin"/>
              <a:sym typeface="Cabin"/>
            </a:endParaRPr>
          </a:p>
          <a:p>
            <a:pPr indent="0" lvl="0" marL="0" marR="0" rtl="0" algn="l">
              <a:lnSpc>
                <a:spcPct val="115000"/>
              </a:lnSpc>
              <a:spcBef>
                <a:spcPts val="1000"/>
              </a:spcBef>
              <a:spcAft>
                <a:spcPts val="0"/>
              </a:spcAft>
              <a:buClr>
                <a:srgbClr val="000000"/>
              </a:buClr>
              <a:buSzPts val="2400"/>
              <a:buFont typeface="Arial"/>
              <a:buNone/>
            </a:pPr>
            <a:r>
              <a:t/>
            </a:r>
            <a:endParaRPr b="0" i="0" sz="2400" u="none" cap="none" strike="noStrike">
              <a:solidFill>
                <a:srgbClr val="304852"/>
              </a:solidFill>
              <a:latin typeface="Cabin"/>
              <a:ea typeface="Cabin"/>
              <a:cs typeface="Cabin"/>
              <a:sym typeface="Cabin"/>
            </a:endParaRPr>
          </a:p>
        </p:txBody>
      </p:sp>
      <p:pic>
        <p:nvPicPr>
          <p:cNvPr id="337" name="Google Shape;337;p37"/>
          <p:cNvPicPr preferRelativeResize="0"/>
          <p:nvPr/>
        </p:nvPicPr>
        <p:blipFill rotWithShape="1">
          <a:blip r:embed="rId3">
            <a:alphaModFix/>
          </a:blip>
          <a:srcRect b="0" l="0" r="0" t="0"/>
          <a:stretch/>
        </p:blipFill>
        <p:spPr>
          <a:xfrm>
            <a:off x="688475" y="1630250"/>
            <a:ext cx="1397975" cy="1425375"/>
          </a:xfrm>
          <a:prstGeom prst="rect">
            <a:avLst/>
          </a:prstGeom>
          <a:noFill/>
          <a:ln>
            <a:noFill/>
          </a:ln>
        </p:spPr>
      </p:pic>
      <p:pic>
        <p:nvPicPr>
          <p:cNvPr id="338" name="Google Shape;338;p37"/>
          <p:cNvPicPr preferRelativeResize="0"/>
          <p:nvPr/>
        </p:nvPicPr>
        <p:blipFill rotWithShape="1">
          <a:blip r:embed="rId4">
            <a:alphaModFix/>
          </a:blip>
          <a:srcRect b="0" l="0" r="0" t="0"/>
          <a:stretch/>
        </p:blipFill>
        <p:spPr>
          <a:xfrm>
            <a:off x="3213576" y="2300300"/>
            <a:ext cx="2916900" cy="1261703"/>
          </a:xfrm>
          <a:prstGeom prst="rect">
            <a:avLst/>
          </a:prstGeom>
          <a:noFill/>
          <a:ln>
            <a:noFill/>
          </a:ln>
        </p:spPr>
      </p:pic>
      <p:sp>
        <p:nvSpPr>
          <p:cNvPr id="339" name="Google Shape;339;p37"/>
          <p:cNvSpPr txBox="1"/>
          <p:nvPr/>
        </p:nvSpPr>
        <p:spPr>
          <a:xfrm>
            <a:off x="858150" y="3830325"/>
            <a:ext cx="7427700" cy="2102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000"/>
              </a:spcBef>
              <a:spcAft>
                <a:spcPts val="0"/>
              </a:spcAft>
              <a:buClr>
                <a:srgbClr val="000000"/>
              </a:buClr>
              <a:buSzPts val="2800"/>
              <a:buFont typeface="Arial"/>
              <a:buNone/>
            </a:pPr>
            <a:r>
              <a:rPr b="1" i="0" lang="en" sz="2800" u="none" cap="none" strike="noStrike">
                <a:solidFill>
                  <a:srgbClr val="304852"/>
                </a:solidFill>
                <a:latin typeface="Cabin"/>
                <a:ea typeface="Cabin"/>
                <a:cs typeface="Cabin"/>
                <a:sym typeface="Cabin"/>
              </a:rPr>
              <a:t>Take a poll:</a:t>
            </a:r>
            <a:r>
              <a:rPr b="0" i="0" lang="en" sz="2800" u="none" cap="none" strike="noStrike">
                <a:solidFill>
                  <a:srgbClr val="304852"/>
                </a:solidFill>
                <a:latin typeface="Cabin"/>
                <a:ea typeface="Cabin"/>
                <a:cs typeface="Cabin"/>
                <a:sym typeface="Cabin"/>
              </a:rPr>
              <a:t> is there a similar mathematical relationship between the masses and the changes in velocity for two objects in any of these other collision conditions?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High_School_Chemistry_OpenSciEd_Slide_TEMPLATE">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