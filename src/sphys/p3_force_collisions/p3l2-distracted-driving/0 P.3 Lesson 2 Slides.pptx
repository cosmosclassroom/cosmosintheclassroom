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3"/>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embeddedFontLst>
    <p:embeddedFont>
      <p:font typeface="Cabin"/>
      <p:regular r:id="rId29"/>
      <p:bold r:id="rId30"/>
      <p:italic r:id="rId31"/>
      <p:boldItalic r:id="rId32"/>
    </p:embeddedFont>
    <p:embeddedFont>
      <p:font typeface="Boogaloo"/>
      <p:regular r:id="rId33"/>
    </p:embeddedFont>
    <p:embeddedFont>
      <p:font typeface="Helvetica Neue"/>
      <p:regular r:id="rId34"/>
      <p:bold r:id="rId35"/>
      <p:italic r:id="rId36"/>
      <p:boldItalic r:id="rId37"/>
    </p:embeddedFont>
    <p:embeddedFont>
      <p:font typeface="Open Sans"/>
      <p:regular r:id="rId38"/>
      <p:bold r:id="rId39"/>
      <p:italic r:id="rId40"/>
      <p:boldItalic r:id="rId41"/>
    </p:embeddedFont>
    <p:embeddedFont>
      <p:font typeface="Cabin Condensed"/>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5.xml"/><Relationship Id="rId42" Type="http://schemas.openxmlformats.org/officeDocument/2006/relationships/font" Target="fonts/CabinCondensed-regular.fntdata"/><Relationship Id="rId41" Type="http://schemas.openxmlformats.org/officeDocument/2006/relationships/font" Target="fonts/OpenSans-boldItalic.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CabinCondensed-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abin-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abin-italic.fntdata"/><Relationship Id="rId30" Type="http://schemas.openxmlformats.org/officeDocument/2006/relationships/font" Target="fonts/Cabin-bold.fntdata"/><Relationship Id="rId11" Type="http://schemas.openxmlformats.org/officeDocument/2006/relationships/slide" Target="slides/slide6.xml"/><Relationship Id="rId33" Type="http://schemas.openxmlformats.org/officeDocument/2006/relationships/font" Target="fonts/Boogaloo-regular.fntdata"/><Relationship Id="rId10" Type="http://schemas.openxmlformats.org/officeDocument/2006/relationships/slide" Target="slides/slide5.xml"/><Relationship Id="rId32" Type="http://schemas.openxmlformats.org/officeDocument/2006/relationships/font" Target="fonts/Cabin-boldItalic.fntdata"/><Relationship Id="rId13" Type="http://schemas.openxmlformats.org/officeDocument/2006/relationships/slide" Target="slides/slide8.xml"/><Relationship Id="rId35" Type="http://schemas.openxmlformats.org/officeDocument/2006/relationships/font" Target="fonts/HelveticaNeue-bold.fntdata"/><Relationship Id="rId12" Type="http://schemas.openxmlformats.org/officeDocument/2006/relationships/slide" Target="slides/slide7.xml"/><Relationship Id="rId34" Type="http://schemas.openxmlformats.org/officeDocument/2006/relationships/font" Target="fonts/HelveticaNeue-regular.fntdata"/><Relationship Id="rId15" Type="http://schemas.openxmlformats.org/officeDocument/2006/relationships/slide" Target="slides/slide10.xml"/><Relationship Id="rId37" Type="http://schemas.openxmlformats.org/officeDocument/2006/relationships/font" Target="fonts/HelveticaNeue-boldItalic.fntdata"/><Relationship Id="rId14" Type="http://schemas.openxmlformats.org/officeDocument/2006/relationships/slide" Target="slides/slide9.xml"/><Relationship Id="rId36" Type="http://schemas.openxmlformats.org/officeDocument/2006/relationships/font" Target="fonts/HelveticaNeue-italic.fntdata"/><Relationship Id="rId17" Type="http://schemas.openxmlformats.org/officeDocument/2006/relationships/slide" Target="slides/slide12.xml"/><Relationship Id="rId39" Type="http://schemas.openxmlformats.org/officeDocument/2006/relationships/font" Target="fonts/OpenSans-bold.fntdata"/><Relationship Id="rId16" Type="http://schemas.openxmlformats.org/officeDocument/2006/relationships/slide" Target="slides/slide11.xml"/><Relationship Id="rId38" Type="http://schemas.openxmlformats.org/officeDocument/2006/relationships/font" Target="fonts/OpenSan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Motivate watching videos of distracted and non-distracted drivers.</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We wanted to investigate the impact of distracted driving on a vehicle collision. We had some ideas about how drivers might behave differently when they are focused and undistracted to reduce the chance of getting in a collision in the first place. </a:t>
            </a:r>
            <a:r>
              <a:rPr lang="en">
                <a:solidFill>
                  <a:srgbClr val="0B0B0B"/>
                </a:solidFill>
                <a:latin typeface="Cabin"/>
                <a:ea typeface="Cabin"/>
                <a:cs typeface="Cabin"/>
                <a:sym typeface="Cabin"/>
              </a:rPr>
              <a:t>Direct students’ attention to the class consensus model to illustrate this. Then present </a:t>
            </a:r>
            <a:r>
              <a:rPr b="1" lang="en">
                <a:solidFill>
                  <a:srgbClr val="0B0B0B"/>
                </a:solidFill>
                <a:latin typeface="Cabin"/>
                <a:ea typeface="Cabin"/>
                <a:cs typeface="Cabin"/>
                <a:sym typeface="Cabin"/>
              </a:rPr>
              <a:t>slide A </a:t>
            </a:r>
            <a:r>
              <a:rPr lang="en">
                <a:solidFill>
                  <a:srgbClr val="0B0B0B"/>
                </a:solidFill>
                <a:latin typeface="Cabin"/>
                <a:ea typeface="Cabin"/>
                <a:cs typeface="Cabin"/>
                <a:sym typeface="Cabin"/>
              </a:rPr>
              <a:t>with the prompt below and elicit 1-2 initial ideas. S</a:t>
            </a:r>
            <a:r>
              <a:rPr lang="en">
                <a:solidFill>
                  <a:schemeClr val="dk1"/>
                </a:solidFill>
                <a:latin typeface="Cabin"/>
                <a:ea typeface="Cabin"/>
                <a:cs typeface="Cabin"/>
                <a:sym typeface="Cabin"/>
              </a:rPr>
              <a:t>ee the prompts in the teacher guide for support.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I have video of a car braking when the driver is distracted, and when the driver is not distracted. Let’s take a look and see if we can break it down to test out our ideas about how being distracted affects whether or not you will avoid a collision.</a:t>
            </a:r>
            <a:endParaRPr>
              <a:solidFill>
                <a:schemeClr val="dk1"/>
              </a:solidFill>
              <a:latin typeface="Cabin"/>
              <a:ea typeface="Cabin"/>
              <a:cs typeface="Cabin"/>
              <a:sym typeface="Cabin"/>
            </a:endParaRPr>
          </a:p>
        </p:txBody>
      </p:sp>
      <p:sp>
        <p:nvSpPr>
          <p:cNvPr id="99" name="Google Shape;99;p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Watch the videos and elicit noticings about differences.</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B </a:t>
            </a:r>
            <a:r>
              <a:rPr lang="en">
                <a:solidFill>
                  <a:srgbClr val="0B0B0B"/>
                </a:solidFill>
                <a:latin typeface="Cabin"/>
                <a:ea typeface="Cabin"/>
                <a:cs typeface="Cabin"/>
                <a:sym typeface="Cabin"/>
              </a:rPr>
              <a:t>and then project video 1 and video 2. Play each video for the class twice. While you can play the videos online, we recommend downloading them and using a video player so that you can more easily move frame-by-frame. Ask students what they noticed about the differences between the two videos. Accept all ideas, but highlight ideas about reaction time, and reaction position, such as: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distracted driver takes longer to stop</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un-distracted driver brakes earlier (we can see brake lights go on)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distracted driver moves more before they stop</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un-distracted driver stops further away from the obstacle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distracted driver hits the obstacle</a:t>
            </a:r>
            <a:endParaRPr>
              <a:solidFill>
                <a:srgbClr val="0B0B0B"/>
              </a:solidFill>
              <a:latin typeface="Cabin"/>
              <a:ea typeface="Cabin"/>
              <a:cs typeface="Cabin"/>
              <a:sym typeface="Cabin"/>
            </a:endParaRPr>
          </a:p>
        </p:txBody>
      </p:sp>
      <p:sp>
        <p:nvSpPr>
          <p:cNvPr id="108" name="Google Shape;108;p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Create a position-line for the un-distracted driver.</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C</a:t>
            </a:r>
            <a:r>
              <a:rPr lang="en">
                <a:solidFill>
                  <a:srgbClr val="0B0B0B"/>
                </a:solidFill>
                <a:latin typeface="Cabin"/>
                <a:ea typeface="Cabin"/>
                <a:cs typeface="Cabin"/>
                <a:sym typeface="Cabin"/>
              </a:rPr>
              <a:t>. Tape a strip of receipt paper to the projection screen or the whiteboard so that the video is projected over it, as in the photos below. Make sure the paper extends across the frame, and is at the height of the car’s bumper.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For the first video (not distracted), mark the important positions that can help us analyze the way it moves. Also mark the obstacle on the line. (If you are using a monitor, you can tape the strip of receipt paper carefully to the edges of the monitor, and make sure the brightness is up so that you can see the video through the paper.)</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Elicit students' ideas about what positions are “important.” Use probing questions to help them see the brake lights of the car go on, for example “Are there any changes to what we see when the car’s brakes go on?” Ask them what clues we can use to consistently determine the moment the car stops, for example, the rotating of the front tire. Be sure to mark the following positions on the receipt paper:</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Position 0: The car appears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Position 1: The obstacle appears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Position 2: The brake lights go on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Position 3: The car comes to a complete stop</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Once you have identified the important positions, as in the image above in blue, say, </a:t>
            </a:r>
            <a:r>
              <a:rPr i="1" lang="en">
                <a:solidFill>
                  <a:srgbClr val="0B0B0B"/>
                </a:solidFill>
                <a:latin typeface="Cabin"/>
                <a:ea typeface="Cabin"/>
                <a:cs typeface="Cabin"/>
                <a:sym typeface="Cabin"/>
              </a:rPr>
              <a:t>Let’s label and connect each of these positions so that we can visualize the distance between them. What should we call each point?</a:t>
            </a:r>
            <a:r>
              <a:rPr lang="en">
                <a:solidFill>
                  <a:srgbClr val="0B0B0B"/>
                </a:solidFill>
                <a:latin typeface="Cabin"/>
                <a:ea typeface="Cabin"/>
                <a:cs typeface="Cabin"/>
                <a:sym typeface="Cabin"/>
              </a:rPr>
              <a:t> Label the positions as students suggest them, and then ask students how we might abbreviate each one to keep track of them. Students may suggest using X</a:t>
            </a:r>
            <a:r>
              <a:rPr baseline="-25000" lang="en">
                <a:solidFill>
                  <a:srgbClr val="0B0B0B"/>
                </a:solidFill>
                <a:latin typeface="Cabin"/>
                <a:ea typeface="Cabin"/>
                <a:cs typeface="Cabin"/>
                <a:sym typeface="Cabin"/>
              </a:rPr>
              <a:t>1</a:t>
            </a:r>
            <a:r>
              <a:rPr lang="en">
                <a:solidFill>
                  <a:srgbClr val="0B0B0B"/>
                </a:solidFill>
                <a:latin typeface="Cabin"/>
                <a:ea typeface="Cabin"/>
                <a:cs typeface="Cabin"/>
                <a:sym typeface="Cabin"/>
              </a:rPr>
              <a:t> X</a:t>
            </a:r>
            <a:r>
              <a:rPr baseline="-25000" lang="en">
                <a:solidFill>
                  <a:srgbClr val="0B0B0B"/>
                </a:solidFill>
                <a:latin typeface="Cabin"/>
                <a:ea typeface="Cabin"/>
                <a:cs typeface="Cabin"/>
                <a:sym typeface="Cabin"/>
              </a:rPr>
              <a:t>2</a:t>
            </a:r>
            <a:r>
              <a:rPr lang="en">
                <a:solidFill>
                  <a:srgbClr val="0B0B0B"/>
                </a:solidFill>
                <a:latin typeface="Cabin"/>
                <a:ea typeface="Cabin"/>
                <a:cs typeface="Cabin"/>
                <a:sym typeface="Cabin"/>
              </a:rPr>
              <a:t> etc. If you are short on time, briefly explain the convention of subscripting the letter X as a way to keep track of different positions, saying, </a:t>
            </a:r>
            <a:r>
              <a:rPr i="1" lang="en">
                <a:solidFill>
                  <a:srgbClr val="0B0B0B"/>
                </a:solidFill>
                <a:latin typeface="Cabin"/>
                <a:ea typeface="Cabin"/>
                <a:cs typeface="Cabin"/>
                <a:sym typeface="Cabin"/>
              </a:rPr>
              <a:t>Let’s label the first position with a little 1, and the second position with a little 2, and so on, so that we can tell them apart.</a:t>
            </a:r>
            <a:r>
              <a:rPr lang="en">
                <a:solidFill>
                  <a:srgbClr val="0B0B0B"/>
                </a:solidFill>
                <a:latin typeface="Cabin"/>
                <a:ea typeface="Cabin"/>
                <a:cs typeface="Cabin"/>
                <a:sym typeface="Cabin"/>
              </a:rPr>
              <a:t> Then label each change in position as ΔX and ask students what to call these time intervals. Explain that scientists and engineers use Δ when measuring change, and that we call that symbol delta. Students will add this symbol to their personal glossaries in Lesson 5.</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Introduce reaction distance and braking distance and add to our personal glossaries. </a:t>
            </a:r>
            <a:r>
              <a:rPr lang="en">
                <a:solidFill>
                  <a:srgbClr val="0B0B0B"/>
                </a:solidFill>
                <a:latin typeface="Cabin"/>
                <a:ea typeface="Cabin"/>
                <a:cs typeface="Cabin"/>
                <a:sym typeface="Cabin"/>
              </a:rPr>
              <a:t>Point to the interval between the appearance of the obstacle, and the brake lights, and say, </a:t>
            </a:r>
            <a:r>
              <a:rPr i="1" lang="en">
                <a:solidFill>
                  <a:srgbClr val="0B0B0B"/>
                </a:solidFill>
                <a:latin typeface="Cabin"/>
                <a:ea typeface="Cabin"/>
                <a:cs typeface="Cabin"/>
                <a:sym typeface="Cabin"/>
              </a:rPr>
              <a:t>What happens to the car during this interval?</a:t>
            </a:r>
            <a:r>
              <a:rPr lang="en">
                <a:solidFill>
                  <a:srgbClr val="0B0B0B"/>
                </a:solidFill>
                <a:latin typeface="Cabin"/>
                <a:ea typeface="Cabin"/>
                <a:cs typeface="Cabin"/>
                <a:sym typeface="Cabin"/>
              </a:rPr>
              <a:t> Look for students to say that the driver sees the obstacle, or reacts. Say, </a:t>
            </a:r>
            <a:r>
              <a:rPr i="1" lang="en">
                <a:solidFill>
                  <a:srgbClr val="0B0B0B"/>
                </a:solidFill>
                <a:latin typeface="Cabin"/>
                <a:ea typeface="Cabin"/>
                <a:cs typeface="Cabin"/>
                <a:sym typeface="Cabin"/>
              </a:rPr>
              <a:t>This is the interval where the driver reacts.</a:t>
            </a:r>
            <a:r>
              <a:rPr lang="en">
                <a:solidFill>
                  <a:srgbClr val="0B0B0B"/>
                </a:solidFill>
                <a:latin typeface="Cabin"/>
                <a:ea typeface="Cabin"/>
                <a:cs typeface="Cabin"/>
                <a:sym typeface="Cabin"/>
              </a:rPr>
              <a:t> </a:t>
            </a:r>
            <a:r>
              <a:rPr i="1" lang="en">
                <a:solidFill>
                  <a:srgbClr val="0B0B0B"/>
                </a:solidFill>
                <a:latin typeface="Cabin"/>
                <a:ea typeface="Cabin"/>
                <a:cs typeface="Cabin"/>
                <a:sym typeface="Cabin"/>
              </a:rPr>
              <a:t>So let’s call it the reaction distance.</a:t>
            </a:r>
            <a:r>
              <a:rPr lang="en">
                <a:solidFill>
                  <a:srgbClr val="0B0B0B"/>
                </a:solidFill>
                <a:latin typeface="Cabin"/>
                <a:ea typeface="Cabin"/>
                <a:cs typeface="Cabin"/>
                <a:sym typeface="Cabin"/>
              </a:rPr>
              <a:t> Have students record this idea in their personal glossaries. Do the same thing for the </a:t>
            </a:r>
            <a:r>
              <a:rPr i="1" lang="en">
                <a:solidFill>
                  <a:srgbClr val="0B0B0B"/>
                </a:solidFill>
                <a:latin typeface="Cabin"/>
                <a:ea typeface="Cabin"/>
                <a:cs typeface="Cabin"/>
                <a:sym typeface="Cabin"/>
              </a:rPr>
              <a:t>braking distance</a:t>
            </a:r>
            <a:r>
              <a:rPr lang="en">
                <a:solidFill>
                  <a:srgbClr val="0B0B0B"/>
                </a:solidFill>
                <a:latin typeface="Cabin"/>
                <a:ea typeface="Cabin"/>
                <a:cs typeface="Cabin"/>
                <a:sym typeface="Cabin"/>
              </a:rPr>
              <a:t>, which is the distance between when the driver begins to brake (or the brake lights go on in the video), and the car comes to a stop.</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Record the distances to each point from the origin.</a:t>
            </a:r>
            <a:r>
              <a:rPr lang="en">
                <a:solidFill>
                  <a:srgbClr val="0B0B0B"/>
                </a:solidFill>
                <a:latin typeface="Cabin"/>
                <a:ea typeface="Cabin"/>
                <a:cs typeface="Cabin"/>
                <a:sym typeface="Cabin"/>
              </a:rPr>
              <a:t> Measure the distance from the position when the car first appeared (labeled X</a:t>
            </a:r>
            <a:r>
              <a:rPr baseline="-25000" lang="en">
                <a:solidFill>
                  <a:srgbClr val="0B0B0B"/>
                </a:solidFill>
                <a:latin typeface="Cabin"/>
                <a:ea typeface="Cabin"/>
                <a:cs typeface="Cabin"/>
                <a:sym typeface="Cabin"/>
              </a:rPr>
              <a:t>0</a:t>
            </a:r>
            <a:r>
              <a:rPr lang="en">
                <a:solidFill>
                  <a:srgbClr val="0B0B0B"/>
                </a:solidFill>
                <a:latin typeface="Cabin"/>
                <a:ea typeface="Cabin"/>
                <a:cs typeface="Cabin"/>
                <a:sym typeface="Cabin"/>
              </a:rPr>
              <a:t> in the examples) using a meter stick. The distance will most likely be great enough that you do not need to use decimal places beyond the cm measurement. If students want to use fractions of a centimeter, ask them to consider the error introduced by measurement.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Use a manipulative to re-enact the video along the position-line.</a:t>
            </a:r>
            <a:r>
              <a:rPr lang="en">
                <a:solidFill>
                  <a:srgbClr val="0B0B0B"/>
                </a:solidFill>
                <a:latin typeface="Cabin"/>
                <a:ea typeface="Cabin"/>
                <a:cs typeface="Cabin"/>
                <a:sym typeface="Cabin"/>
              </a:rPr>
              <a:t> With students, briefly use the toy car to move in slow motion along the position-line from position to position, recreating the video clip. In order to help students draw additional conceptual connections between the representation and the real-life phenomenon, at each position that the toy car passes, ask, </a:t>
            </a:r>
            <a:r>
              <a:rPr i="1" lang="en">
                <a:solidFill>
                  <a:srgbClr val="0B0B0B"/>
                </a:solidFill>
                <a:latin typeface="Cabin"/>
                <a:ea typeface="Cabin"/>
                <a:cs typeface="Cabin"/>
                <a:sym typeface="Cabin"/>
              </a:rPr>
              <a:t>What happens when we get to this position?</a:t>
            </a:r>
            <a:r>
              <a:rPr lang="en">
                <a:solidFill>
                  <a:srgbClr val="0B0B0B"/>
                </a:solidFill>
                <a:latin typeface="Cabin"/>
                <a:ea typeface="Cabin"/>
                <a:cs typeface="Cabin"/>
                <a:sym typeface="Cabin"/>
              </a:rPr>
              <a:t>  Do not worry about the timings yet.</a:t>
            </a:r>
            <a:endParaRPr>
              <a:solidFill>
                <a:srgbClr val="0B0B0B"/>
              </a:solidFill>
              <a:latin typeface="Cabin"/>
              <a:ea typeface="Cabin"/>
              <a:cs typeface="Cabin"/>
              <a:sym typeface="Cabin"/>
            </a:endParaRPr>
          </a:p>
        </p:txBody>
      </p:sp>
      <p:sp>
        <p:nvSpPr>
          <p:cNvPr id="117" name="Google Shape;117;p3: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
                <a:solidFill>
                  <a:srgbClr val="0B0B0B"/>
                </a:solidFill>
                <a:latin typeface="Cabin"/>
                <a:ea typeface="Cabin"/>
                <a:cs typeface="Cabin"/>
                <a:sym typeface="Cabin"/>
              </a:rPr>
              <a:t>Elicit ideas about how to calculate distances. </a:t>
            </a: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D. </a:t>
            </a:r>
            <a:r>
              <a:rPr lang="en">
                <a:solidFill>
                  <a:srgbClr val="0B0B0B"/>
                </a:solidFill>
                <a:latin typeface="Cabin"/>
                <a:ea typeface="Cabin"/>
                <a:cs typeface="Cabin"/>
                <a:sym typeface="Cabin"/>
              </a:rPr>
              <a:t>Allow students to share their ideas about how we can use scale to determine the distance. Look for ideas about wanting to know the real length of something in the video.</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Calculate ΔX and add to the position-line.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I looked up the length of this kind of car. It is 4.5 meters long. </a:t>
            </a:r>
            <a:endParaRPr>
              <a:solidFill>
                <a:srgbClr val="0B0B0B"/>
              </a:solidFill>
              <a:latin typeface="Cabin"/>
              <a:ea typeface="Cabin"/>
              <a:cs typeface="Cabin"/>
              <a:sym typeface="Cabin"/>
            </a:endParaRPr>
          </a:p>
        </p:txBody>
      </p:sp>
      <p:sp>
        <p:nvSpPr>
          <p:cNvPr id="126" name="Google Shape;126;p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E. </a:t>
            </a:r>
            <a:r>
              <a:rPr lang="en">
                <a:solidFill>
                  <a:srgbClr val="0B0B0B"/>
                </a:solidFill>
                <a:latin typeface="Cabin"/>
                <a:ea typeface="Cabin"/>
                <a:cs typeface="Cabin"/>
                <a:sym typeface="Cabin"/>
              </a:rPr>
              <a:t>Pass out handout.</a:t>
            </a:r>
            <a:r>
              <a:rPr b="1" lang="en">
                <a:solidFill>
                  <a:srgbClr val="0B0B0B"/>
                </a:solidFill>
                <a:latin typeface="Cabin"/>
                <a:ea typeface="Cabin"/>
                <a:cs typeface="Cabin"/>
                <a:sym typeface="Cabin"/>
              </a:rPr>
              <a:t> </a:t>
            </a:r>
            <a:r>
              <a:rPr lang="en">
                <a:solidFill>
                  <a:srgbClr val="0B0B0B"/>
                </a:solidFill>
                <a:latin typeface="Cabin"/>
                <a:ea typeface="Cabin"/>
                <a:cs typeface="Cabin"/>
                <a:sym typeface="Cabin"/>
              </a:rPr>
              <a:t>Remind students that the car in the clip is 4.5 meters long. Ask the class for ideas about how to use what we know about the length of the car to find the actual distances in the clip. Look for ideas about finding the ratio of the actual car to the measured distance.</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Follow the directions on the slide (and in the handout) as a class:</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AutoNum type="arabicPeriod"/>
            </a:pPr>
            <a:r>
              <a:rPr lang="en">
                <a:solidFill>
                  <a:srgbClr val="0B0B0B"/>
                </a:solidFill>
                <a:latin typeface="Cabin"/>
                <a:ea typeface="Cabin"/>
                <a:cs typeface="Cabin"/>
                <a:sym typeface="Cabin"/>
              </a:rPr>
              <a:t>Find the length of the car in the video clip at the scale that you watched it in the classroom. Record it on your handout.</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AutoNum type="arabicPeriod"/>
            </a:pPr>
            <a:r>
              <a:rPr lang="en">
                <a:solidFill>
                  <a:srgbClr val="0B0B0B"/>
                </a:solidFill>
                <a:latin typeface="Cabin"/>
                <a:ea typeface="Cabin"/>
                <a:cs typeface="Cabin"/>
                <a:sym typeface="Cabin"/>
              </a:rPr>
              <a:t>Find the length of the position intervals that you identified (the length between the important positions) at the same scale. Record them on your handout.</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AutoNum type="arabicPeriod"/>
            </a:pPr>
            <a:r>
              <a:rPr lang="en">
                <a:solidFill>
                  <a:srgbClr val="0B0B0B"/>
                </a:solidFill>
                <a:latin typeface="Cabin"/>
                <a:ea typeface="Cabin"/>
                <a:cs typeface="Cabin"/>
                <a:sym typeface="Cabin"/>
              </a:rPr>
              <a:t>Find the ratio of the actual length of the car to the length you measured. Set this ratio equal to the ratio of the actual distance of each of the position intervals to the measured length of that interval.  Solve to get the actual length of each interval. </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AutoNum type="arabicPeriod"/>
            </a:pPr>
            <a:r>
              <a:rPr lang="en">
                <a:solidFill>
                  <a:srgbClr val="0B0B0B"/>
                </a:solidFill>
                <a:latin typeface="Cabin"/>
                <a:ea typeface="Cabin"/>
                <a:cs typeface="Cabin"/>
                <a:sym typeface="Cabin"/>
              </a:rPr>
              <a:t>Label the distances you calculated on the position line.</a:t>
            </a:r>
            <a:endParaRPr>
              <a:solidFill>
                <a:srgbClr val="0B0B0B"/>
              </a:solidFill>
              <a:latin typeface="Cabin"/>
              <a:ea typeface="Cabin"/>
              <a:cs typeface="Cabin"/>
              <a:sym typeface="Cabin"/>
            </a:endParaRPr>
          </a:p>
        </p:txBody>
      </p:sp>
      <p:sp>
        <p:nvSpPr>
          <p:cNvPr id="135" name="Google Shape;135;p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Make a prediction about a distracted driver. </a:t>
            </a: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F. </a:t>
            </a:r>
            <a:r>
              <a:rPr lang="en">
                <a:solidFill>
                  <a:srgbClr val="0B0B0B"/>
                </a:solidFill>
                <a:latin typeface="Cabin"/>
                <a:ea typeface="Cabin"/>
                <a:cs typeface="Cabin"/>
                <a:sym typeface="Cabin"/>
              </a:rPr>
              <a:t>Use the prompt below to engage students in making a prediction. S</a:t>
            </a:r>
            <a:r>
              <a:rPr lang="en">
                <a:solidFill>
                  <a:schemeClr val="dk1"/>
                </a:solidFill>
                <a:latin typeface="Cabin"/>
                <a:ea typeface="Cabin"/>
                <a:cs typeface="Cabin"/>
                <a:sym typeface="Cabin"/>
              </a:rPr>
              <a:t>ee the prompts in the teacher guide for support.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1000"/>
              </a:spcAft>
              <a:buClr>
                <a:schemeClr val="dk1"/>
              </a:buClr>
              <a:buSzPts val="1100"/>
              <a:buFont typeface="Arial"/>
              <a:buNone/>
            </a:pPr>
            <a:r>
              <a:rPr lang="en">
                <a:solidFill>
                  <a:srgbClr val="0B0B0B"/>
                </a:solidFill>
                <a:latin typeface="Cabin"/>
                <a:ea typeface="Cabin"/>
                <a:cs typeface="Cabin"/>
                <a:sym typeface="Cabin"/>
              </a:rPr>
              <a:t>As students describe it, use a toy car to illustrate by driving it along the position-line you created, acting out students’ predictions. Revoice and record the students’ prediction(s) in words near the front of the room, for example: “The reaction distance will be longer, but the braking distance will be the same. The car will take a longer distance to stop altogether.”</a:t>
            </a:r>
            <a:endParaRPr>
              <a:solidFill>
                <a:schemeClr val="dk1"/>
              </a:solidFill>
              <a:latin typeface="Cabin"/>
              <a:ea typeface="Cabin"/>
              <a:cs typeface="Cabin"/>
              <a:sym typeface="Cabin"/>
            </a:endParaRPr>
          </a:p>
        </p:txBody>
      </p:sp>
      <p:sp>
        <p:nvSpPr>
          <p:cNvPr id="143" name="Google Shape;143;p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Compare predictions to the distracted driver. </a:t>
            </a: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G</a:t>
            </a:r>
            <a:r>
              <a:rPr lang="en">
                <a:solidFill>
                  <a:srgbClr val="0B0B0B"/>
                </a:solidFill>
                <a:latin typeface="Cabin"/>
                <a:ea typeface="Cabin"/>
                <a:cs typeface="Cabin"/>
                <a:sym typeface="Cabin"/>
              </a:rPr>
              <a:t>. Label the first position-line as “non-distracted” and then move it above or below the path of the car to make room for another piece of receipt paper. Label this position-line “distracted.”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Watch the distracted driver video again and create a second position line on the new piece of receipt paper. Move through the same steps with the distracted driver video to create something that looks like the images below. If you have time, you can ask students to calculate the intervals again, using the handout. But in order to make time for creating position vs. time graphs, we recommend that  you do these calculations quickly as a class.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Ask students to explain why the lines are different. You can annotate the position-line  as students describe their thinking, or underline students’ predictions at the front of the room to emphasize that they were supported by the data.</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p:txBody>
      </p:sp>
      <p:sp>
        <p:nvSpPr>
          <p:cNvPr id="152" name="Google Shape;152;p7: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H</a:t>
            </a:r>
            <a:r>
              <a:rPr lang="en">
                <a:solidFill>
                  <a:srgbClr val="0B0B0B"/>
                </a:solidFill>
                <a:latin typeface="Cabin"/>
                <a:ea typeface="Cabin"/>
                <a:cs typeface="Cabin"/>
                <a:sym typeface="Cabin"/>
              </a:rPr>
              <a:t>. Give students a minute of individual think-time about the prompt on the slide before eliciting ideas from the class: </a:t>
            </a:r>
            <a:r>
              <a:rPr i="1" lang="en">
                <a:solidFill>
                  <a:srgbClr val="0B0B0B"/>
                </a:solidFill>
                <a:latin typeface="Cabin"/>
                <a:ea typeface="Cabin"/>
                <a:cs typeface="Cabin"/>
                <a:sym typeface="Cabin"/>
              </a:rPr>
              <a:t>How did our predictions match the data? How were they different from the data?</a:t>
            </a:r>
            <a:r>
              <a:rPr lang="en">
                <a:solidFill>
                  <a:srgbClr val="0B0B0B"/>
                </a:solidFill>
                <a:latin typeface="Cabin"/>
                <a:ea typeface="Cabin"/>
                <a:cs typeface="Cabin"/>
                <a:sym typeface="Cabin"/>
              </a:rPr>
              <a:t> Accept all student ideas.</a:t>
            </a:r>
            <a:endParaRPr/>
          </a:p>
        </p:txBody>
      </p:sp>
      <p:sp>
        <p:nvSpPr>
          <p:cNvPr id="161" name="Google Shape;161;p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Motivate analysis of timing.</a:t>
            </a:r>
            <a:r>
              <a:rPr lang="en">
                <a:solidFill>
                  <a:schemeClr val="dk1"/>
                </a:solidFill>
                <a:latin typeface="Cabin"/>
                <a:ea typeface="Cabin"/>
                <a:cs typeface="Cabin"/>
                <a:sym typeface="Cabin"/>
              </a:rPr>
              <a:t> Use the toy car to “drive” along the line again, recreating the distracted scenario. Then present </a:t>
            </a:r>
            <a:r>
              <a:rPr b="1" lang="en">
                <a:solidFill>
                  <a:schemeClr val="dk1"/>
                </a:solidFill>
                <a:latin typeface="Cabin"/>
                <a:ea typeface="Cabin"/>
                <a:cs typeface="Cabin"/>
                <a:sym typeface="Cabin"/>
              </a:rPr>
              <a:t>slide I</a:t>
            </a:r>
            <a:r>
              <a:rPr lang="en">
                <a:solidFill>
                  <a:schemeClr val="dk1"/>
                </a:solidFill>
                <a:latin typeface="Cabin"/>
                <a:ea typeface="Cabin"/>
                <a:cs typeface="Cabin"/>
                <a:sym typeface="Cabin"/>
              </a:rPr>
              <a:t> and ask, </a:t>
            </a:r>
            <a:r>
              <a:rPr i="1" lang="en">
                <a:solidFill>
                  <a:schemeClr val="dk1"/>
                </a:solidFill>
                <a:latin typeface="Cabin"/>
                <a:ea typeface="Cabin"/>
                <a:cs typeface="Cabin"/>
                <a:sym typeface="Cabin"/>
              </a:rPr>
              <a:t>Why are these distances so different for the distracted driver? What was different about how the distracted driver was driving that could explain why these distances were different? </a:t>
            </a:r>
            <a:r>
              <a:rPr lang="en">
                <a:solidFill>
                  <a:schemeClr val="dk1"/>
                </a:solidFill>
                <a:latin typeface="Cabin"/>
                <a:ea typeface="Cabin"/>
                <a:cs typeface="Cabin"/>
                <a:sym typeface="Cabin"/>
              </a:rPr>
              <a:t>Look for students to identify speed or timing in order to motivate an analysis of the time intervals in the video. Use the prompt/response example below as a guide.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It is not important whether or not students say the braking time is the same or longer. Make sure to listen for  students to think through the fact that the reaction time will be longer, and the braking time will either be shorter, or the same.</a:t>
            </a:r>
            <a:endParaRPr>
              <a:solidFill>
                <a:schemeClr val="dk1"/>
              </a:solidFill>
              <a:latin typeface="Cabin"/>
              <a:ea typeface="Cabin"/>
              <a:cs typeface="Cabin"/>
              <a:sym typeface="Cabin"/>
            </a:endParaRPr>
          </a:p>
        </p:txBody>
      </p:sp>
      <p:sp>
        <p:nvSpPr>
          <p:cNvPr id="171" name="Google Shape;171;p9: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J</a:t>
            </a:r>
            <a:r>
              <a:rPr lang="en">
                <a:solidFill>
                  <a:schemeClr val="dk1"/>
                </a:solidFill>
                <a:latin typeface="Cabin"/>
                <a:ea typeface="Cabin"/>
                <a:cs typeface="Cabin"/>
                <a:sym typeface="Cabin"/>
              </a:rPr>
              <a:t> and say, </a:t>
            </a:r>
            <a:r>
              <a:rPr i="1" lang="en">
                <a:solidFill>
                  <a:schemeClr val="dk1"/>
                </a:solidFill>
                <a:latin typeface="Cabin"/>
                <a:ea typeface="Cabin"/>
                <a:cs typeface="Cabin"/>
                <a:sym typeface="Cabin"/>
              </a:rPr>
              <a:t>I heard ideas about speeding, and how fast you stop. These are all related to the time it takes for the car to move and slow down and stop. But we have only been able to analyze this video based on distance. Let’s take a closer look at the timing of the videos next time.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Assign Home Learning.</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Let’s read about the time it takes to stop tonight, and then see if that can give us some insight into the timing of the videos we watched today. </a:t>
            </a:r>
            <a:r>
              <a:rPr lang="en">
                <a:solidFill>
                  <a:schemeClr val="dk1"/>
                </a:solidFill>
                <a:latin typeface="Cabin"/>
                <a:ea typeface="Cabin"/>
                <a:cs typeface="Cabin"/>
                <a:sym typeface="Cabin"/>
              </a:rPr>
              <a:t>Give each student a copy of the reading. The text has a Lexile score of 1010-1200 and is 843 words long.</a:t>
            </a:r>
            <a:endParaRPr sz="1400">
              <a:solidFill>
                <a:schemeClr val="dk1"/>
              </a:solidFill>
              <a:latin typeface="Open Sans"/>
              <a:ea typeface="Open Sans"/>
              <a:cs typeface="Open Sans"/>
              <a:sym typeface="Open Sans"/>
            </a:endParaRPr>
          </a:p>
        </p:txBody>
      </p:sp>
      <p:sp>
        <p:nvSpPr>
          <p:cNvPr id="181" name="Google Shape;181;p10: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Focus on the relationship between distraction and reaction time.</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K</a:t>
            </a:r>
            <a:r>
              <a:rPr lang="en">
                <a:solidFill>
                  <a:schemeClr val="dk1"/>
                </a:solidFill>
                <a:latin typeface="Cabin"/>
                <a:ea typeface="Cabin"/>
                <a:cs typeface="Cabin"/>
                <a:sym typeface="Cabin"/>
              </a:rPr>
              <a:t>, and pose the prompts below to get students thinking about the difference between measuring distance traveled, and time passed. See the prompts in the teacher guide for support.</a:t>
            </a:r>
            <a:endParaRPr>
              <a:solidFill>
                <a:schemeClr val="dk1"/>
              </a:solidFill>
              <a:latin typeface="Cabin"/>
              <a:ea typeface="Cabin"/>
              <a:cs typeface="Cabin"/>
              <a:sym typeface="Cabin"/>
            </a:endParaRPr>
          </a:p>
        </p:txBody>
      </p:sp>
      <p:sp>
        <p:nvSpPr>
          <p:cNvPr id="191" name="Google Shape;191;p1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Articulate our motivation to analyze timing.</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L</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How could looking at the timing of each scenario help us understand how distracted driving could change the outcome of a possible collision? </a:t>
            </a:r>
            <a:r>
              <a:rPr lang="en">
                <a:solidFill>
                  <a:schemeClr val="dk1"/>
                </a:solidFill>
                <a:latin typeface="Cabin"/>
                <a:ea typeface="Cabin"/>
                <a:cs typeface="Cabin"/>
                <a:sym typeface="Cabin"/>
              </a:rPr>
              <a:t>Have students turn and talk, and share out some ideas.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Add reaction time to our personal glossaries.</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In the article you read that the time it takes for you to hit your brakes when you see something you might hit is called your </a:t>
            </a:r>
            <a:r>
              <a:rPr i="1" lang="en" u="sng">
                <a:solidFill>
                  <a:schemeClr val="dk1"/>
                </a:solidFill>
                <a:latin typeface="Cabin"/>
                <a:ea typeface="Cabin"/>
                <a:cs typeface="Cabin"/>
                <a:sym typeface="Cabin"/>
              </a:rPr>
              <a:t>reaction time</a:t>
            </a:r>
            <a:r>
              <a:rPr i="1" lang="en">
                <a:solidFill>
                  <a:schemeClr val="dk1"/>
                </a:solidFill>
                <a:latin typeface="Cabin"/>
                <a:ea typeface="Cabin"/>
                <a:cs typeface="Cabin"/>
                <a:sym typeface="Cabin"/>
              </a:rPr>
              <a:t>. Let’s keep track of that phrase, because it means something very specific.</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Take a moment to add </a:t>
            </a:r>
            <a:r>
              <a:rPr i="1" lang="en">
                <a:solidFill>
                  <a:schemeClr val="dk1"/>
                </a:solidFill>
                <a:latin typeface="Cabin"/>
                <a:ea typeface="Cabin"/>
                <a:cs typeface="Cabin"/>
                <a:sym typeface="Cabin"/>
              </a:rPr>
              <a:t>reaction time</a:t>
            </a:r>
            <a:r>
              <a:rPr lang="en">
                <a:solidFill>
                  <a:schemeClr val="dk1"/>
                </a:solidFill>
                <a:latin typeface="Cabin"/>
                <a:ea typeface="Cabin"/>
                <a:cs typeface="Cabin"/>
                <a:sym typeface="Cabin"/>
              </a:rPr>
              <a:t> to students’ personal glossaries. Students may define it in terms of driving (the time it takes for a driver to hit the brakes when they see an obstacle), or in terms of biology (the time it takes for an animal or plant to react after sensing a stimulus).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There is always a delay in how fast you can react to something. Researchers say that being distracted doubles that time and our test bears that out….but we are talking about moments here. We are talking about half a second versus a quarter of a second. How much of a difference do these small changes in reaction time make in avoiding a crash?</a:t>
            </a:r>
            <a:endParaRPr>
              <a:solidFill>
                <a:schemeClr val="dk1"/>
              </a:solidFill>
              <a:latin typeface="Cabin"/>
              <a:ea typeface="Cabin"/>
              <a:cs typeface="Cabin"/>
              <a:sym typeface="Cabin"/>
            </a:endParaRPr>
          </a:p>
        </p:txBody>
      </p:sp>
      <p:sp>
        <p:nvSpPr>
          <p:cNvPr id="200" name="Google Shape;200;p1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Create a timeline of the non-distracted driver.</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M</a:t>
            </a:r>
            <a:r>
              <a:rPr lang="en">
                <a:solidFill>
                  <a:srgbClr val="0B0B0B"/>
                </a:solidFill>
                <a:latin typeface="Cabin"/>
                <a:ea typeface="Cabin"/>
                <a:cs typeface="Cabin"/>
                <a:sym typeface="Cabin"/>
              </a:rPr>
              <a:t>. Use a new strip of paper to reconstruct a timeline for the non-distracted video. This does not need to be exactly the same length as the paper you used for the position-line, but should be on the same scale, as you will eventually combine these lines to create the axes of a graph. You can do this on the projector screen again, or on a sturdier surface like a white board or wall. Start by creating tick-marks using the relevant units of time. Ask students what units we should use for our tick marks. The class should decide on seconds as the relevant unit. The videos are 6 seconds and 7 seconds long, respectively, so your line will probably go to about 7 seconds. In the example timeline below we made each tick mark one decimeter apart.</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Use the time code from the video to figure out the times associated with each position that you identified. Then determine the lengths of each time interval and add this information to the timelines, as in the image below. Be sure to label this timeline as “not distracted.”</a:t>
            </a:r>
            <a:endParaRPr/>
          </a:p>
        </p:txBody>
      </p:sp>
      <p:sp>
        <p:nvSpPr>
          <p:cNvPr id="210" name="Google Shape;210;p13: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Motivate comparing our variables.</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N</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We have two different ways to look at this clip, through time, and through position. What could we do to visualize what’s happening here in both dimensions, time AND position, and look for a relationship between them? </a:t>
            </a:r>
            <a:r>
              <a:rPr lang="en">
                <a:solidFill>
                  <a:srgbClr val="0B0B0B"/>
                </a:solidFill>
                <a:latin typeface="Cabin"/>
                <a:ea typeface="Cabin"/>
                <a:cs typeface="Cabin"/>
                <a:sym typeface="Cabin"/>
              </a:rPr>
              <a:t>Give students time to consider this question with a partner, and then elicit ideas publicly. If students need more scaffolding here, use the prompts below to help them consider what they have done in the past, and if necessary, guide them to think about graphing specifically.</a:t>
            </a:r>
            <a:r>
              <a:rPr lang="en">
                <a:solidFill>
                  <a:schemeClr val="dk1"/>
                </a:solidFill>
                <a:latin typeface="Cabin"/>
                <a:ea typeface="Cabin"/>
                <a:cs typeface="Cabin"/>
                <a:sym typeface="Cabin"/>
              </a:rPr>
              <a:t> See the prompts in the teacher guide for support.</a:t>
            </a:r>
            <a:endParaRPr/>
          </a:p>
        </p:txBody>
      </p:sp>
      <p:sp>
        <p:nvSpPr>
          <p:cNvPr id="219" name="Google Shape;219;p1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Consider the relevant variables.</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O</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The variable on the y-axis is usually the one that changes depending on the x-axis...or the dependent variable. The variable that determines the dependent variable is called the independent variable. </a:t>
            </a:r>
            <a:r>
              <a:rPr lang="en">
                <a:solidFill>
                  <a:srgbClr val="0B0B0B"/>
                </a:solidFill>
                <a:latin typeface="Cabin"/>
                <a:ea typeface="Cabin"/>
                <a:cs typeface="Cabin"/>
                <a:sym typeface="Cabin"/>
              </a:rPr>
              <a:t>Give students 30 seconds to discuss with a partner or think independently before eliciting ideas about the following prompt.</a:t>
            </a:r>
            <a:r>
              <a:rPr lang="en">
                <a:solidFill>
                  <a:schemeClr val="dk1"/>
                </a:solidFill>
                <a:latin typeface="Cabin"/>
                <a:ea typeface="Cabin"/>
                <a:cs typeface="Cabin"/>
                <a:sym typeface="Cabin"/>
              </a:rPr>
              <a:t> 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a:t>
            </a:r>
            <a:r>
              <a:rPr i="1" lang="en">
                <a:solidFill>
                  <a:srgbClr val="0B0B0B"/>
                </a:solidFill>
                <a:latin typeface="Cabin"/>
                <a:ea typeface="Cabin"/>
                <a:cs typeface="Cabin"/>
                <a:sym typeface="Cabin"/>
              </a:rPr>
              <a:t> So let’s leave time on the x-axis. Let’s take position, and put it on the y-axis. That way we can visualize how position changes over time.</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Create the y-axis by repositioning the position-line. </a:t>
            </a:r>
            <a:r>
              <a:rPr lang="en">
                <a:solidFill>
                  <a:schemeClr val="dk1"/>
                </a:solidFill>
                <a:latin typeface="Cabin"/>
                <a:ea typeface="Cabin"/>
                <a:cs typeface="Cabin"/>
                <a:sym typeface="Cabin"/>
              </a:rPr>
              <a:t>Take the strip of paper with position and move it up and sideways to be the y-axis for the timeline like in the image at right, meeting the origins of each line at the bottom left corner. You may want to move through the next several steps without projecting slides to focus attention on the graphing. If so, you can skip </a:t>
            </a:r>
            <a:r>
              <a:rPr b="1" lang="en">
                <a:solidFill>
                  <a:schemeClr val="dk1"/>
                </a:solidFill>
                <a:latin typeface="Cabin"/>
                <a:ea typeface="Cabin"/>
                <a:cs typeface="Cabin"/>
                <a:sym typeface="Cabin"/>
              </a:rPr>
              <a:t>slide P</a:t>
            </a:r>
            <a:r>
              <a:rPr lang="en">
                <a:solidFill>
                  <a:schemeClr val="dk1"/>
                </a:solidFill>
                <a:latin typeface="Cabin"/>
                <a:ea typeface="Cabin"/>
                <a:cs typeface="Cabin"/>
                <a:sym typeface="Cabin"/>
              </a:rPr>
              <a:t>, otherwise use </a:t>
            </a:r>
            <a:r>
              <a:rPr b="1" lang="en">
                <a:solidFill>
                  <a:schemeClr val="dk1"/>
                </a:solidFill>
                <a:latin typeface="Cabin"/>
                <a:ea typeface="Cabin"/>
                <a:cs typeface="Cabin"/>
                <a:sym typeface="Cabin"/>
              </a:rPr>
              <a:t>slide P</a:t>
            </a:r>
            <a:r>
              <a:rPr lang="en">
                <a:solidFill>
                  <a:schemeClr val="dk1"/>
                </a:solidFill>
                <a:latin typeface="Cabin"/>
                <a:ea typeface="Cabin"/>
                <a:cs typeface="Cabin"/>
                <a:sym typeface="Cabin"/>
              </a:rPr>
              <a:t> to articulate the task for the class.</a:t>
            </a:r>
            <a:endParaRPr/>
          </a:p>
        </p:txBody>
      </p:sp>
      <p:sp>
        <p:nvSpPr>
          <p:cNvPr id="229" name="Google Shape;229;p1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Create the y-axis by repositioning the position-line. </a:t>
            </a:r>
            <a:r>
              <a:rPr lang="en">
                <a:solidFill>
                  <a:schemeClr val="dk1"/>
                </a:solidFill>
                <a:latin typeface="Cabin"/>
                <a:ea typeface="Cabin"/>
                <a:cs typeface="Cabin"/>
                <a:sym typeface="Cabin"/>
              </a:rPr>
              <a:t>Take the strip of paper with position and move it up and sideways to be the y-axis for the timeline like in the image at right, meeting the origins of each line at the bottom left corner. You may want to move through the next several steps without projecting slides to focus attention on the graphing. If so, you can skip </a:t>
            </a:r>
            <a:r>
              <a:rPr b="1" lang="en">
                <a:solidFill>
                  <a:schemeClr val="dk1"/>
                </a:solidFill>
                <a:latin typeface="Cabin"/>
                <a:ea typeface="Cabin"/>
                <a:cs typeface="Cabin"/>
                <a:sym typeface="Cabin"/>
              </a:rPr>
              <a:t>slide P</a:t>
            </a:r>
            <a:r>
              <a:rPr lang="en">
                <a:solidFill>
                  <a:schemeClr val="dk1"/>
                </a:solidFill>
                <a:latin typeface="Cabin"/>
                <a:ea typeface="Cabin"/>
                <a:cs typeface="Cabin"/>
                <a:sym typeface="Cabin"/>
              </a:rPr>
              <a:t>, otherwise use </a:t>
            </a:r>
            <a:r>
              <a:rPr b="1" lang="en">
                <a:solidFill>
                  <a:schemeClr val="dk1"/>
                </a:solidFill>
                <a:latin typeface="Cabin"/>
                <a:ea typeface="Cabin"/>
                <a:cs typeface="Cabin"/>
                <a:sym typeface="Cabin"/>
              </a:rPr>
              <a:t>slide P</a:t>
            </a:r>
            <a:r>
              <a:rPr lang="en">
                <a:solidFill>
                  <a:schemeClr val="dk1"/>
                </a:solidFill>
                <a:latin typeface="Cabin"/>
                <a:ea typeface="Cabin"/>
                <a:cs typeface="Cabin"/>
                <a:sym typeface="Cabin"/>
              </a:rPr>
              <a:t> to articulate the task for the class.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Determine the lines between points. </a:t>
            </a:r>
            <a:r>
              <a:rPr lang="en">
                <a:solidFill>
                  <a:schemeClr val="dk1"/>
                </a:solidFill>
                <a:latin typeface="Cabin"/>
                <a:ea typeface="Cabin"/>
                <a:cs typeface="Cabin"/>
                <a:sym typeface="Cabin"/>
              </a:rPr>
              <a:t>Ask, </a:t>
            </a:r>
            <a:r>
              <a:rPr i="1" lang="en">
                <a:solidFill>
                  <a:schemeClr val="dk1"/>
                </a:solidFill>
                <a:latin typeface="Cabin"/>
                <a:ea typeface="Cabin"/>
                <a:cs typeface="Cabin"/>
                <a:sym typeface="Cabin"/>
              </a:rPr>
              <a:t>How do we represent the moment the car appeared, in both time and position on this graph?</a:t>
            </a:r>
            <a:r>
              <a:rPr lang="en">
                <a:solidFill>
                  <a:schemeClr val="dk1"/>
                </a:solidFill>
                <a:latin typeface="Cabin"/>
                <a:ea typeface="Cabin"/>
                <a:cs typeface="Cabin"/>
                <a:sym typeface="Cabin"/>
              </a:rPr>
              <a:t> Help students see that we can graph this point, and use a meterstick to plot each point: (t</a:t>
            </a:r>
            <a:r>
              <a:rPr baseline="-25000" lang="en">
                <a:solidFill>
                  <a:schemeClr val="dk1"/>
                </a:solidFill>
                <a:latin typeface="Cabin"/>
                <a:ea typeface="Cabin"/>
                <a:cs typeface="Cabin"/>
                <a:sym typeface="Cabin"/>
              </a:rPr>
              <a:t>0</a:t>
            </a:r>
            <a:r>
              <a:rPr lang="en">
                <a:solidFill>
                  <a:schemeClr val="dk1"/>
                </a:solidFill>
                <a:latin typeface="Cabin"/>
                <a:ea typeface="Cabin"/>
                <a:cs typeface="Cabin"/>
                <a:sym typeface="Cabin"/>
              </a:rPr>
              <a:t>, x</a:t>
            </a:r>
            <a:r>
              <a:rPr baseline="-25000" lang="en">
                <a:solidFill>
                  <a:schemeClr val="dk1"/>
                </a:solidFill>
                <a:latin typeface="Cabin"/>
                <a:ea typeface="Cabin"/>
                <a:cs typeface="Cabin"/>
                <a:sym typeface="Cabin"/>
              </a:rPr>
              <a:t>0</a:t>
            </a:r>
            <a:r>
              <a:rPr lang="en">
                <a:solidFill>
                  <a:schemeClr val="dk1"/>
                </a:solidFill>
                <a:latin typeface="Cabin"/>
                <a:ea typeface="Cabin"/>
                <a:cs typeface="Cabin"/>
                <a:sym typeface="Cabin"/>
              </a:rPr>
              <a:t>); (t</a:t>
            </a:r>
            <a:r>
              <a:rPr baseline="-25000" lang="en">
                <a:solidFill>
                  <a:schemeClr val="dk1"/>
                </a:solidFill>
                <a:latin typeface="Cabin"/>
                <a:ea typeface="Cabin"/>
                <a:cs typeface="Cabin"/>
                <a:sym typeface="Cabin"/>
              </a:rPr>
              <a:t>1</a:t>
            </a:r>
            <a:r>
              <a:rPr lang="en">
                <a:solidFill>
                  <a:schemeClr val="dk1"/>
                </a:solidFill>
                <a:latin typeface="Cabin"/>
                <a:ea typeface="Cabin"/>
                <a:cs typeface="Cabin"/>
                <a:sym typeface="Cabin"/>
              </a:rPr>
              <a:t>, x</a:t>
            </a:r>
            <a:r>
              <a:rPr baseline="-25000" lang="en">
                <a:solidFill>
                  <a:schemeClr val="dk1"/>
                </a:solidFill>
                <a:latin typeface="Cabin"/>
                <a:ea typeface="Cabin"/>
                <a:cs typeface="Cabin"/>
                <a:sym typeface="Cabin"/>
              </a:rPr>
              <a:t>1</a:t>
            </a:r>
            <a:r>
              <a:rPr lang="en">
                <a:solidFill>
                  <a:schemeClr val="dk1"/>
                </a:solidFill>
                <a:latin typeface="Cabin"/>
                <a:ea typeface="Cabin"/>
                <a:cs typeface="Cabin"/>
                <a:sym typeface="Cabin"/>
              </a:rPr>
              <a:t>); (t</a:t>
            </a:r>
            <a:r>
              <a:rPr baseline="-25000" lang="en">
                <a:solidFill>
                  <a:schemeClr val="dk1"/>
                </a:solidFill>
                <a:latin typeface="Cabin"/>
                <a:ea typeface="Cabin"/>
                <a:cs typeface="Cabin"/>
                <a:sym typeface="Cabin"/>
              </a:rPr>
              <a:t>2</a:t>
            </a:r>
            <a:r>
              <a:rPr lang="en">
                <a:solidFill>
                  <a:schemeClr val="dk1"/>
                </a:solidFill>
                <a:latin typeface="Cabin"/>
                <a:ea typeface="Cabin"/>
                <a:cs typeface="Cabin"/>
                <a:sym typeface="Cabin"/>
              </a:rPr>
              <a:t>, x</a:t>
            </a:r>
            <a:r>
              <a:rPr baseline="-25000" lang="en">
                <a:solidFill>
                  <a:schemeClr val="dk1"/>
                </a:solidFill>
                <a:latin typeface="Cabin"/>
                <a:ea typeface="Cabin"/>
                <a:cs typeface="Cabin"/>
                <a:sym typeface="Cabin"/>
              </a:rPr>
              <a:t>2</a:t>
            </a:r>
            <a:r>
              <a:rPr lang="en">
                <a:solidFill>
                  <a:schemeClr val="dk1"/>
                </a:solidFill>
                <a:latin typeface="Cabin"/>
                <a:ea typeface="Cabin"/>
                <a:cs typeface="Cabin"/>
                <a:sym typeface="Cabin"/>
              </a:rPr>
              <a:t>); (t</a:t>
            </a:r>
            <a:r>
              <a:rPr baseline="-25000" lang="en">
                <a:solidFill>
                  <a:schemeClr val="dk1"/>
                </a:solidFill>
                <a:latin typeface="Cabin"/>
                <a:ea typeface="Cabin"/>
                <a:cs typeface="Cabin"/>
                <a:sym typeface="Cabin"/>
              </a:rPr>
              <a:t>3</a:t>
            </a:r>
            <a:r>
              <a:rPr lang="en">
                <a:solidFill>
                  <a:schemeClr val="dk1"/>
                </a:solidFill>
                <a:latin typeface="Cabin"/>
                <a:ea typeface="Cabin"/>
                <a:cs typeface="Cabin"/>
                <a:sym typeface="Cabin"/>
              </a:rPr>
              <a:t>, x</a:t>
            </a:r>
            <a:r>
              <a:rPr baseline="-25000" lang="en">
                <a:solidFill>
                  <a:schemeClr val="dk1"/>
                </a:solidFill>
                <a:latin typeface="Cabin"/>
                <a:ea typeface="Cabin"/>
                <a:cs typeface="Cabin"/>
                <a:sym typeface="Cabin"/>
              </a:rPr>
              <a:t>3</a:t>
            </a: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What is the car doing between time 0 and time 1? </a:t>
            </a:r>
            <a:r>
              <a:rPr lang="en">
                <a:solidFill>
                  <a:schemeClr val="dk1"/>
                </a:solidFill>
                <a:latin typeface="Cabin"/>
                <a:ea typeface="Cabin"/>
                <a:cs typeface="Cabin"/>
                <a:sym typeface="Cabin"/>
              </a:rPr>
              <a:t>Look for students to suggest that it is moving from position 0 to position 1. Add this line. Repeat for the other two intervals.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Copy the graph into student notebooks.</a:t>
            </a:r>
            <a:r>
              <a:rPr lang="en">
                <a:solidFill>
                  <a:schemeClr val="dk1"/>
                </a:solidFill>
                <a:latin typeface="Cabin"/>
                <a:ea typeface="Cabin"/>
                <a:cs typeface="Cabin"/>
                <a:sym typeface="Cabin"/>
              </a:rPr>
              <a:t> Have students copy the plot the class makes onto a new piece of paper for their notebooks. </a:t>
            </a:r>
            <a:endParaRPr/>
          </a:p>
        </p:txBody>
      </p:sp>
      <p:sp>
        <p:nvSpPr>
          <p:cNvPr id="239" name="Google Shape;239;p1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Interpret the graph.</a:t>
            </a:r>
            <a:r>
              <a:rPr lang="en">
                <a:solidFill>
                  <a:schemeClr val="dk1"/>
                </a:solidFill>
                <a:latin typeface="Cabin"/>
                <a:ea typeface="Cabin"/>
                <a:cs typeface="Cabin"/>
                <a:sym typeface="Cabin"/>
              </a:rPr>
              <a:t> Ask students to turn and talk for a minute about the prompt on </a:t>
            </a:r>
            <a:r>
              <a:rPr b="1" lang="en">
                <a:solidFill>
                  <a:schemeClr val="dk1"/>
                </a:solidFill>
                <a:latin typeface="Cabin"/>
                <a:ea typeface="Cabin"/>
                <a:cs typeface="Cabin"/>
                <a:sym typeface="Cabin"/>
              </a:rPr>
              <a:t>slide Q</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What information do these lines tell us about the motion of the car at that position/time? </a:t>
            </a:r>
            <a:r>
              <a:rPr lang="en">
                <a:solidFill>
                  <a:schemeClr val="dk1"/>
                </a:solidFill>
                <a:latin typeface="Cabin"/>
                <a:ea typeface="Cabin"/>
                <a:cs typeface="Cabin"/>
                <a:sym typeface="Cabin"/>
              </a:rPr>
              <a:t>Then bring the class together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Consider what the first line tells us. </a:t>
            </a:r>
            <a:r>
              <a:rPr lang="en">
                <a:solidFill>
                  <a:schemeClr val="dk1"/>
                </a:solidFill>
                <a:latin typeface="Cabin"/>
                <a:ea typeface="Cabin"/>
                <a:cs typeface="Cabin"/>
                <a:sym typeface="Cabin"/>
              </a:rPr>
              <a:t>Ask, </a:t>
            </a:r>
            <a:r>
              <a:rPr i="1" lang="en">
                <a:solidFill>
                  <a:schemeClr val="dk1"/>
                </a:solidFill>
                <a:latin typeface="Cabin"/>
                <a:ea typeface="Cabin"/>
                <a:cs typeface="Cabin"/>
                <a:sym typeface="Cabin"/>
              </a:rPr>
              <a:t>What does this first line tell us about how the car is moving? </a:t>
            </a:r>
            <a:r>
              <a:rPr lang="en">
                <a:solidFill>
                  <a:schemeClr val="dk1"/>
                </a:solidFill>
                <a:latin typeface="Cabin"/>
                <a:ea typeface="Cabin"/>
                <a:cs typeface="Cabin"/>
                <a:sym typeface="Cabin"/>
              </a:rPr>
              <a:t>Accept all ideas, but highlight any ideas students have about speed if they come up.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Calculate the speed of the car before braking.</a:t>
            </a:r>
            <a:r>
              <a:rPr lang="en">
                <a:solidFill>
                  <a:schemeClr val="dk1"/>
                </a:solidFill>
                <a:latin typeface="Cabin"/>
                <a:ea typeface="Cabin"/>
                <a:cs typeface="Cabin"/>
                <a:sym typeface="Cabin"/>
              </a:rPr>
              <a:t> Write 6.9 meters/1.9 seconds on the whiteboard.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In math terms we call this the slope of the line, or how much the y axis changes every time to x axis changes. </a:t>
            </a:r>
            <a:r>
              <a:rPr lang="en">
                <a:solidFill>
                  <a:schemeClr val="dk1"/>
                </a:solidFill>
                <a:latin typeface="Cabin"/>
                <a:ea typeface="Cabin"/>
                <a:cs typeface="Cabin"/>
                <a:sym typeface="Cabin"/>
              </a:rPr>
              <a:t>Label the fraction as “slope of the line over interval Δx</a:t>
            </a:r>
            <a:r>
              <a:rPr baseline="-25000" lang="en">
                <a:solidFill>
                  <a:schemeClr val="dk1"/>
                </a:solidFill>
                <a:latin typeface="Cabin"/>
                <a:ea typeface="Cabin"/>
                <a:cs typeface="Cabin"/>
                <a:sym typeface="Cabin"/>
              </a:rPr>
              <a:t>1</a:t>
            </a:r>
            <a:r>
              <a:rPr lang="en">
                <a:solidFill>
                  <a:schemeClr val="dk1"/>
                </a:solidFill>
                <a:latin typeface="Cabin"/>
                <a:ea typeface="Cabin"/>
                <a:cs typeface="Cabin"/>
                <a:sym typeface="Cabin"/>
              </a:rPr>
              <a:t>.” Then say, </a:t>
            </a:r>
            <a:r>
              <a:rPr i="1" lang="en">
                <a:solidFill>
                  <a:schemeClr val="dk1"/>
                </a:solidFill>
                <a:latin typeface="Cabin"/>
                <a:ea typeface="Cabin"/>
                <a:cs typeface="Cabin"/>
                <a:sym typeface="Cabin"/>
              </a:rPr>
              <a:t>Let’s take a closer look at what this slope is telling us.</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Go through the calculations as a class. You should find that the car was moving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about 3.6 meters per second. (Optionally type this into Google to convert, or do the calculations with students to figure out what this means in MPH. 1 meter/second is 2.23694 MPH.) Then repeat these calculations for the second time interval. You should find that the car was moving at about 4.6 meters per second after the obstacle appears but before braking. </a:t>
            </a:r>
            <a:endParaRPr i="1">
              <a:solidFill>
                <a:schemeClr val="dk1"/>
              </a:solidFill>
              <a:latin typeface="Cabin"/>
              <a:ea typeface="Cabin"/>
              <a:cs typeface="Cabin"/>
              <a:sym typeface="Cabin"/>
            </a:endParaRPr>
          </a:p>
        </p:txBody>
      </p:sp>
      <p:sp>
        <p:nvSpPr>
          <p:cNvPr id="248" name="Google Shape;248;p17: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Articulate the relationship between slope and speed in a quick assessment moment. </a:t>
            </a:r>
            <a:r>
              <a:rPr lang="en">
                <a:solidFill>
                  <a:schemeClr val="dk1"/>
                </a:solidFill>
                <a:latin typeface="Cabin"/>
                <a:ea typeface="Cabin"/>
                <a:cs typeface="Cabin"/>
                <a:sym typeface="Cabin"/>
              </a:rPr>
              <a:t>Present</a:t>
            </a:r>
            <a:r>
              <a:rPr b="1" lang="en">
                <a:solidFill>
                  <a:schemeClr val="dk1"/>
                </a:solidFill>
                <a:latin typeface="Cabin"/>
                <a:ea typeface="Cabin"/>
                <a:cs typeface="Cabin"/>
                <a:sym typeface="Cabin"/>
              </a:rPr>
              <a:t> slide R. </a:t>
            </a:r>
            <a:r>
              <a:rPr lang="en">
                <a:solidFill>
                  <a:schemeClr val="dk1"/>
                </a:solidFill>
                <a:latin typeface="Cabin"/>
                <a:ea typeface="Cabin"/>
                <a:cs typeface="Cabin"/>
                <a:sym typeface="Cabin"/>
              </a:rPr>
              <a:t>Pose the first prompt to the class.  See the prompts in the teacher guide for support.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Then ask students to respond to prompts A-C on a sheet of paper. Collect these papers before the end of class to check the class’ interpretation of these kinds of graphs.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AutoNum type="alphaUcPeriod"/>
            </a:pPr>
            <a:r>
              <a:rPr lang="en">
                <a:solidFill>
                  <a:srgbClr val="0B0B0B"/>
                </a:solidFill>
                <a:latin typeface="Cabin"/>
                <a:ea typeface="Cabin"/>
                <a:cs typeface="Cabin"/>
                <a:sym typeface="Cabin"/>
              </a:rPr>
              <a:t>What does a steeper slope mean about the motion of the object?</a:t>
            </a:r>
            <a:endParaRPr>
              <a:solidFill>
                <a:srgbClr val="0B0B0B"/>
              </a:solidFill>
              <a:latin typeface="Cabin"/>
              <a:ea typeface="Cabin"/>
              <a:cs typeface="Cabin"/>
              <a:sym typeface="Cabin"/>
            </a:endParaRPr>
          </a:p>
          <a:p>
            <a:pPr indent="-298450" lvl="0" marL="457200" rtl="0" algn="l">
              <a:lnSpc>
                <a:spcPct val="100000"/>
              </a:lnSpc>
              <a:spcBef>
                <a:spcPts val="500"/>
              </a:spcBef>
              <a:spcAft>
                <a:spcPts val="0"/>
              </a:spcAft>
              <a:buClr>
                <a:srgbClr val="0B0B0B"/>
              </a:buClr>
              <a:buSzPts val="1100"/>
              <a:buFont typeface="Cabin"/>
              <a:buAutoNum type="alphaUcPeriod"/>
            </a:pPr>
            <a:r>
              <a:rPr lang="en">
                <a:solidFill>
                  <a:srgbClr val="0B0B0B"/>
                </a:solidFill>
                <a:latin typeface="Cabin"/>
                <a:ea typeface="Cabin"/>
                <a:cs typeface="Cabin"/>
                <a:sym typeface="Cabin"/>
              </a:rPr>
              <a:t>What would it mean about the motion of the object if the slope were zero (a flat line)?</a:t>
            </a:r>
            <a:endParaRPr>
              <a:solidFill>
                <a:srgbClr val="0B0B0B"/>
              </a:solidFill>
              <a:latin typeface="Cabin"/>
              <a:ea typeface="Cabin"/>
              <a:cs typeface="Cabin"/>
              <a:sym typeface="Cabin"/>
            </a:endParaRPr>
          </a:p>
          <a:p>
            <a:pPr indent="-298450" lvl="0" marL="457200" rtl="0" algn="l">
              <a:lnSpc>
                <a:spcPct val="100000"/>
              </a:lnSpc>
              <a:spcBef>
                <a:spcPts val="500"/>
              </a:spcBef>
              <a:spcAft>
                <a:spcPts val="500"/>
              </a:spcAft>
              <a:buClr>
                <a:srgbClr val="0B0B0B"/>
              </a:buClr>
              <a:buSzPts val="1100"/>
              <a:buFont typeface="Cabin"/>
              <a:buAutoNum type="alphaUcPeriod"/>
            </a:pPr>
            <a:r>
              <a:rPr lang="en">
                <a:solidFill>
                  <a:srgbClr val="0B0B0B"/>
                </a:solidFill>
                <a:latin typeface="Cabin"/>
                <a:ea typeface="Cabin"/>
                <a:cs typeface="Cabin"/>
                <a:sym typeface="Cabin"/>
              </a:rPr>
              <a:t>What would it mean if the slope was negative?</a:t>
            </a:r>
            <a:endParaRPr>
              <a:solidFill>
                <a:schemeClr val="dk1"/>
              </a:solidFill>
              <a:latin typeface="Cabin"/>
              <a:ea typeface="Cabin"/>
              <a:cs typeface="Cabin"/>
              <a:sym typeface="Cabin"/>
            </a:endParaRPr>
          </a:p>
        </p:txBody>
      </p:sp>
      <p:sp>
        <p:nvSpPr>
          <p:cNvPr id="258" name="Google Shape;258;p1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Add a horizontal line after time 3.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S</a:t>
            </a:r>
            <a:r>
              <a:rPr lang="en">
                <a:solidFill>
                  <a:schemeClr val="dk1"/>
                </a:solidFill>
                <a:latin typeface="Cabin"/>
                <a:ea typeface="Cabin"/>
                <a:cs typeface="Cabin"/>
                <a:sym typeface="Cabin"/>
              </a:rPr>
              <a:t>. Use the prompts below to motivate a straight horizontal line after time 3.</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Consider the line representing braking.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A straight line between two points indicates that the speed is constant over that time. Is that true of the car? Is the speed constant between these two points for example?</a:t>
            </a: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Point to t</a:t>
            </a:r>
            <a:r>
              <a:rPr baseline="-25000" lang="en">
                <a:solidFill>
                  <a:schemeClr val="dk1"/>
                </a:solidFill>
                <a:latin typeface="Cabin"/>
                <a:ea typeface="Cabin"/>
                <a:cs typeface="Cabin"/>
                <a:sym typeface="Cabin"/>
              </a:rPr>
              <a:t>3</a:t>
            </a:r>
            <a:r>
              <a:rPr lang="en">
                <a:solidFill>
                  <a:schemeClr val="dk1"/>
                </a:solidFill>
                <a:latin typeface="Cabin"/>
                <a:ea typeface="Cabin"/>
                <a:cs typeface="Cabin"/>
                <a:sym typeface="Cabin"/>
              </a:rPr>
              <a:t>. Do the calculation here quickly (3.6m/1.3s)= 2.8 m/sec. Consider asking students to do their own calculations on their white boards.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a:t>
            </a:r>
            <a:r>
              <a:rPr i="1" lang="en">
                <a:solidFill>
                  <a:schemeClr val="dk1"/>
                </a:solidFill>
                <a:latin typeface="Cabin"/>
                <a:ea typeface="Cabin"/>
                <a:cs typeface="Cabin"/>
                <a:sym typeface="Cabin"/>
              </a:rPr>
              <a:t>But is the car really going that speed the whole time? </a:t>
            </a:r>
            <a:r>
              <a:rPr lang="en">
                <a:solidFill>
                  <a:schemeClr val="dk1"/>
                </a:solidFill>
                <a:latin typeface="Cabin"/>
                <a:ea typeface="Cabin"/>
                <a:cs typeface="Cabin"/>
                <a:sym typeface="Cabin"/>
              </a:rPr>
              <a:t>Students may need some individual think time here. Look for them to recognize that the car is starting at about 4 m/s and then slowing down to zero. Use the toy car to help students clarify their thinking here. You can ask students to take the car and demonstrate how it is moving between these two points.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So near this dot here, this third dot, the line should be almost flat, because it doesn’t go straight from 4 to 0, it changes over time. </a:t>
            </a:r>
            <a:r>
              <a:rPr lang="en">
                <a:solidFill>
                  <a:schemeClr val="dk1"/>
                </a:solidFill>
                <a:latin typeface="Cabin"/>
                <a:ea typeface="Cabin"/>
                <a:cs typeface="Cabin"/>
                <a:sym typeface="Cabin"/>
              </a:rPr>
              <a:t>Extend the flat line from beyond the third point to before the third point just a tiny bit. Then ask, </a:t>
            </a:r>
            <a:r>
              <a:rPr i="1" lang="en">
                <a:solidFill>
                  <a:schemeClr val="dk1"/>
                </a:solidFill>
                <a:latin typeface="Cabin"/>
                <a:ea typeface="Cabin"/>
                <a:cs typeface="Cabin"/>
                <a:sym typeface="Cabin"/>
              </a:rPr>
              <a:t>What do you think the line looks like between the second two dots?</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Give students a chance to make predictions and argue.</a:t>
            </a:r>
            <a:r>
              <a:rPr lang="en">
                <a:solidFill>
                  <a:schemeClr val="dk1"/>
                </a:solidFill>
                <a:latin typeface="Cabin"/>
                <a:ea typeface="Cabin"/>
                <a:cs typeface="Cabin"/>
                <a:sym typeface="Cabin"/>
              </a:rPr>
              <a:t> Ask students to come up and draw what they think the line will look like. Use a different color to indicate that this is a prediction. If you have competing ideas among students, give each student a different color so that you can differentiate between the predictions. </a:t>
            </a:r>
            <a:endParaRPr>
              <a:solidFill>
                <a:schemeClr val="dk1"/>
              </a:solidFill>
              <a:latin typeface="Cabin"/>
              <a:ea typeface="Cabin"/>
              <a:cs typeface="Cabin"/>
              <a:sym typeface="Cabin"/>
            </a:endParaRPr>
          </a:p>
        </p:txBody>
      </p:sp>
      <p:sp>
        <p:nvSpPr>
          <p:cNvPr id="268" name="Google Shape;268;p19: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Add the obstacle. </a:t>
            </a:r>
            <a:r>
              <a:rPr lang="en">
                <a:solidFill>
                  <a:schemeClr val="dk1"/>
                </a:solidFill>
                <a:latin typeface="Cabin"/>
                <a:ea typeface="Cabin"/>
                <a:cs typeface="Cabin"/>
                <a:sym typeface="Cabin"/>
              </a:rPr>
              <a:t>Present</a:t>
            </a:r>
            <a:r>
              <a:rPr b="1" lang="en">
                <a:solidFill>
                  <a:schemeClr val="dk1"/>
                </a:solidFill>
                <a:latin typeface="Cabin"/>
                <a:ea typeface="Cabin"/>
                <a:cs typeface="Cabin"/>
                <a:sym typeface="Cabin"/>
              </a:rPr>
              <a:t> slide T. </a:t>
            </a:r>
            <a:r>
              <a:rPr lang="en">
                <a:solidFill>
                  <a:schemeClr val="dk1"/>
                </a:solidFill>
                <a:latin typeface="Cabin"/>
                <a:ea typeface="Cabin"/>
                <a:cs typeface="Cabin"/>
                <a:sym typeface="Cabin"/>
              </a:rPr>
              <a:t>Say,</a:t>
            </a:r>
            <a:r>
              <a:rPr b="1" lang="en">
                <a:solidFill>
                  <a:schemeClr val="dk1"/>
                </a:solidFill>
                <a:latin typeface="Cabin"/>
                <a:ea typeface="Cabin"/>
                <a:cs typeface="Cabin"/>
                <a:sym typeface="Cabin"/>
              </a:rPr>
              <a:t> </a:t>
            </a:r>
            <a:r>
              <a:rPr i="1" lang="en">
                <a:solidFill>
                  <a:schemeClr val="dk1"/>
                </a:solidFill>
                <a:latin typeface="Cabin"/>
                <a:ea typeface="Cabin"/>
                <a:cs typeface="Cabin"/>
                <a:sym typeface="Cabin"/>
              </a:rPr>
              <a:t>In this video, the car avoided a collision. Can we add the obstacle to our position line to show where the obstacle is? </a:t>
            </a:r>
            <a:r>
              <a:rPr lang="en">
                <a:solidFill>
                  <a:schemeClr val="dk1"/>
                </a:solidFill>
                <a:latin typeface="Cabin"/>
                <a:ea typeface="Cabin"/>
                <a:cs typeface="Cabin"/>
                <a:sym typeface="Cabin"/>
              </a:rPr>
              <a:t>Ask a student to come up and add to the graph where the obstacle was.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highlight>
                <a:srgbClr val="FFFF00"/>
              </a:highlight>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Record in our notebooks.</a:t>
            </a:r>
            <a:r>
              <a:rPr lang="en">
                <a:solidFill>
                  <a:schemeClr val="dk1"/>
                </a:solidFill>
                <a:latin typeface="Cabin"/>
                <a:ea typeface="Cabin"/>
                <a:cs typeface="Cabin"/>
                <a:sym typeface="Cabin"/>
              </a:rPr>
              <a:t> Give students a chance to briefly record the lines we added to the graph they began for their notebooks.</a:t>
            </a:r>
            <a:endParaRPr>
              <a:solidFill>
                <a:schemeClr val="dk1"/>
              </a:solidFill>
              <a:latin typeface="Cabin"/>
              <a:ea typeface="Cabin"/>
              <a:cs typeface="Cabin"/>
              <a:sym typeface="Cabin"/>
            </a:endParaRPr>
          </a:p>
        </p:txBody>
      </p:sp>
      <p:sp>
        <p:nvSpPr>
          <p:cNvPr id="277" name="Google Shape;277;p20: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Graph the collision if the driver was distracted in pairs.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U</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Let’s figure out what this line would look like if the driver was distracted. </a:t>
            </a:r>
            <a:r>
              <a:rPr lang="en">
                <a:solidFill>
                  <a:schemeClr val="dk1"/>
                </a:solidFill>
                <a:latin typeface="Cabin"/>
                <a:ea typeface="Cabin"/>
                <a:cs typeface="Cabin"/>
                <a:sym typeface="Cabin"/>
              </a:rPr>
              <a:t>Ask students to work with a partner to go through the same steps for the distracted driver. They can create their graphs using the same axes as the non-distracted driver, as long as they use a different color. Alternatively, you can have students create a separate graph on a new piece of paper and compare across them. Make sure that the position and time lines that the class made for the distracted driver are clearly visible for students.</a:t>
            </a:r>
            <a:endParaRPr>
              <a:solidFill>
                <a:schemeClr val="dk1"/>
              </a:solidFill>
              <a:latin typeface="Cabin"/>
              <a:ea typeface="Cabin"/>
              <a:cs typeface="Cabin"/>
              <a:sym typeface="Cabin"/>
            </a:endParaRPr>
          </a:p>
        </p:txBody>
      </p:sp>
      <p:sp>
        <p:nvSpPr>
          <p:cNvPr id="287" name="Google Shape;287;p2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Debrief the graphing.</a:t>
            </a:r>
            <a:r>
              <a:rPr lang="en">
                <a:solidFill>
                  <a:schemeClr val="dk1"/>
                </a:solidFill>
                <a:latin typeface="Cabin"/>
                <a:ea typeface="Cabin"/>
                <a:cs typeface="Cabin"/>
                <a:sym typeface="Cabin"/>
              </a:rPr>
              <a:t> With 5 minutes left of class, give students a chance to share what they noticed. Present </a:t>
            </a:r>
            <a:r>
              <a:rPr b="1" lang="en">
                <a:solidFill>
                  <a:schemeClr val="dk1"/>
                </a:solidFill>
                <a:latin typeface="Cabin"/>
                <a:ea typeface="Cabin"/>
                <a:cs typeface="Cabin"/>
                <a:sym typeface="Cabin"/>
              </a:rPr>
              <a:t>slide V</a:t>
            </a:r>
            <a:r>
              <a:rPr lang="en">
                <a:solidFill>
                  <a:schemeClr val="dk1"/>
                </a:solidFill>
                <a:latin typeface="Cabin"/>
                <a:ea typeface="Cabin"/>
                <a:cs typeface="Cabin"/>
                <a:sym typeface="Cabin"/>
              </a:rPr>
              <a:t> and ask, </a:t>
            </a:r>
            <a:r>
              <a:rPr i="1" lang="en">
                <a:solidFill>
                  <a:schemeClr val="dk1"/>
                </a:solidFill>
                <a:latin typeface="Cabin"/>
                <a:ea typeface="Cabin"/>
                <a:cs typeface="Cabin"/>
                <a:sym typeface="Cabin"/>
              </a:rPr>
              <a:t>What differences did you notice that could explain why being distracted increases the likelihood of a vehicle collision? </a:t>
            </a:r>
            <a:endParaRPr>
              <a:solidFill>
                <a:schemeClr val="dk1"/>
              </a:solidFill>
              <a:latin typeface="Cabin"/>
              <a:ea typeface="Cabin"/>
              <a:cs typeface="Cabin"/>
              <a:sym typeface="Cabin"/>
            </a:endParaRPr>
          </a:p>
        </p:txBody>
      </p:sp>
      <p:sp>
        <p:nvSpPr>
          <p:cNvPr id="296" name="Google Shape;296;p2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Exit ticket.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It seems like a shorter reaction time is key for preventing accidents</a:t>
            </a:r>
            <a:r>
              <a:rPr lang="en">
                <a:solidFill>
                  <a:srgbClr val="0B0B0B"/>
                </a:solidFill>
                <a:latin typeface="Cabin"/>
                <a:ea typeface="Cabin"/>
                <a:cs typeface="Cabin"/>
                <a:sym typeface="Cabin"/>
              </a:rPr>
              <a:t>. Present</a:t>
            </a:r>
            <a:r>
              <a:rPr b="1" lang="en">
                <a:solidFill>
                  <a:srgbClr val="0B0B0B"/>
                </a:solidFill>
                <a:latin typeface="Cabin"/>
                <a:ea typeface="Cabin"/>
                <a:cs typeface="Cabin"/>
                <a:sym typeface="Cabin"/>
              </a:rPr>
              <a:t> slide W </a:t>
            </a:r>
            <a:r>
              <a:rPr lang="en">
                <a:solidFill>
                  <a:srgbClr val="0B0B0B"/>
                </a:solidFill>
                <a:latin typeface="Cabin"/>
                <a:ea typeface="Cabin"/>
                <a:cs typeface="Cabin"/>
                <a:sym typeface="Cabin"/>
              </a:rPr>
              <a:t>and ask students to respond to the prompt on the slide as an exit ticket:</a:t>
            </a:r>
            <a:r>
              <a:rPr b="1" lang="en">
                <a:solidFill>
                  <a:srgbClr val="0B0B0B"/>
                </a:solidFill>
                <a:latin typeface="Cabin"/>
                <a:ea typeface="Cabin"/>
                <a:cs typeface="Cabin"/>
                <a:sym typeface="Cabin"/>
              </a:rPr>
              <a:t> </a:t>
            </a:r>
            <a:r>
              <a:rPr lang="en">
                <a:solidFill>
                  <a:srgbClr val="0B0B0B"/>
                </a:solidFill>
                <a:latin typeface="Cabin"/>
                <a:ea typeface="Cabin"/>
                <a:cs typeface="Cabin"/>
                <a:sym typeface="Cabin"/>
              </a:rPr>
              <a:t> </a:t>
            </a:r>
            <a:r>
              <a:rPr i="1" lang="en">
                <a:solidFill>
                  <a:srgbClr val="0B0B0B"/>
                </a:solidFill>
                <a:latin typeface="Cabin"/>
                <a:ea typeface="Cabin"/>
                <a:cs typeface="Cabin"/>
                <a:sym typeface="Cabin"/>
              </a:rPr>
              <a:t>What else could increase a driver’s reaction time, other than if the driver is distracted?</a:t>
            </a:r>
            <a:r>
              <a:rPr lang="en">
                <a:solidFill>
                  <a:srgbClr val="0B0B0B"/>
                </a:solidFill>
                <a:latin typeface="Cabin"/>
                <a:ea typeface="Cabin"/>
                <a:cs typeface="Cabin"/>
                <a:sym typeface="Cabin"/>
              </a:rPr>
              <a:t>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If there is time, ask students to share out. Otherwise, collect the exit tickets and read through them so that you can summarize students’ ideas at the start of the next lesson.</a:t>
            </a:r>
            <a:endParaRPr/>
          </a:p>
        </p:txBody>
      </p:sp>
      <p:sp>
        <p:nvSpPr>
          <p:cNvPr id="305" name="Google Shape;305;p23: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8" name="Shape 8"/>
        <p:cNvGrpSpPr/>
        <p:nvPr/>
      </p:nvGrpSpPr>
      <p:grpSpPr>
        <a:xfrm>
          <a:off x="0" y="0"/>
          <a:ext cx="0" cy="0"/>
          <a:chOff x="0" y="0"/>
          <a:chExt cx="0" cy="0"/>
        </a:xfrm>
      </p:grpSpPr>
      <p:sp>
        <p:nvSpPr>
          <p:cNvPr id="9" name="Google Shape;9;p3"/>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0" name="Google Shape;10;p3"/>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3"/>
          <p:cNvSpPr txBox="1"/>
          <p:nvPr>
            <p:ph idx="2"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2" name="Google Shape;12;p3"/>
          <p:cNvSpPr txBox="1"/>
          <p:nvPr>
            <p:ph idx="3" type="subTitle"/>
          </p:nvPr>
        </p:nvSpPr>
        <p:spPr>
          <a:xfrm>
            <a:off x="457200" y="106750"/>
            <a:ext cx="40734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solidFill>
                  <a:srgbClr val="304852"/>
                </a:solidFill>
              </a:defRPr>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3" name="Google Shape;13;p3"/>
          <p:cNvSpPr txBox="1"/>
          <p:nvPr>
            <p:ph idx="4" type="subTitle"/>
          </p:nvPr>
        </p:nvSpPr>
        <p:spPr>
          <a:xfrm>
            <a:off x="5114300" y="106750"/>
            <a:ext cx="35724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solidFill>
                  <a:srgbClr val="304852"/>
                </a:solidFill>
              </a:defRPr>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Cabin"/>
              <a:buChar char="●"/>
              <a:defRPr b="0" i="0" sz="3600" u="none" cap="none" strike="noStrike">
                <a:solidFill>
                  <a:srgbClr val="304852"/>
                </a:solidFill>
                <a:latin typeface="Cabin"/>
                <a:ea typeface="Cabin"/>
                <a:cs typeface="Cabin"/>
                <a:sym typeface="Cabin"/>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16" name="Google Shape;16;p4"/>
          <p:cNvSpPr txBox="1"/>
          <p:nvPr>
            <p:ph idx="2"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7" name="Google Shape;17;p4"/>
          <p:cNvSpPr txBox="1"/>
          <p:nvPr>
            <p:ph idx="1" type="subTitle"/>
          </p:nvPr>
        </p:nvSpPr>
        <p:spPr>
          <a:xfrm>
            <a:off x="457200" y="106750"/>
            <a:ext cx="436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4"/>
          <p:cNvSpPr txBox="1"/>
          <p:nvPr>
            <p:ph idx="3" type="subTitle"/>
          </p:nvPr>
        </p:nvSpPr>
        <p:spPr>
          <a:xfrm>
            <a:off x="4678375" y="106750"/>
            <a:ext cx="4008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5"/>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1" name="Google Shape;21;p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2" name="Google Shape;22;p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3" name="Google Shape;23;p5"/>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b="0"/>
            </a:lvl2pPr>
            <a:lvl3pPr lvl="2" algn="r">
              <a:lnSpc>
                <a:spcPct val="115000"/>
              </a:lnSpc>
              <a:spcBef>
                <a:spcPts val="1600"/>
              </a:spcBef>
              <a:spcAft>
                <a:spcPts val="0"/>
              </a:spcAft>
              <a:buSzPts val="2400"/>
              <a:buNone/>
              <a:defRPr b="0"/>
            </a:lvl3pPr>
            <a:lvl4pPr lvl="3" algn="r">
              <a:lnSpc>
                <a:spcPct val="115000"/>
              </a:lnSpc>
              <a:spcBef>
                <a:spcPts val="1600"/>
              </a:spcBef>
              <a:spcAft>
                <a:spcPts val="0"/>
              </a:spcAft>
              <a:buSzPts val="2400"/>
              <a:buNone/>
              <a:defRPr b="0"/>
            </a:lvl4pPr>
            <a:lvl5pPr lvl="4" algn="r">
              <a:lnSpc>
                <a:spcPct val="115000"/>
              </a:lnSpc>
              <a:spcBef>
                <a:spcPts val="1600"/>
              </a:spcBef>
              <a:spcAft>
                <a:spcPts val="0"/>
              </a:spcAft>
              <a:buSzPts val="1800"/>
              <a:buNone/>
              <a:defRPr b="0"/>
            </a:lvl5pPr>
            <a:lvl6pPr lvl="5" algn="r">
              <a:lnSpc>
                <a:spcPct val="115000"/>
              </a:lnSpc>
              <a:spcBef>
                <a:spcPts val="1600"/>
              </a:spcBef>
              <a:spcAft>
                <a:spcPts val="0"/>
              </a:spcAft>
              <a:buSzPts val="1400"/>
              <a:buNone/>
              <a:defRPr b="0"/>
            </a:lvl6pPr>
            <a:lvl7pPr lvl="6" algn="r">
              <a:lnSpc>
                <a:spcPct val="115000"/>
              </a:lnSpc>
              <a:spcBef>
                <a:spcPts val="1600"/>
              </a:spcBef>
              <a:spcAft>
                <a:spcPts val="0"/>
              </a:spcAft>
              <a:buSzPts val="1400"/>
              <a:buNone/>
              <a:defRPr b="0"/>
            </a:lvl7pPr>
            <a:lvl8pPr lvl="7" algn="r">
              <a:lnSpc>
                <a:spcPct val="115000"/>
              </a:lnSpc>
              <a:spcBef>
                <a:spcPts val="1600"/>
              </a:spcBef>
              <a:spcAft>
                <a:spcPts val="0"/>
              </a:spcAft>
              <a:buSzPts val="1400"/>
              <a:buNone/>
              <a:defRPr b="0"/>
            </a:lvl8pPr>
            <a:lvl9pPr lvl="8" algn="r">
              <a:lnSpc>
                <a:spcPct val="115000"/>
              </a:lnSpc>
              <a:spcBef>
                <a:spcPts val="1600"/>
              </a:spcBef>
              <a:spcAft>
                <a:spcPts val="1600"/>
              </a:spcAft>
              <a:buSzPts val="1400"/>
              <a:buNone/>
              <a:defRPr b="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26" name="Google Shape;26;p6"/>
          <p:cNvSpPr txBox="1"/>
          <p:nvPr>
            <p:ph idx="1" type="subTitle"/>
          </p:nvPr>
        </p:nvSpPr>
        <p:spPr>
          <a:xfrm>
            <a:off x="457200" y="106750"/>
            <a:ext cx="4377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7" name="Google Shape;27;p6"/>
          <p:cNvSpPr txBox="1"/>
          <p:nvPr>
            <p:ph idx="2" type="subTitle"/>
          </p:nvPr>
        </p:nvSpPr>
        <p:spPr>
          <a:xfrm>
            <a:off x="4876900" y="106750"/>
            <a:ext cx="3810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sz="1500"/>
            </a:lvl2pPr>
            <a:lvl3pPr lvl="2" algn="r">
              <a:lnSpc>
                <a:spcPct val="115000"/>
              </a:lnSpc>
              <a:spcBef>
                <a:spcPts val="1600"/>
              </a:spcBef>
              <a:spcAft>
                <a:spcPts val="0"/>
              </a:spcAft>
              <a:buSzPts val="2400"/>
              <a:buNone/>
              <a:defRPr sz="1500"/>
            </a:lvl3pPr>
            <a:lvl4pPr lvl="3" algn="r">
              <a:lnSpc>
                <a:spcPct val="115000"/>
              </a:lnSpc>
              <a:spcBef>
                <a:spcPts val="1600"/>
              </a:spcBef>
              <a:spcAft>
                <a:spcPts val="0"/>
              </a:spcAft>
              <a:buSzPts val="2400"/>
              <a:buNone/>
              <a:defRPr sz="1500"/>
            </a:lvl4pPr>
            <a:lvl5pPr lvl="4" algn="r">
              <a:lnSpc>
                <a:spcPct val="115000"/>
              </a:lnSpc>
              <a:spcBef>
                <a:spcPts val="1600"/>
              </a:spcBef>
              <a:spcAft>
                <a:spcPts val="0"/>
              </a:spcAft>
              <a:buSzPts val="1800"/>
              <a:buNone/>
              <a:defRPr sz="1500"/>
            </a:lvl5pPr>
            <a:lvl6pPr lvl="5" algn="r">
              <a:lnSpc>
                <a:spcPct val="115000"/>
              </a:lnSpc>
              <a:spcBef>
                <a:spcPts val="1600"/>
              </a:spcBef>
              <a:spcAft>
                <a:spcPts val="0"/>
              </a:spcAft>
              <a:buSzPts val="1400"/>
              <a:buNone/>
              <a:defRPr sz="1500"/>
            </a:lvl6pPr>
            <a:lvl7pPr lvl="6" algn="r">
              <a:lnSpc>
                <a:spcPct val="115000"/>
              </a:lnSpc>
              <a:spcBef>
                <a:spcPts val="1600"/>
              </a:spcBef>
              <a:spcAft>
                <a:spcPts val="0"/>
              </a:spcAft>
              <a:buSzPts val="1400"/>
              <a:buNone/>
              <a:defRPr sz="1500"/>
            </a:lvl7pPr>
            <a:lvl8pPr lvl="7" algn="r">
              <a:lnSpc>
                <a:spcPct val="115000"/>
              </a:lnSpc>
              <a:spcBef>
                <a:spcPts val="1600"/>
              </a:spcBef>
              <a:spcAft>
                <a:spcPts val="0"/>
              </a:spcAft>
              <a:buSzPts val="1400"/>
              <a:buNone/>
              <a:defRPr sz="1500"/>
            </a:lvl8pPr>
            <a:lvl9pPr lvl="8" algn="r">
              <a:lnSpc>
                <a:spcPct val="115000"/>
              </a:lnSpc>
              <a:spcBef>
                <a:spcPts val="1600"/>
              </a:spcBef>
              <a:spcAft>
                <a:spcPts val="1600"/>
              </a:spcAft>
              <a:buSzPts val="1400"/>
              <a:buNone/>
              <a:defRPr sz="15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 name="Shape 28"/>
        <p:cNvGrpSpPr/>
        <p:nvPr/>
      </p:nvGrpSpPr>
      <p:grpSpPr>
        <a:xfrm>
          <a:off x="0" y="0"/>
          <a:ext cx="0" cy="0"/>
          <a:chOff x="0" y="0"/>
          <a:chExt cx="0" cy="0"/>
        </a:xfrm>
      </p:grpSpPr>
      <p:sp>
        <p:nvSpPr>
          <p:cNvPr id="29" name="Google Shape;29;p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0" name="Google Shape;30;p7"/>
          <p:cNvSpPr txBox="1"/>
          <p:nvPr>
            <p:ph idx="1" type="subTitle"/>
          </p:nvPr>
        </p:nvSpPr>
        <p:spPr>
          <a:xfrm>
            <a:off x="45727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Cabin"/>
              <a:buNone/>
              <a:defRPr sz="1800">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 name="Google Shape;31;p7"/>
          <p:cNvSpPr txBox="1"/>
          <p:nvPr>
            <p:ph idx="2"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2" name="Google Shape;32;p7"/>
          <p:cNvSpPr txBox="1"/>
          <p:nvPr>
            <p:ph idx="3" type="subTitle"/>
          </p:nvPr>
        </p:nvSpPr>
        <p:spPr>
          <a:xfrm>
            <a:off x="457200" y="106750"/>
            <a:ext cx="4233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3" name="Google Shape;33;p7"/>
          <p:cNvSpPr txBox="1"/>
          <p:nvPr>
            <p:ph idx="4" type="subTitle"/>
          </p:nvPr>
        </p:nvSpPr>
        <p:spPr>
          <a:xfrm>
            <a:off x="4690500" y="106750"/>
            <a:ext cx="3996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
        <p:nvSpPr>
          <p:cNvPr id="34" name="Google Shape;34;p7"/>
          <p:cNvSpPr txBox="1"/>
          <p:nvPr>
            <p:ph idx="5" type="body"/>
          </p:nvPr>
        </p:nvSpPr>
        <p:spPr>
          <a:xfrm>
            <a:off x="4561900" y="1574475"/>
            <a:ext cx="4125000" cy="4662900"/>
          </a:xfrm>
          <a:prstGeom prst="rect">
            <a:avLst/>
          </a:prstGeom>
          <a:solidFill>
            <a:srgbClr val="EBF0F2"/>
          </a:solidFill>
          <a:ln cap="flat" cmpd="sng" w="9525">
            <a:solidFill>
              <a:srgbClr val="304852"/>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5" name="Shape 35"/>
        <p:cNvGrpSpPr/>
        <p:nvPr/>
      </p:nvGrpSpPr>
      <p:grpSpPr>
        <a:xfrm>
          <a:off x="0" y="0"/>
          <a:ext cx="0" cy="0"/>
          <a:chOff x="0" y="0"/>
          <a:chExt cx="0" cy="0"/>
        </a:xfrm>
      </p:grpSpPr>
      <p:sp>
        <p:nvSpPr>
          <p:cNvPr id="36" name="Google Shape;36;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a:buChar char="●"/>
              <a:defRPr b="0" i="0" sz="2400" u="none" cap="none" strike="noStrike">
                <a:solidFill>
                  <a:srgbClr val="304852"/>
                </a:solidFill>
                <a:latin typeface="Cabin"/>
                <a:ea typeface="Cabin"/>
                <a:cs typeface="Cabin"/>
                <a:sym typeface="Cabin"/>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7" name="Google Shape;37;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Cabin"/>
              <a:buNone/>
              <a:defRPr sz="1800">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8"/>
          <p:cNvSpPr txBox="1"/>
          <p:nvPr>
            <p:ph idx="2"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39" name="Google Shape;39;p8"/>
          <p:cNvSpPr txBox="1"/>
          <p:nvPr>
            <p:ph idx="3" type="subTitle"/>
          </p:nvPr>
        </p:nvSpPr>
        <p:spPr>
          <a:xfrm>
            <a:off x="457200" y="106750"/>
            <a:ext cx="3886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0" name="Google Shape;40;p8"/>
          <p:cNvSpPr txBox="1"/>
          <p:nvPr>
            <p:ph idx="4" type="subTitle"/>
          </p:nvPr>
        </p:nvSpPr>
        <p:spPr>
          <a:xfrm>
            <a:off x="4622900" y="106750"/>
            <a:ext cx="40638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Font typeface="Cabin"/>
              <a:buNone/>
              <a:defRPr sz="1800">
                <a:latin typeface="Cabin"/>
                <a:ea typeface="Cabin"/>
                <a:cs typeface="Cabin"/>
                <a:sym typeface="Cabin"/>
              </a:defRPr>
            </a:lvl1pPr>
          </a:lstStyle>
          <a:p/>
        </p:txBody>
      </p:sp>
      <p:sp>
        <p:nvSpPr>
          <p:cNvPr id="43" name="Google Shape;43;p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4" name="Google Shape;44;p9"/>
          <p:cNvSpPr txBox="1"/>
          <p:nvPr>
            <p:ph idx="2" type="subTitle"/>
          </p:nvPr>
        </p:nvSpPr>
        <p:spPr>
          <a:xfrm>
            <a:off x="457200" y="106750"/>
            <a:ext cx="3513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5" name="Google Shape;45;p9"/>
          <p:cNvSpPr txBox="1"/>
          <p:nvPr>
            <p:ph idx="3" type="subTitle"/>
          </p:nvPr>
        </p:nvSpPr>
        <p:spPr>
          <a:xfrm>
            <a:off x="4639825" y="106750"/>
            <a:ext cx="4047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47" name="Shape 47"/>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52" name="Google Shape;52;p13"/>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3" name="Google Shape;53;p13"/>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4" name="Google Shape;54;p13"/>
          <p:cNvSpPr txBox="1"/>
          <p:nvPr>
            <p:ph idx="3" type="subTitle"/>
          </p:nvPr>
        </p:nvSpPr>
        <p:spPr>
          <a:xfrm>
            <a:off x="457200" y="106750"/>
            <a:ext cx="40734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solidFill>
                  <a:srgbClr val="304852"/>
                </a:solidFill>
              </a:defRPr>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5" name="Google Shape;55;p13"/>
          <p:cNvSpPr txBox="1"/>
          <p:nvPr>
            <p:ph idx="4" type="subTitle"/>
          </p:nvPr>
        </p:nvSpPr>
        <p:spPr>
          <a:xfrm>
            <a:off x="5114300" y="106750"/>
            <a:ext cx="35724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solidFill>
                  <a:srgbClr val="304852"/>
                </a:solidFill>
              </a:defRPr>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14"/>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0"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58" name="Google Shape;58;p14"/>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9" name="Google Shape;59;p14"/>
          <p:cNvSpPr txBox="1"/>
          <p:nvPr>
            <p:ph idx="1" type="subTitle"/>
          </p:nvPr>
        </p:nvSpPr>
        <p:spPr>
          <a:xfrm>
            <a:off x="457200" y="106750"/>
            <a:ext cx="436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0" name="Google Shape;60;p14"/>
          <p:cNvSpPr txBox="1"/>
          <p:nvPr>
            <p:ph idx="3" type="subTitle"/>
          </p:nvPr>
        </p:nvSpPr>
        <p:spPr>
          <a:xfrm>
            <a:off x="4678375" y="106750"/>
            <a:ext cx="4008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5"/>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3" name="Google Shape;63;p15"/>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4" name="Google Shape;64;p15"/>
          <p:cNvSpPr txBox="1"/>
          <p:nvPr>
            <p:ph idx="2" type="subTitle"/>
          </p:nvPr>
        </p:nvSpPr>
        <p:spPr>
          <a:xfrm>
            <a:off x="457200" y="106750"/>
            <a:ext cx="38235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5" name="Google Shape;65;p15"/>
          <p:cNvSpPr txBox="1"/>
          <p:nvPr>
            <p:ph idx="3" type="subTitle"/>
          </p:nvPr>
        </p:nvSpPr>
        <p:spPr>
          <a:xfrm>
            <a:off x="5370875" y="106750"/>
            <a:ext cx="3315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16"/>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68" name="Google Shape;68;p16"/>
          <p:cNvSpPr txBox="1"/>
          <p:nvPr>
            <p:ph idx="1" type="subTitle"/>
          </p:nvPr>
        </p:nvSpPr>
        <p:spPr>
          <a:xfrm>
            <a:off x="457200" y="106750"/>
            <a:ext cx="4377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9" name="Google Shape;69;p16"/>
          <p:cNvSpPr txBox="1"/>
          <p:nvPr>
            <p:ph idx="2" type="subTitle"/>
          </p:nvPr>
        </p:nvSpPr>
        <p:spPr>
          <a:xfrm>
            <a:off x="4876900" y="106750"/>
            <a:ext cx="3810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1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72" name="Google Shape;72;p17"/>
          <p:cNvSpPr txBox="1"/>
          <p:nvPr>
            <p:ph idx="1" type="subTitle"/>
          </p:nvPr>
        </p:nvSpPr>
        <p:spPr>
          <a:xfrm>
            <a:off x="45727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3" name="Google Shape;73;p17"/>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74" name="Google Shape;74;p17"/>
          <p:cNvSpPr txBox="1"/>
          <p:nvPr>
            <p:ph idx="3" type="subTitle"/>
          </p:nvPr>
        </p:nvSpPr>
        <p:spPr>
          <a:xfrm>
            <a:off x="457200" y="106750"/>
            <a:ext cx="4233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75" name="Google Shape;75;p17"/>
          <p:cNvSpPr txBox="1"/>
          <p:nvPr>
            <p:ph idx="4" type="subTitle"/>
          </p:nvPr>
        </p:nvSpPr>
        <p:spPr>
          <a:xfrm>
            <a:off x="4690500" y="106750"/>
            <a:ext cx="3996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
        <p:nvSpPr>
          <p:cNvPr id="76" name="Google Shape;76;p17"/>
          <p:cNvSpPr txBox="1"/>
          <p:nvPr>
            <p:ph idx="5" type="body"/>
          </p:nvPr>
        </p:nvSpPr>
        <p:spPr>
          <a:xfrm>
            <a:off x="4561900" y="1574475"/>
            <a:ext cx="4125000" cy="4662900"/>
          </a:xfrm>
          <a:prstGeom prst="rect">
            <a:avLst/>
          </a:prstGeom>
          <a:solidFill>
            <a:srgbClr val="EBF0F2"/>
          </a:solidFill>
          <a:ln cap="flat" cmpd="sng" w="9525">
            <a:solidFill>
              <a:srgbClr val="304852"/>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77" name="Shape 77"/>
        <p:cNvGrpSpPr/>
        <p:nvPr/>
      </p:nvGrpSpPr>
      <p:grpSpPr>
        <a:xfrm>
          <a:off x="0" y="0"/>
          <a:ext cx="0" cy="0"/>
          <a:chOff x="0" y="0"/>
          <a:chExt cx="0" cy="0"/>
        </a:xfrm>
      </p:grpSpPr>
      <p:sp>
        <p:nvSpPr>
          <p:cNvPr id="78" name="Google Shape;78;p1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79" name="Google Shape;79;p1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0" name="Google Shape;80;p18"/>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81" name="Google Shape;81;p18"/>
          <p:cNvSpPr txBox="1"/>
          <p:nvPr>
            <p:ph idx="3" type="subTitle"/>
          </p:nvPr>
        </p:nvSpPr>
        <p:spPr>
          <a:xfrm>
            <a:off x="457200" y="106750"/>
            <a:ext cx="3886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82" name="Google Shape;82;p18"/>
          <p:cNvSpPr txBox="1"/>
          <p:nvPr>
            <p:ph idx="4" type="subTitle"/>
          </p:nvPr>
        </p:nvSpPr>
        <p:spPr>
          <a:xfrm>
            <a:off x="4622900" y="106750"/>
            <a:ext cx="40638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3" name="Shape 83"/>
        <p:cNvGrpSpPr/>
        <p:nvPr/>
      </p:nvGrpSpPr>
      <p:grpSpPr>
        <a:xfrm>
          <a:off x="0" y="0"/>
          <a:ext cx="0" cy="0"/>
          <a:chOff x="0" y="0"/>
          <a:chExt cx="0" cy="0"/>
        </a:xfrm>
      </p:grpSpPr>
      <p:sp>
        <p:nvSpPr>
          <p:cNvPr id="84" name="Google Shape;84;p1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85" name="Google Shape;85;p19"/>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86" name="Google Shape;86;p19"/>
          <p:cNvSpPr txBox="1"/>
          <p:nvPr>
            <p:ph idx="2" type="subTitle"/>
          </p:nvPr>
        </p:nvSpPr>
        <p:spPr>
          <a:xfrm>
            <a:off x="457200" y="106750"/>
            <a:ext cx="3513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87" name="Google Shape;87;p19"/>
          <p:cNvSpPr txBox="1"/>
          <p:nvPr>
            <p:ph idx="3" type="subTitle"/>
          </p:nvPr>
        </p:nvSpPr>
        <p:spPr>
          <a:xfrm>
            <a:off x="4639825" y="106750"/>
            <a:ext cx="4047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 name="Shape 88"/>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89" name="Shape 89"/>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90" name="Shape 90"/>
        <p:cNvGrpSpPr/>
        <p:nvPr/>
      </p:nvGrpSpPr>
      <p:grpSpPr>
        <a:xfrm>
          <a:off x="0" y="0"/>
          <a:ext cx="0" cy="0"/>
          <a:chOff x="0" y="0"/>
          <a:chExt cx="0" cy="0"/>
        </a:xfrm>
      </p:grpSpPr>
      <p:sp>
        <p:nvSpPr>
          <p:cNvPr id="91" name="Google Shape;91;p2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92" name="Shape 92"/>
        <p:cNvGrpSpPr/>
        <p:nvPr/>
      </p:nvGrpSpPr>
      <p:grpSpPr>
        <a:xfrm>
          <a:off x="0" y="0"/>
          <a:ext cx="0" cy="0"/>
          <a:chOff x="0" y="0"/>
          <a:chExt cx="0" cy="0"/>
        </a:xfrm>
      </p:grpSpPr>
      <p:sp>
        <p:nvSpPr>
          <p:cNvPr id="93" name="Google Shape;93;p23"/>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4" name="Google Shape;94;p2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95" name="Google Shape;95;p2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96" name="Google Shape;96;p23"/>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2.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33325" y="1536625"/>
            <a:ext cx="83991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304852"/>
              </a:buClr>
              <a:buSzPts val="3600"/>
              <a:buFont typeface="Cabin"/>
              <a:buChar char="●"/>
              <a:defRPr b="1" i="0" sz="3600" u="none" cap="none" strike="noStrike">
                <a:solidFill>
                  <a:srgbClr val="304852"/>
                </a:solidFill>
                <a:latin typeface="Cabin"/>
                <a:ea typeface="Cabin"/>
                <a:cs typeface="Cabin"/>
                <a:sym typeface="Cabin"/>
              </a:defRPr>
            </a:lvl1pPr>
            <a:lvl2pPr indent="-431800" lvl="1" marL="914400" marR="0" rtl="0" algn="l">
              <a:lnSpc>
                <a:spcPct val="115000"/>
              </a:lnSpc>
              <a:spcBef>
                <a:spcPts val="1600"/>
              </a:spcBef>
              <a:spcAft>
                <a:spcPts val="0"/>
              </a:spcAft>
              <a:buClr>
                <a:srgbClr val="304852"/>
              </a:buClr>
              <a:buSzPts val="3200"/>
              <a:buFont typeface="Cabin"/>
              <a:buChar char="○"/>
              <a:defRPr b="1" i="0" sz="3200" u="none" cap="none" strike="noStrike">
                <a:solidFill>
                  <a:srgbClr val="304852"/>
                </a:solidFill>
                <a:latin typeface="Cabin"/>
                <a:ea typeface="Cabin"/>
                <a:cs typeface="Cabin"/>
                <a:sym typeface="Cabin"/>
              </a:defRPr>
            </a:lvl2pPr>
            <a:lvl3pPr indent="-381000" lvl="2" marL="1371600" marR="0" rtl="0" algn="l">
              <a:lnSpc>
                <a:spcPct val="115000"/>
              </a:lnSpc>
              <a:spcBef>
                <a:spcPts val="1600"/>
              </a:spcBef>
              <a:spcAft>
                <a:spcPts val="0"/>
              </a:spcAft>
              <a:buClr>
                <a:srgbClr val="304852"/>
              </a:buClr>
              <a:buSzPts val="2400"/>
              <a:buFont typeface="Cabin"/>
              <a:buChar char="■"/>
              <a:defRPr b="1" i="0" sz="2400" u="none" cap="none" strike="noStrike">
                <a:solidFill>
                  <a:srgbClr val="304852"/>
                </a:solidFill>
                <a:latin typeface="Cabin"/>
                <a:ea typeface="Cabin"/>
                <a:cs typeface="Cabin"/>
                <a:sym typeface="Cabin"/>
              </a:defRPr>
            </a:lvl3pPr>
            <a:lvl4pPr indent="-381000" lvl="3" marL="1828800" marR="0" rtl="0" algn="l">
              <a:lnSpc>
                <a:spcPct val="115000"/>
              </a:lnSpc>
              <a:spcBef>
                <a:spcPts val="1600"/>
              </a:spcBef>
              <a:spcAft>
                <a:spcPts val="0"/>
              </a:spcAft>
              <a:buClr>
                <a:srgbClr val="304852"/>
              </a:buClr>
              <a:buSzPts val="2400"/>
              <a:buFont typeface="Cabin"/>
              <a:buChar char="●"/>
              <a:defRPr b="0" i="0" sz="2400" u="none" cap="none" strike="noStrike">
                <a:solidFill>
                  <a:srgbClr val="304852"/>
                </a:solidFill>
                <a:latin typeface="Cabin"/>
                <a:ea typeface="Cabin"/>
                <a:cs typeface="Cabin"/>
                <a:sym typeface="Cabin"/>
              </a:defRPr>
            </a:lvl4pPr>
            <a:lvl5pPr indent="-342900" lvl="4" marL="2286000" marR="0" rtl="0" algn="l">
              <a:lnSpc>
                <a:spcPct val="115000"/>
              </a:lnSpc>
              <a:spcBef>
                <a:spcPts val="1600"/>
              </a:spcBef>
              <a:spcAft>
                <a:spcPts val="0"/>
              </a:spcAft>
              <a:buClr>
                <a:srgbClr val="304852"/>
              </a:buClr>
              <a:buSzPts val="1800"/>
              <a:buFont typeface="Cabin"/>
              <a:buChar char="○"/>
              <a:defRPr b="0" i="0" sz="1800" u="none" cap="none" strike="noStrike">
                <a:solidFill>
                  <a:srgbClr val="304852"/>
                </a:solidFill>
                <a:latin typeface="Cabin"/>
                <a:ea typeface="Cabin"/>
                <a:cs typeface="Cabin"/>
                <a:sym typeface="Cabin"/>
              </a:defRPr>
            </a:lvl5pPr>
            <a:lvl6pPr indent="-317500" lvl="5" marL="2743200" marR="0" rtl="0" algn="l">
              <a:lnSpc>
                <a:spcPct val="115000"/>
              </a:lnSpc>
              <a:spcBef>
                <a:spcPts val="1600"/>
              </a:spcBef>
              <a:spcAft>
                <a:spcPts val="0"/>
              </a:spcAft>
              <a:buClr>
                <a:srgbClr val="304852"/>
              </a:buClr>
              <a:buSzPts val="1400"/>
              <a:buFont typeface="Cabin"/>
              <a:buChar char="■"/>
              <a:defRPr b="0" i="0" sz="1400" u="none" cap="none" strike="noStrike">
                <a:solidFill>
                  <a:srgbClr val="304852"/>
                </a:solidFill>
                <a:latin typeface="Cabin"/>
                <a:ea typeface="Cabin"/>
                <a:cs typeface="Cabin"/>
                <a:sym typeface="Cabin"/>
              </a:defRPr>
            </a:lvl6pPr>
            <a:lvl7pPr indent="-317500" lvl="6" marL="3200400" marR="0" rtl="0" algn="l">
              <a:lnSpc>
                <a:spcPct val="115000"/>
              </a:lnSpc>
              <a:spcBef>
                <a:spcPts val="1600"/>
              </a:spcBef>
              <a:spcAft>
                <a:spcPts val="0"/>
              </a:spcAft>
              <a:buClr>
                <a:srgbClr val="304852"/>
              </a:buClr>
              <a:buSzPts val="1400"/>
              <a:buFont typeface="Cabin"/>
              <a:buChar char="●"/>
              <a:defRPr b="0" i="0" sz="1400" u="none" cap="none" strike="noStrike">
                <a:solidFill>
                  <a:srgbClr val="304852"/>
                </a:solidFill>
                <a:latin typeface="Cabin"/>
                <a:ea typeface="Cabin"/>
                <a:cs typeface="Cabin"/>
                <a:sym typeface="Cabin"/>
              </a:defRPr>
            </a:lvl7pPr>
            <a:lvl8pPr indent="-317500" lvl="7" marL="3657600" marR="0" rtl="0" algn="l">
              <a:lnSpc>
                <a:spcPct val="115000"/>
              </a:lnSpc>
              <a:spcBef>
                <a:spcPts val="1600"/>
              </a:spcBef>
              <a:spcAft>
                <a:spcPts val="0"/>
              </a:spcAft>
              <a:buClr>
                <a:srgbClr val="304852"/>
              </a:buClr>
              <a:buSzPts val="1400"/>
              <a:buFont typeface="Cabin"/>
              <a:buChar char="○"/>
              <a:defRPr b="0" i="0" sz="1400" u="none" cap="none" strike="noStrike">
                <a:solidFill>
                  <a:srgbClr val="304852"/>
                </a:solidFill>
                <a:latin typeface="Cabin"/>
                <a:ea typeface="Cabin"/>
                <a:cs typeface="Cabin"/>
                <a:sym typeface="Cabin"/>
              </a:defRPr>
            </a:lvl8pPr>
            <a:lvl9pPr indent="-317500" lvl="8" marL="4114800" marR="0" rtl="0" algn="l">
              <a:lnSpc>
                <a:spcPct val="115000"/>
              </a:lnSpc>
              <a:spcBef>
                <a:spcPts val="1600"/>
              </a:spcBef>
              <a:spcAft>
                <a:spcPts val="1600"/>
              </a:spcAft>
              <a:buClr>
                <a:srgbClr val="304852"/>
              </a:buClr>
              <a:buSzPts val="1400"/>
              <a:buFont typeface="Cabin"/>
              <a:buChar char="■"/>
              <a:defRPr b="0" i="0" sz="1400" u="none" cap="none" strike="noStrike">
                <a:solidFill>
                  <a:srgbClr val="304852"/>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48" name="Shape 48"/>
        <p:cNvGrpSpPr/>
        <p:nvPr/>
      </p:nvGrpSpPr>
      <p:grpSpPr>
        <a:xfrm>
          <a:off x="0" y="0"/>
          <a:ext cx="0" cy="0"/>
          <a:chOff x="0" y="0"/>
          <a:chExt cx="0" cy="0"/>
        </a:xfrm>
      </p:grpSpPr>
      <p:sp>
        <p:nvSpPr>
          <p:cNvPr id="49" name="Google Shape;49;p12"/>
          <p:cNvSpPr txBox="1"/>
          <p:nvPr>
            <p:ph idx="1" type="body"/>
          </p:nvPr>
        </p:nvSpPr>
        <p:spPr>
          <a:xfrm>
            <a:off x="433325" y="1536625"/>
            <a:ext cx="83991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indent="-431800" lvl="1" marL="914400" marR="0" rtl="0" algn="l">
              <a:lnSpc>
                <a:spcPct val="115000"/>
              </a:lnSpc>
              <a:spcBef>
                <a:spcPts val="1600"/>
              </a:spcBef>
              <a:spcAft>
                <a:spcPts val="0"/>
              </a:spcAft>
              <a:buClr>
                <a:srgbClr val="304852"/>
              </a:buClr>
              <a:buSzPts val="3200"/>
              <a:buFont typeface="Open Sans"/>
              <a:buChar char="○"/>
              <a:defRPr b="1" i="0" sz="3200" u="none" cap="none" strike="noStrike">
                <a:solidFill>
                  <a:srgbClr val="304852"/>
                </a:solidFill>
                <a:latin typeface="Open Sans"/>
                <a:ea typeface="Open Sans"/>
                <a:cs typeface="Open Sans"/>
                <a:sym typeface="Open Sans"/>
              </a:defRPr>
            </a:lvl2pPr>
            <a:lvl3pPr indent="-381000" lvl="2" marL="1371600" marR="0" rtl="0" algn="l">
              <a:lnSpc>
                <a:spcPct val="115000"/>
              </a:lnSpc>
              <a:spcBef>
                <a:spcPts val="1600"/>
              </a:spcBef>
              <a:spcAft>
                <a:spcPts val="0"/>
              </a:spcAft>
              <a:buClr>
                <a:srgbClr val="304852"/>
              </a:buClr>
              <a:buSzPts val="2400"/>
              <a:buFont typeface="Cabin"/>
              <a:buChar char="■"/>
              <a:defRPr b="1" i="0" sz="2400" u="none" cap="none" strike="noStrike">
                <a:solidFill>
                  <a:srgbClr val="304852"/>
                </a:solidFill>
                <a:latin typeface="Cabin"/>
                <a:ea typeface="Cabin"/>
                <a:cs typeface="Cabin"/>
                <a:sym typeface="Cabin"/>
              </a:defRPr>
            </a:lvl3pPr>
            <a:lvl4pPr indent="-381000" lvl="3" marL="1828800" marR="0" rtl="0" algn="l">
              <a:lnSpc>
                <a:spcPct val="115000"/>
              </a:lnSpc>
              <a:spcBef>
                <a:spcPts val="160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304852"/>
              </a:buClr>
              <a:buSzPts val="1800"/>
              <a:buFont typeface="Cabin Condensed"/>
              <a:buChar char="○"/>
              <a:defRPr b="0" i="0" sz="1800" u="none" cap="none" strike="noStrike">
                <a:solidFill>
                  <a:srgbClr val="304852"/>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Cabin"/>
              <a:buChar char="○"/>
              <a:defRPr b="0" i="0" sz="1400" u="none" cap="none" strike="noStrike">
                <a:solidFill>
                  <a:schemeClr val="dk2"/>
                </a:solidFill>
                <a:latin typeface="Cabin"/>
                <a:ea typeface="Cabin"/>
                <a:cs typeface="Cabin"/>
                <a:sym typeface="Cabin"/>
              </a:defRPr>
            </a:lvl8pPr>
            <a:lvl9pPr indent="-317500" lvl="8" marL="4114800" marR="0" rtl="0" algn="l">
              <a:lnSpc>
                <a:spcPct val="115000"/>
              </a:lnSpc>
              <a:spcBef>
                <a:spcPts val="1600"/>
              </a:spcBef>
              <a:spcAft>
                <a:spcPts val="1600"/>
              </a:spcAft>
              <a:buClr>
                <a:schemeClr val="dk2"/>
              </a:buClr>
              <a:buSzPts val="1400"/>
              <a:buFont typeface="Cabin"/>
              <a:buChar char="■"/>
              <a:defRPr b="0" i="0" sz="1400" u="none" cap="none" strike="noStrike">
                <a:solidFill>
                  <a:schemeClr val="dk2"/>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0" name="Shape 100"/>
        <p:cNvGrpSpPr/>
        <p:nvPr/>
      </p:nvGrpSpPr>
      <p:grpSpPr>
        <a:xfrm>
          <a:off x="0" y="0"/>
          <a:ext cx="0" cy="0"/>
          <a:chOff x="0" y="0"/>
          <a:chExt cx="0" cy="0"/>
        </a:xfrm>
      </p:grpSpPr>
      <p:sp>
        <p:nvSpPr>
          <p:cNvPr id="101" name="Google Shape;101;p24"/>
          <p:cNvSpPr/>
          <p:nvPr/>
        </p:nvSpPr>
        <p:spPr>
          <a:xfrm>
            <a:off x="457200" y="1600200"/>
            <a:ext cx="8229600" cy="3814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4"/>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Navigation</a:t>
            </a:r>
            <a:endParaRPr b="1" i="0" sz="2800" u="none" cap="none" strike="noStrike">
              <a:solidFill>
                <a:srgbClr val="FFFFFF"/>
              </a:solidFill>
              <a:latin typeface="Open Sans"/>
              <a:ea typeface="Open Sans"/>
              <a:cs typeface="Open Sans"/>
              <a:sym typeface="Open Sans"/>
            </a:endParaRPr>
          </a:p>
        </p:txBody>
      </p:sp>
      <p:sp>
        <p:nvSpPr>
          <p:cNvPr id="103" name="Google Shape;103;p2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A</a:t>
            </a:r>
            <a:endParaRPr b="0" i="0" sz="1800" u="none" cap="none" strike="noStrike">
              <a:solidFill>
                <a:srgbClr val="256C8D"/>
              </a:solidFill>
              <a:latin typeface="Boogaloo"/>
              <a:ea typeface="Boogaloo"/>
              <a:cs typeface="Boogaloo"/>
              <a:sym typeface="Boogaloo"/>
            </a:endParaRPr>
          </a:p>
        </p:txBody>
      </p:sp>
      <p:sp>
        <p:nvSpPr>
          <p:cNvPr id="104" name="Google Shape;104;p24"/>
          <p:cNvSpPr txBox="1"/>
          <p:nvPr/>
        </p:nvSpPr>
        <p:spPr>
          <a:xfrm>
            <a:off x="2330100" y="1813500"/>
            <a:ext cx="61194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1100"/>
              <a:buFont typeface="Arial"/>
              <a:buNone/>
            </a:pPr>
            <a:r>
              <a:rPr b="0" i="0" lang="en" sz="2400" u="none" cap="none" strike="noStrike">
                <a:solidFill>
                  <a:srgbClr val="304852"/>
                </a:solidFill>
                <a:latin typeface="Cabin"/>
                <a:ea typeface="Cabin"/>
                <a:cs typeface="Cabin"/>
                <a:sym typeface="Cabin"/>
              </a:rPr>
              <a:t>What does it mean to be “distracted”?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11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1100"/>
              <a:buFont typeface="Arial"/>
              <a:buNone/>
            </a:pPr>
            <a:r>
              <a:rPr b="0" i="0" lang="en" sz="2400" u="none" cap="none" strike="noStrike">
                <a:solidFill>
                  <a:srgbClr val="304852"/>
                </a:solidFill>
                <a:latin typeface="Cabin"/>
                <a:ea typeface="Cabin"/>
                <a:cs typeface="Cabin"/>
                <a:sym typeface="Cabin"/>
              </a:rPr>
              <a:t>How do you think being distracted may affect whether or not you will avoid a collision?</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100"/>
              <a:buFont typeface="Arial"/>
              <a:buNone/>
            </a:pPr>
            <a:r>
              <a:t/>
            </a:r>
            <a:endParaRPr b="0" i="1" sz="2100" u="none" cap="none" strike="noStrike">
              <a:solidFill>
                <a:schemeClr val="dk1"/>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100"/>
              <a:buFont typeface="Arial"/>
              <a:buNone/>
            </a:pPr>
            <a:r>
              <a:t/>
            </a:r>
            <a:endParaRPr b="0" i="1" sz="2100" u="none" cap="none" strike="noStrike">
              <a:solidFill>
                <a:schemeClr val="dk1"/>
              </a:solidFill>
              <a:latin typeface="Cabin"/>
              <a:ea typeface="Cabin"/>
              <a:cs typeface="Cabin"/>
              <a:sym typeface="Cabin"/>
            </a:endParaRPr>
          </a:p>
          <a:p>
            <a:pPr indent="0" lvl="0" marL="0" marR="0" rtl="0" algn="l">
              <a:lnSpc>
                <a:spcPct val="100000"/>
              </a:lnSpc>
              <a:spcBef>
                <a:spcPts val="0"/>
              </a:spcBef>
              <a:spcAft>
                <a:spcPts val="0"/>
              </a:spcAft>
              <a:buClr>
                <a:schemeClr val="dk1"/>
              </a:buClr>
              <a:buSzPts val="1100"/>
              <a:buFont typeface="Arial"/>
              <a:buNone/>
            </a:pPr>
            <a:r>
              <a:t/>
            </a:r>
            <a:endParaRPr b="0" i="1" sz="2100" u="none" cap="none" strike="noStrike">
              <a:solidFill>
                <a:schemeClr val="dk1"/>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05" name="Google Shape;105;p24"/>
          <p:cNvPicPr preferRelativeResize="0"/>
          <p:nvPr/>
        </p:nvPicPr>
        <p:blipFill rotWithShape="1">
          <a:blip r:embed="rId3">
            <a:alphaModFix/>
          </a:blip>
          <a:srcRect b="0" l="0" r="0" t="0"/>
          <a:stretch/>
        </p:blipFill>
        <p:spPr>
          <a:xfrm>
            <a:off x="729174" y="1813500"/>
            <a:ext cx="1376700" cy="1403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9" name="Shape 109"/>
        <p:cNvGrpSpPr/>
        <p:nvPr/>
      </p:nvGrpSpPr>
      <p:grpSpPr>
        <a:xfrm>
          <a:off x="0" y="0"/>
          <a:ext cx="0" cy="0"/>
          <a:chOff x="0" y="0"/>
          <a:chExt cx="0" cy="0"/>
        </a:xfrm>
      </p:grpSpPr>
      <p:sp>
        <p:nvSpPr>
          <p:cNvPr id="110" name="Google Shape;110;p25"/>
          <p:cNvSpPr/>
          <p:nvPr/>
        </p:nvSpPr>
        <p:spPr>
          <a:xfrm>
            <a:off x="457200" y="1600200"/>
            <a:ext cx="8229600" cy="3814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5"/>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Analyze video of a car stopping</a:t>
            </a:r>
            <a:endParaRPr b="1" i="0" sz="2800" u="none" cap="none" strike="noStrike">
              <a:solidFill>
                <a:srgbClr val="FFFFFF"/>
              </a:solidFill>
              <a:latin typeface="Open Sans"/>
              <a:ea typeface="Open Sans"/>
              <a:cs typeface="Open Sans"/>
              <a:sym typeface="Open Sans"/>
            </a:endParaRPr>
          </a:p>
        </p:txBody>
      </p:sp>
      <p:sp>
        <p:nvSpPr>
          <p:cNvPr id="112" name="Google Shape;112;p25"/>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B</a:t>
            </a:r>
            <a:endParaRPr b="0" i="0" sz="1800" u="none" cap="none" strike="noStrike">
              <a:solidFill>
                <a:srgbClr val="256C8D"/>
              </a:solidFill>
              <a:latin typeface="Boogaloo"/>
              <a:ea typeface="Boogaloo"/>
              <a:cs typeface="Boogaloo"/>
              <a:sym typeface="Boogaloo"/>
            </a:endParaRPr>
          </a:p>
        </p:txBody>
      </p:sp>
      <p:sp>
        <p:nvSpPr>
          <p:cNvPr id="113" name="Google Shape;113;p25"/>
          <p:cNvSpPr txBox="1"/>
          <p:nvPr/>
        </p:nvSpPr>
        <p:spPr>
          <a:xfrm>
            <a:off x="2330100" y="1813500"/>
            <a:ext cx="62877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Watch the videos of the car braking:</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AutoNum type="arabicParenR"/>
            </a:pPr>
            <a:r>
              <a:rPr b="0" i="0" lang="en" sz="2400" u="none" cap="none" strike="noStrike">
                <a:solidFill>
                  <a:srgbClr val="304852"/>
                </a:solidFill>
                <a:latin typeface="Cabin"/>
                <a:ea typeface="Cabin"/>
                <a:cs typeface="Cabin"/>
                <a:sym typeface="Cabin"/>
              </a:rPr>
              <a:t>When the driver is not distracted</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AutoNum type="arabicParenR"/>
            </a:pPr>
            <a:r>
              <a:rPr b="0" i="0" lang="en" sz="2400" u="none" cap="none" strike="noStrike">
                <a:solidFill>
                  <a:srgbClr val="304852"/>
                </a:solidFill>
                <a:latin typeface="Cabin"/>
                <a:ea typeface="Cabin"/>
                <a:cs typeface="Cabin"/>
                <a:sym typeface="Cabin"/>
              </a:rPr>
              <a:t>When the driver is distracted</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What differences do you notice?</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14" name="Google Shape;114;p25"/>
          <p:cNvPicPr preferRelativeResize="0"/>
          <p:nvPr/>
        </p:nvPicPr>
        <p:blipFill rotWithShape="1">
          <a:blip r:embed="rId3">
            <a:alphaModFix/>
          </a:blip>
          <a:srcRect b="0" l="0" r="0" t="0"/>
          <a:stretch/>
        </p:blipFill>
        <p:spPr>
          <a:xfrm>
            <a:off x="729174" y="1813500"/>
            <a:ext cx="1376700" cy="1403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8" name="Shape 118"/>
        <p:cNvGrpSpPr/>
        <p:nvPr/>
      </p:nvGrpSpPr>
      <p:grpSpPr>
        <a:xfrm>
          <a:off x="0" y="0"/>
          <a:ext cx="0" cy="0"/>
          <a:chOff x="0" y="0"/>
          <a:chExt cx="0" cy="0"/>
        </a:xfrm>
      </p:grpSpPr>
      <p:sp>
        <p:nvSpPr>
          <p:cNvPr id="119" name="Google Shape;119;p26"/>
          <p:cNvSpPr/>
          <p:nvPr/>
        </p:nvSpPr>
        <p:spPr>
          <a:xfrm>
            <a:off x="457200" y="1600200"/>
            <a:ext cx="8229600" cy="3814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6"/>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2800" u="none" cap="none" strike="noStrike">
                <a:solidFill>
                  <a:schemeClr val="lt1"/>
                </a:solidFill>
                <a:latin typeface="Open Sans"/>
                <a:ea typeface="Open Sans"/>
                <a:cs typeface="Open Sans"/>
                <a:sym typeface="Open Sans"/>
              </a:rPr>
              <a:t>Analyze video of a car stopping</a:t>
            </a:r>
            <a:endParaRPr b="1" i="0" sz="2800" u="none" cap="none" strike="noStrike">
              <a:solidFill>
                <a:srgbClr val="FFFFFF"/>
              </a:solidFill>
              <a:latin typeface="Open Sans"/>
              <a:ea typeface="Open Sans"/>
              <a:cs typeface="Open Sans"/>
              <a:sym typeface="Open Sans"/>
            </a:endParaRPr>
          </a:p>
        </p:txBody>
      </p:sp>
      <p:sp>
        <p:nvSpPr>
          <p:cNvPr id="121" name="Google Shape;121;p2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C</a:t>
            </a:r>
            <a:endParaRPr b="0" i="0" sz="1800" u="none" cap="none" strike="noStrike">
              <a:solidFill>
                <a:srgbClr val="256C8D"/>
              </a:solidFill>
              <a:latin typeface="Boogaloo"/>
              <a:ea typeface="Boogaloo"/>
              <a:cs typeface="Boogaloo"/>
              <a:sym typeface="Boogaloo"/>
            </a:endParaRPr>
          </a:p>
        </p:txBody>
      </p:sp>
      <p:sp>
        <p:nvSpPr>
          <p:cNvPr id="122" name="Google Shape;122;p26"/>
          <p:cNvSpPr txBox="1"/>
          <p:nvPr/>
        </p:nvSpPr>
        <p:spPr>
          <a:xfrm>
            <a:off x="2330100" y="1813500"/>
            <a:ext cx="62877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Tape a strip of paper to the projection screen or the whiteboard so that the video is projected over it.</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For the first video (not distracted), mark the important positions that can help us analyze the way it moves.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23" name="Google Shape;123;p26"/>
          <p:cNvPicPr preferRelativeResize="0"/>
          <p:nvPr/>
        </p:nvPicPr>
        <p:blipFill rotWithShape="1">
          <a:blip r:embed="rId3">
            <a:alphaModFix/>
          </a:blip>
          <a:srcRect b="0" l="0" r="0" t="0"/>
          <a:stretch/>
        </p:blipFill>
        <p:spPr>
          <a:xfrm>
            <a:off x="729174" y="1813500"/>
            <a:ext cx="1376700" cy="1403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7" name="Shape 127"/>
        <p:cNvGrpSpPr/>
        <p:nvPr/>
      </p:nvGrpSpPr>
      <p:grpSpPr>
        <a:xfrm>
          <a:off x="0" y="0"/>
          <a:ext cx="0" cy="0"/>
          <a:chOff x="0" y="0"/>
          <a:chExt cx="0" cy="0"/>
        </a:xfrm>
      </p:grpSpPr>
      <p:sp>
        <p:nvSpPr>
          <p:cNvPr id="128" name="Google Shape;128;p27"/>
          <p:cNvSpPr/>
          <p:nvPr/>
        </p:nvSpPr>
        <p:spPr>
          <a:xfrm>
            <a:off x="457200" y="1600200"/>
            <a:ext cx="8229600" cy="4726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7"/>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Analyze video of a car stopping</a:t>
            </a:r>
            <a:endParaRPr b="1" i="0" sz="2800" u="none" cap="none" strike="noStrike">
              <a:solidFill>
                <a:srgbClr val="FFFFFF"/>
              </a:solidFill>
              <a:latin typeface="Open Sans"/>
              <a:ea typeface="Open Sans"/>
              <a:cs typeface="Open Sans"/>
              <a:sym typeface="Open Sans"/>
            </a:endParaRPr>
          </a:p>
        </p:txBody>
      </p:sp>
      <p:sp>
        <p:nvSpPr>
          <p:cNvPr id="130" name="Google Shape;130;p2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D</a:t>
            </a:r>
            <a:endParaRPr b="0" i="0" sz="1800" u="none" cap="none" strike="noStrike">
              <a:solidFill>
                <a:srgbClr val="256C8D"/>
              </a:solidFill>
              <a:latin typeface="Boogaloo"/>
              <a:ea typeface="Boogaloo"/>
              <a:cs typeface="Boogaloo"/>
              <a:sym typeface="Boogaloo"/>
            </a:endParaRPr>
          </a:p>
        </p:txBody>
      </p:sp>
      <p:sp>
        <p:nvSpPr>
          <p:cNvPr id="131" name="Google Shape;131;p27"/>
          <p:cNvSpPr txBox="1"/>
          <p:nvPr/>
        </p:nvSpPr>
        <p:spPr>
          <a:xfrm>
            <a:off x="2330100" y="1813500"/>
            <a:ext cx="59139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information do we need in order to calculate the actual distance between each of the positions we identified?</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32" name="Google Shape;132;p27"/>
          <p:cNvPicPr preferRelativeResize="0"/>
          <p:nvPr/>
        </p:nvPicPr>
        <p:blipFill rotWithShape="1">
          <a:blip r:embed="rId3">
            <a:alphaModFix/>
          </a:blip>
          <a:srcRect b="0" l="0" r="0" t="0"/>
          <a:stretch/>
        </p:blipFill>
        <p:spPr>
          <a:xfrm>
            <a:off x="729174" y="1813500"/>
            <a:ext cx="1376700" cy="1403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6" name="Shape 136"/>
        <p:cNvGrpSpPr/>
        <p:nvPr/>
      </p:nvGrpSpPr>
      <p:grpSpPr>
        <a:xfrm>
          <a:off x="0" y="0"/>
          <a:ext cx="0" cy="0"/>
          <a:chOff x="0" y="0"/>
          <a:chExt cx="0" cy="0"/>
        </a:xfrm>
      </p:grpSpPr>
      <p:sp>
        <p:nvSpPr>
          <p:cNvPr id="137" name="Google Shape;137;p28"/>
          <p:cNvSpPr/>
          <p:nvPr/>
        </p:nvSpPr>
        <p:spPr>
          <a:xfrm>
            <a:off x="457200" y="1600200"/>
            <a:ext cx="8229600" cy="4843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8"/>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Creating a position-line</a:t>
            </a:r>
            <a:endParaRPr b="1" i="0" sz="2800" u="none" cap="none" strike="noStrike">
              <a:solidFill>
                <a:srgbClr val="FFFFFF"/>
              </a:solidFill>
              <a:latin typeface="Open Sans"/>
              <a:ea typeface="Open Sans"/>
              <a:cs typeface="Open Sans"/>
              <a:sym typeface="Open Sans"/>
            </a:endParaRPr>
          </a:p>
        </p:txBody>
      </p:sp>
      <p:sp>
        <p:nvSpPr>
          <p:cNvPr id="139" name="Google Shape;139;p2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E</a:t>
            </a:r>
            <a:endParaRPr b="0" i="0" sz="1800" u="none" cap="none" strike="noStrike">
              <a:solidFill>
                <a:srgbClr val="256C8D"/>
              </a:solidFill>
              <a:latin typeface="Boogaloo"/>
              <a:ea typeface="Boogaloo"/>
              <a:cs typeface="Boogaloo"/>
              <a:sym typeface="Boogaloo"/>
            </a:endParaRPr>
          </a:p>
        </p:txBody>
      </p:sp>
      <p:sp>
        <p:nvSpPr>
          <p:cNvPr id="140" name="Google Shape;140;p28"/>
          <p:cNvSpPr txBox="1"/>
          <p:nvPr/>
        </p:nvSpPr>
        <p:spPr>
          <a:xfrm>
            <a:off x="626125" y="1813500"/>
            <a:ext cx="79917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Arial"/>
              <a:buNone/>
            </a:pPr>
            <a:r>
              <a:rPr b="1" i="1" lang="en" sz="2300" u="none" cap="none" strike="noStrike">
                <a:solidFill>
                  <a:srgbClr val="304852"/>
                </a:solidFill>
                <a:latin typeface="Cabin"/>
                <a:ea typeface="Cabin"/>
                <a:cs typeface="Cabin"/>
                <a:sym typeface="Cabin"/>
              </a:rPr>
              <a:t>The car in the clip is 4.5 meters long.</a:t>
            </a:r>
            <a:endParaRPr b="0" i="0" sz="2300" u="none" cap="none" strike="noStrike">
              <a:solidFill>
                <a:srgbClr val="304852"/>
              </a:solidFill>
              <a:latin typeface="Cabin"/>
              <a:ea typeface="Cabin"/>
              <a:cs typeface="Cabin"/>
              <a:sym typeface="Cabin"/>
            </a:endParaRPr>
          </a:p>
          <a:p>
            <a:pPr indent="-361950" lvl="0" marL="457200" marR="0" rtl="0" algn="l">
              <a:lnSpc>
                <a:spcPct val="115000"/>
              </a:lnSpc>
              <a:spcBef>
                <a:spcPts val="1000"/>
              </a:spcBef>
              <a:spcAft>
                <a:spcPts val="0"/>
              </a:spcAft>
              <a:buClr>
                <a:srgbClr val="304852"/>
              </a:buClr>
              <a:buSzPts val="2100"/>
              <a:buFont typeface="Cabin"/>
              <a:buAutoNum type="arabicPeriod"/>
            </a:pPr>
            <a:r>
              <a:rPr b="0" i="0" lang="en" sz="2100" u="none" cap="none" strike="noStrike">
                <a:solidFill>
                  <a:srgbClr val="304852"/>
                </a:solidFill>
                <a:latin typeface="Cabin"/>
                <a:ea typeface="Cabin"/>
                <a:cs typeface="Cabin"/>
                <a:sym typeface="Cabin"/>
              </a:rPr>
              <a:t>Find the length of the car in the video clip at the scale that you watched it in the classroom. Record them on your handout.</a:t>
            </a:r>
            <a:endParaRPr b="0" i="0" sz="2100" u="none" cap="none" strike="noStrike">
              <a:solidFill>
                <a:srgbClr val="304852"/>
              </a:solidFill>
              <a:latin typeface="Cabin"/>
              <a:ea typeface="Cabin"/>
              <a:cs typeface="Cabin"/>
              <a:sym typeface="Cabin"/>
            </a:endParaRPr>
          </a:p>
          <a:p>
            <a:pPr indent="-361950" lvl="0" marL="457200" marR="0" rtl="0" algn="l">
              <a:lnSpc>
                <a:spcPct val="115000"/>
              </a:lnSpc>
              <a:spcBef>
                <a:spcPts val="1000"/>
              </a:spcBef>
              <a:spcAft>
                <a:spcPts val="0"/>
              </a:spcAft>
              <a:buClr>
                <a:srgbClr val="304852"/>
              </a:buClr>
              <a:buSzPts val="2100"/>
              <a:buFont typeface="Cabin"/>
              <a:buAutoNum type="arabicPeriod"/>
            </a:pPr>
            <a:r>
              <a:rPr b="0" i="0" lang="en" sz="2100" u="none" cap="none" strike="noStrike">
                <a:solidFill>
                  <a:srgbClr val="304852"/>
                </a:solidFill>
                <a:latin typeface="Cabin"/>
                <a:ea typeface="Cabin"/>
                <a:cs typeface="Cabin"/>
                <a:sym typeface="Cabin"/>
              </a:rPr>
              <a:t>Find the length of the position intervals that you identified (the length between the important positions) at the same scale. Record them on your handout.</a:t>
            </a:r>
            <a:endParaRPr b="0" i="0" sz="2100" u="none" cap="none" strike="noStrike">
              <a:solidFill>
                <a:srgbClr val="304852"/>
              </a:solidFill>
              <a:latin typeface="Cabin"/>
              <a:ea typeface="Cabin"/>
              <a:cs typeface="Cabin"/>
              <a:sym typeface="Cabin"/>
            </a:endParaRPr>
          </a:p>
          <a:p>
            <a:pPr indent="-361950" lvl="0" marL="457200" marR="0" rtl="0" algn="l">
              <a:lnSpc>
                <a:spcPct val="115000"/>
              </a:lnSpc>
              <a:spcBef>
                <a:spcPts val="1000"/>
              </a:spcBef>
              <a:spcAft>
                <a:spcPts val="0"/>
              </a:spcAft>
              <a:buClr>
                <a:srgbClr val="304852"/>
              </a:buClr>
              <a:buSzPts val="2100"/>
              <a:buFont typeface="Cabin"/>
              <a:buAutoNum type="arabicPeriod"/>
            </a:pPr>
            <a:r>
              <a:rPr b="0" i="0" lang="en" sz="2100" u="none" cap="none" strike="noStrike">
                <a:solidFill>
                  <a:srgbClr val="304852"/>
                </a:solidFill>
                <a:latin typeface="Cabin"/>
                <a:ea typeface="Cabin"/>
                <a:cs typeface="Cabin"/>
                <a:sym typeface="Cabin"/>
              </a:rPr>
              <a:t>Find the ratio of the actual length of the car to the length you measured. Set this ratio equal to the ratio of the actual distance of each position intervals to the measured length of that interval.  Solve to get the actual length of each interval. </a:t>
            </a:r>
            <a:endParaRPr b="0" i="0" sz="2100" u="none" cap="none" strike="noStrike">
              <a:solidFill>
                <a:srgbClr val="304852"/>
              </a:solidFill>
              <a:latin typeface="Cabin"/>
              <a:ea typeface="Cabin"/>
              <a:cs typeface="Cabin"/>
              <a:sym typeface="Cabin"/>
            </a:endParaRPr>
          </a:p>
          <a:p>
            <a:pPr indent="-361950" lvl="0" marL="457200" marR="0" rtl="0" algn="l">
              <a:lnSpc>
                <a:spcPct val="115000"/>
              </a:lnSpc>
              <a:spcBef>
                <a:spcPts val="1000"/>
              </a:spcBef>
              <a:spcAft>
                <a:spcPts val="0"/>
              </a:spcAft>
              <a:buClr>
                <a:srgbClr val="304852"/>
              </a:buClr>
              <a:buSzPts val="2100"/>
              <a:buFont typeface="Cabin"/>
              <a:buAutoNum type="arabicPeriod"/>
            </a:pPr>
            <a:r>
              <a:rPr b="0" i="0" lang="en" sz="2100" u="none" cap="none" strike="noStrike">
                <a:solidFill>
                  <a:srgbClr val="304852"/>
                </a:solidFill>
                <a:latin typeface="Cabin"/>
                <a:ea typeface="Cabin"/>
                <a:cs typeface="Cabin"/>
                <a:sym typeface="Cabin"/>
              </a:rPr>
              <a:t>Label the distances you calculated on the position line.</a:t>
            </a:r>
            <a:endParaRPr b="0" i="0" sz="31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4" name="Shape 144"/>
        <p:cNvGrpSpPr/>
        <p:nvPr/>
      </p:nvGrpSpPr>
      <p:grpSpPr>
        <a:xfrm>
          <a:off x="0" y="0"/>
          <a:ext cx="0" cy="0"/>
          <a:chOff x="0" y="0"/>
          <a:chExt cx="0" cy="0"/>
        </a:xfrm>
      </p:grpSpPr>
      <p:sp>
        <p:nvSpPr>
          <p:cNvPr id="145" name="Google Shape;145;p29"/>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Making a prediction</a:t>
            </a:r>
            <a:endParaRPr b="1" i="0" sz="2800" u="none" cap="none" strike="noStrike">
              <a:solidFill>
                <a:srgbClr val="FFFFFF"/>
              </a:solidFill>
              <a:latin typeface="Open Sans"/>
              <a:ea typeface="Open Sans"/>
              <a:cs typeface="Open Sans"/>
              <a:sym typeface="Open Sans"/>
            </a:endParaRPr>
          </a:p>
        </p:txBody>
      </p:sp>
      <p:sp>
        <p:nvSpPr>
          <p:cNvPr id="146" name="Google Shape;146;p29"/>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F </a:t>
            </a:r>
            <a:endParaRPr b="0" i="0" sz="1800" u="none" cap="none" strike="noStrike">
              <a:solidFill>
                <a:srgbClr val="256C8D"/>
              </a:solidFill>
              <a:latin typeface="Boogaloo"/>
              <a:ea typeface="Boogaloo"/>
              <a:cs typeface="Boogaloo"/>
              <a:sym typeface="Boogaloo"/>
            </a:endParaRPr>
          </a:p>
        </p:txBody>
      </p:sp>
      <p:sp>
        <p:nvSpPr>
          <p:cNvPr id="147" name="Google Shape;147;p29"/>
          <p:cNvSpPr/>
          <p:nvPr/>
        </p:nvSpPr>
        <p:spPr>
          <a:xfrm>
            <a:off x="457200" y="1600200"/>
            <a:ext cx="8229600" cy="4726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9"/>
          <p:cNvSpPr txBox="1"/>
          <p:nvPr/>
        </p:nvSpPr>
        <p:spPr>
          <a:xfrm>
            <a:off x="2330100" y="1813500"/>
            <a:ext cx="59139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Will the distances we calculated (reaction and braking) change if a person is distracted? How?</a:t>
            </a:r>
            <a:endParaRPr b="0" i="0" sz="30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49" name="Google Shape;149;p29"/>
          <p:cNvPicPr preferRelativeResize="0"/>
          <p:nvPr/>
        </p:nvPicPr>
        <p:blipFill rotWithShape="1">
          <a:blip r:embed="rId3">
            <a:alphaModFix/>
          </a:blip>
          <a:srcRect b="0" l="0" r="0" t="0"/>
          <a:stretch/>
        </p:blipFill>
        <p:spPr>
          <a:xfrm>
            <a:off x="729174" y="1813500"/>
            <a:ext cx="1376700" cy="1403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3" name="Shape 153"/>
        <p:cNvGrpSpPr/>
        <p:nvPr/>
      </p:nvGrpSpPr>
      <p:grpSpPr>
        <a:xfrm>
          <a:off x="0" y="0"/>
          <a:ext cx="0" cy="0"/>
          <a:chOff x="0" y="0"/>
          <a:chExt cx="0" cy="0"/>
        </a:xfrm>
      </p:grpSpPr>
      <p:sp>
        <p:nvSpPr>
          <p:cNvPr id="154" name="Google Shape;154;p30"/>
          <p:cNvSpPr/>
          <p:nvPr/>
        </p:nvSpPr>
        <p:spPr>
          <a:xfrm>
            <a:off x="457200" y="1600200"/>
            <a:ext cx="8229600" cy="4869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17716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Cabin"/>
              <a:ea typeface="Cabin"/>
              <a:cs typeface="Cabin"/>
              <a:sym typeface="Cabin"/>
            </a:endParaRPr>
          </a:p>
        </p:txBody>
      </p:sp>
      <p:sp>
        <p:nvSpPr>
          <p:cNvPr id="155" name="Google Shape;155;p30"/>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Analyze the distracted driver video</a:t>
            </a:r>
            <a:endParaRPr b="1" i="0" sz="2800" u="none" cap="none" strike="noStrike">
              <a:solidFill>
                <a:srgbClr val="FFFFFF"/>
              </a:solidFill>
              <a:latin typeface="Open Sans"/>
              <a:ea typeface="Open Sans"/>
              <a:cs typeface="Open Sans"/>
              <a:sym typeface="Open Sans"/>
            </a:endParaRPr>
          </a:p>
        </p:txBody>
      </p:sp>
      <p:sp>
        <p:nvSpPr>
          <p:cNvPr id="156" name="Google Shape;156;p3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G</a:t>
            </a:r>
            <a:endParaRPr b="0" i="0" sz="1800" u="none" cap="none" strike="noStrike">
              <a:solidFill>
                <a:srgbClr val="256C8D"/>
              </a:solidFill>
              <a:latin typeface="Boogaloo"/>
              <a:ea typeface="Boogaloo"/>
              <a:cs typeface="Boogaloo"/>
              <a:sym typeface="Boogaloo"/>
            </a:endParaRPr>
          </a:p>
        </p:txBody>
      </p:sp>
      <p:sp>
        <p:nvSpPr>
          <p:cNvPr id="157" name="Google Shape;157;p30"/>
          <p:cNvSpPr txBox="1"/>
          <p:nvPr/>
        </p:nvSpPr>
        <p:spPr>
          <a:xfrm>
            <a:off x="2330100" y="1813500"/>
            <a:ext cx="6287700" cy="83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00000"/>
              </a:lnSpc>
              <a:spcBef>
                <a:spcPts val="25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For the second video (distracted), mark the same positions as a class that you marked for the first video. Use a new strip of paper.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2500"/>
              </a:spcBef>
              <a:spcAft>
                <a:spcPts val="2500"/>
              </a:spcAft>
              <a:buClr>
                <a:srgbClr val="000000"/>
              </a:buClr>
              <a:buSzPts val="2600"/>
              <a:buFont typeface="Arial"/>
              <a:buNone/>
            </a:pPr>
            <a:r>
              <a:rPr b="0" i="0" lang="en" sz="2600" u="none" cap="none" strike="noStrike">
                <a:solidFill>
                  <a:srgbClr val="304852"/>
                </a:solidFill>
                <a:latin typeface="Cabin"/>
                <a:ea typeface="Cabin"/>
                <a:cs typeface="Cabin"/>
                <a:sym typeface="Cabin"/>
              </a:rPr>
              <a:t>Then calculate the actual distance between each of the positions we identified so that we can compare across them.</a:t>
            </a:r>
            <a:endParaRPr b="1" i="0" sz="2600" u="none" cap="none" strike="noStrike">
              <a:solidFill>
                <a:srgbClr val="304852"/>
              </a:solidFill>
              <a:latin typeface="Cabin"/>
              <a:ea typeface="Cabin"/>
              <a:cs typeface="Cabin"/>
              <a:sym typeface="Cabin"/>
            </a:endParaRPr>
          </a:p>
        </p:txBody>
      </p:sp>
      <p:pic>
        <p:nvPicPr>
          <p:cNvPr id="158" name="Google Shape;158;p30"/>
          <p:cNvPicPr preferRelativeResize="0"/>
          <p:nvPr/>
        </p:nvPicPr>
        <p:blipFill rotWithShape="1">
          <a:blip r:embed="rId3">
            <a:alphaModFix/>
          </a:blip>
          <a:srcRect b="0" l="0" r="0" t="0"/>
          <a:stretch/>
        </p:blipFill>
        <p:spPr>
          <a:xfrm>
            <a:off x="729174" y="1813500"/>
            <a:ext cx="1376700" cy="1403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62" name="Shape 162"/>
        <p:cNvGrpSpPr/>
        <p:nvPr/>
      </p:nvGrpSpPr>
      <p:grpSpPr>
        <a:xfrm>
          <a:off x="0" y="0"/>
          <a:ext cx="0" cy="0"/>
          <a:chOff x="0" y="0"/>
          <a:chExt cx="0" cy="0"/>
        </a:xfrm>
      </p:grpSpPr>
      <p:sp>
        <p:nvSpPr>
          <p:cNvPr id="163" name="Google Shape;163;p31"/>
          <p:cNvSpPr/>
          <p:nvPr/>
        </p:nvSpPr>
        <p:spPr>
          <a:xfrm>
            <a:off x="457200" y="1600200"/>
            <a:ext cx="8229600" cy="23850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600"/>
              <a:buFont typeface="Arial"/>
              <a:buNone/>
            </a:pPr>
            <a:r>
              <a:t/>
            </a:r>
            <a:endParaRPr b="1" i="0" sz="2600" u="none" cap="none" strike="noStrike">
              <a:solidFill>
                <a:srgbClr val="304852"/>
              </a:solidFill>
              <a:latin typeface="Cabin"/>
              <a:ea typeface="Cabin"/>
              <a:cs typeface="Cabin"/>
              <a:sym typeface="Cabin"/>
            </a:endParaRPr>
          </a:p>
          <a:p>
            <a:pPr indent="0" lvl="0" marL="17716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Cabin"/>
              <a:ea typeface="Cabin"/>
              <a:cs typeface="Cabin"/>
              <a:sym typeface="Cabin"/>
            </a:endParaRPr>
          </a:p>
        </p:txBody>
      </p:sp>
      <p:sp>
        <p:nvSpPr>
          <p:cNvPr id="164" name="Google Shape;164;p31"/>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Analyze the distracted driver video</a:t>
            </a:r>
            <a:endParaRPr b="1" i="0" sz="2800" u="none" cap="none" strike="noStrike">
              <a:solidFill>
                <a:srgbClr val="FFFFFF"/>
              </a:solidFill>
              <a:latin typeface="Open Sans"/>
              <a:ea typeface="Open Sans"/>
              <a:cs typeface="Open Sans"/>
              <a:sym typeface="Open Sans"/>
            </a:endParaRPr>
          </a:p>
        </p:txBody>
      </p:sp>
      <p:sp>
        <p:nvSpPr>
          <p:cNvPr id="165" name="Google Shape;165;p31"/>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H</a:t>
            </a:r>
            <a:endParaRPr b="0" i="0" sz="1800" u="none" cap="none" strike="noStrike">
              <a:solidFill>
                <a:srgbClr val="256C8D"/>
              </a:solidFill>
              <a:latin typeface="Boogaloo"/>
              <a:ea typeface="Boogaloo"/>
              <a:cs typeface="Boogaloo"/>
              <a:sym typeface="Boogaloo"/>
            </a:endParaRPr>
          </a:p>
        </p:txBody>
      </p:sp>
      <p:sp>
        <p:nvSpPr>
          <p:cNvPr id="166" name="Google Shape;166;p31"/>
          <p:cNvSpPr txBox="1"/>
          <p:nvPr/>
        </p:nvSpPr>
        <p:spPr>
          <a:xfrm>
            <a:off x="2330100" y="1813500"/>
            <a:ext cx="6287700" cy="83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On your own</a:t>
            </a:r>
            <a:endParaRPr b="1" i="0" sz="26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How do our predictions match the data? </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How are they different?</a:t>
            </a:r>
            <a:endParaRPr b="1" i="0" sz="2600" u="none" cap="none" strike="noStrike">
              <a:solidFill>
                <a:srgbClr val="304852"/>
              </a:solidFill>
              <a:latin typeface="Cabin"/>
              <a:ea typeface="Cabin"/>
              <a:cs typeface="Cabin"/>
              <a:sym typeface="Cabin"/>
            </a:endParaRPr>
          </a:p>
        </p:txBody>
      </p:sp>
      <p:sp>
        <p:nvSpPr>
          <p:cNvPr id="167" name="Google Shape;167;p31"/>
          <p:cNvSpPr txBox="1"/>
          <p:nvPr/>
        </p:nvSpPr>
        <p:spPr>
          <a:xfrm rot="-126836">
            <a:off x="4864044" y="3738398"/>
            <a:ext cx="3911962" cy="593204"/>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class</a:t>
            </a:r>
            <a:endParaRPr b="0" i="0" sz="2200" u="none" cap="none" strike="noStrike">
              <a:solidFill>
                <a:srgbClr val="304852"/>
              </a:solidFill>
              <a:latin typeface="Cabin Condensed"/>
              <a:ea typeface="Cabin Condensed"/>
              <a:cs typeface="Cabin Condensed"/>
              <a:sym typeface="Cabin Condensed"/>
            </a:endParaRPr>
          </a:p>
        </p:txBody>
      </p:sp>
      <p:pic>
        <p:nvPicPr>
          <p:cNvPr id="168" name="Google Shape;168;p31"/>
          <p:cNvPicPr preferRelativeResize="0"/>
          <p:nvPr/>
        </p:nvPicPr>
        <p:blipFill rotWithShape="1">
          <a:blip r:embed="rId3">
            <a:alphaModFix/>
          </a:blip>
          <a:srcRect b="0" l="0" r="0" t="0"/>
          <a:stretch/>
        </p:blipFill>
        <p:spPr>
          <a:xfrm>
            <a:off x="686650" y="1813500"/>
            <a:ext cx="1457325" cy="1724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72" name="Shape 172"/>
        <p:cNvGrpSpPr/>
        <p:nvPr/>
      </p:nvGrpSpPr>
      <p:grpSpPr>
        <a:xfrm>
          <a:off x="0" y="0"/>
          <a:ext cx="0" cy="0"/>
          <a:chOff x="0" y="0"/>
          <a:chExt cx="0" cy="0"/>
        </a:xfrm>
      </p:grpSpPr>
      <p:sp>
        <p:nvSpPr>
          <p:cNvPr id="173" name="Google Shape;173;p32"/>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Navigation</a:t>
            </a:r>
            <a:endParaRPr b="1" i="0" sz="2800" u="none" cap="none" strike="noStrike">
              <a:solidFill>
                <a:srgbClr val="FFFFFF"/>
              </a:solidFill>
              <a:latin typeface="Open Sans"/>
              <a:ea typeface="Open Sans"/>
              <a:cs typeface="Open Sans"/>
              <a:sym typeface="Open Sans"/>
            </a:endParaRPr>
          </a:p>
        </p:txBody>
      </p:sp>
      <p:sp>
        <p:nvSpPr>
          <p:cNvPr id="174" name="Google Shape;174;p32"/>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I</a:t>
            </a:r>
            <a:endParaRPr b="0" i="0" sz="1800" u="none" cap="none" strike="noStrike">
              <a:solidFill>
                <a:srgbClr val="256C8D"/>
              </a:solidFill>
              <a:latin typeface="Boogaloo"/>
              <a:ea typeface="Boogaloo"/>
              <a:cs typeface="Boogaloo"/>
              <a:sym typeface="Boogaloo"/>
            </a:endParaRPr>
          </a:p>
        </p:txBody>
      </p:sp>
      <p:sp>
        <p:nvSpPr>
          <p:cNvPr id="175" name="Google Shape;175;p32"/>
          <p:cNvSpPr/>
          <p:nvPr/>
        </p:nvSpPr>
        <p:spPr>
          <a:xfrm>
            <a:off x="457200" y="1600200"/>
            <a:ext cx="8229600" cy="3212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2"/>
          <p:cNvSpPr txBox="1"/>
          <p:nvPr/>
        </p:nvSpPr>
        <p:spPr>
          <a:xfrm>
            <a:off x="2330100" y="1813500"/>
            <a:ext cx="59139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Turn and Talk</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was different about how the distracted driver was driving that could explain why these distances were different?</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177" name="Google Shape;177;p32"/>
          <p:cNvSpPr txBox="1"/>
          <p:nvPr/>
        </p:nvSpPr>
        <p:spPr>
          <a:xfrm rot="-126836">
            <a:off x="4911794" y="4420198"/>
            <a:ext cx="3911962" cy="593204"/>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class</a:t>
            </a:r>
            <a:endParaRPr b="0" i="0" sz="2200" u="none" cap="none" strike="noStrike">
              <a:solidFill>
                <a:srgbClr val="304852"/>
              </a:solidFill>
              <a:latin typeface="Cabin Condensed"/>
              <a:ea typeface="Cabin Condensed"/>
              <a:cs typeface="Cabin Condensed"/>
              <a:sym typeface="Cabin Condensed"/>
            </a:endParaRPr>
          </a:p>
        </p:txBody>
      </p:sp>
      <p:pic>
        <p:nvPicPr>
          <p:cNvPr id="178" name="Google Shape;178;p32"/>
          <p:cNvPicPr preferRelativeResize="0"/>
          <p:nvPr/>
        </p:nvPicPr>
        <p:blipFill rotWithShape="1">
          <a:blip r:embed="rId3">
            <a:alphaModFix/>
          </a:blip>
          <a:srcRect b="0" l="0" r="0" t="0"/>
          <a:stretch/>
        </p:blipFill>
        <p:spPr>
          <a:xfrm>
            <a:off x="718000" y="1813500"/>
            <a:ext cx="1491400" cy="1237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82" name="Shape 182"/>
        <p:cNvGrpSpPr/>
        <p:nvPr/>
      </p:nvGrpSpPr>
      <p:grpSpPr>
        <a:xfrm>
          <a:off x="0" y="0"/>
          <a:ext cx="0" cy="0"/>
          <a:chOff x="0" y="0"/>
          <a:chExt cx="0" cy="0"/>
        </a:xfrm>
      </p:grpSpPr>
      <p:sp>
        <p:nvSpPr>
          <p:cNvPr id="183" name="Google Shape;183;p33"/>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Home Learning</a:t>
            </a:r>
            <a:endParaRPr b="1" i="0" sz="2800" u="none" cap="none" strike="noStrike">
              <a:solidFill>
                <a:srgbClr val="FFFFFF"/>
              </a:solidFill>
              <a:latin typeface="Open Sans"/>
              <a:ea typeface="Open Sans"/>
              <a:cs typeface="Open Sans"/>
              <a:sym typeface="Open Sans"/>
            </a:endParaRPr>
          </a:p>
        </p:txBody>
      </p:sp>
      <p:sp>
        <p:nvSpPr>
          <p:cNvPr id="184" name="Google Shape;184;p33"/>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J</a:t>
            </a:r>
            <a:endParaRPr b="0" i="0" sz="1800" u="none" cap="none" strike="noStrike">
              <a:solidFill>
                <a:srgbClr val="256C8D"/>
              </a:solidFill>
              <a:latin typeface="Boogaloo"/>
              <a:ea typeface="Boogaloo"/>
              <a:cs typeface="Boogaloo"/>
              <a:sym typeface="Boogaloo"/>
            </a:endParaRPr>
          </a:p>
        </p:txBody>
      </p:sp>
      <p:sp>
        <p:nvSpPr>
          <p:cNvPr id="185" name="Google Shape;185;p33"/>
          <p:cNvSpPr/>
          <p:nvPr/>
        </p:nvSpPr>
        <p:spPr>
          <a:xfrm>
            <a:off x="457200" y="1600200"/>
            <a:ext cx="8229600" cy="3212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3"/>
          <p:cNvSpPr txBox="1"/>
          <p:nvPr/>
        </p:nvSpPr>
        <p:spPr>
          <a:xfrm>
            <a:off x="2330100" y="1813500"/>
            <a:ext cx="59139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On Your Own</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Read about how being distracted affects how long it takes you to react.</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187" name="Google Shape;187;p33"/>
          <p:cNvSpPr txBox="1"/>
          <p:nvPr/>
        </p:nvSpPr>
        <p:spPr>
          <a:xfrm rot="-126836">
            <a:off x="4911794" y="4420198"/>
            <a:ext cx="3911962" cy="593204"/>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class</a:t>
            </a:r>
            <a:endParaRPr b="0" i="0" sz="2200" u="none" cap="none" strike="noStrike">
              <a:solidFill>
                <a:srgbClr val="304852"/>
              </a:solidFill>
              <a:latin typeface="Cabin Condensed"/>
              <a:ea typeface="Cabin Condensed"/>
              <a:cs typeface="Cabin Condensed"/>
              <a:sym typeface="Cabin Condensed"/>
            </a:endParaRPr>
          </a:p>
        </p:txBody>
      </p:sp>
      <p:pic>
        <p:nvPicPr>
          <p:cNvPr id="188" name="Google Shape;188;p33"/>
          <p:cNvPicPr preferRelativeResize="0"/>
          <p:nvPr/>
        </p:nvPicPr>
        <p:blipFill rotWithShape="1">
          <a:blip r:embed="rId3">
            <a:alphaModFix/>
          </a:blip>
          <a:srcRect b="0" l="0" r="0" t="0"/>
          <a:stretch/>
        </p:blipFill>
        <p:spPr>
          <a:xfrm>
            <a:off x="603275" y="1813500"/>
            <a:ext cx="1532225" cy="1259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2" name="Shape 192"/>
        <p:cNvGrpSpPr/>
        <p:nvPr/>
      </p:nvGrpSpPr>
      <p:grpSpPr>
        <a:xfrm>
          <a:off x="0" y="0"/>
          <a:ext cx="0" cy="0"/>
          <a:chOff x="0" y="0"/>
          <a:chExt cx="0" cy="0"/>
        </a:xfrm>
      </p:grpSpPr>
      <p:sp>
        <p:nvSpPr>
          <p:cNvPr id="193" name="Google Shape;193;p34"/>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Navigation: Return to the Home Learning</a:t>
            </a:r>
            <a:endParaRPr b="1" i="0" sz="2800" u="none" cap="none" strike="noStrike">
              <a:solidFill>
                <a:srgbClr val="FFFFFF"/>
              </a:solidFill>
              <a:latin typeface="Open Sans"/>
              <a:ea typeface="Open Sans"/>
              <a:cs typeface="Open Sans"/>
              <a:sym typeface="Open Sans"/>
            </a:endParaRPr>
          </a:p>
        </p:txBody>
      </p:sp>
      <p:sp>
        <p:nvSpPr>
          <p:cNvPr id="194" name="Google Shape;194;p3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K</a:t>
            </a:r>
            <a:endParaRPr b="0" i="0" sz="1800" u="none" cap="none" strike="noStrike">
              <a:solidFill>
                <a:srgbClr val="256C8D"/>
              </a:solidFill>
              <a:latin typeface="Boogaloo"/>
              <a:ea typeface="Boogaloo"/>
              <a:cs typeface="Boogaloo"/>
              <a:sym typeface="Boogaloo"/>
            </a:endParaRPr>
          </a:p>
        </p:txBody>
      </p:sp>
      <p:sp>
        <p:nvSpPr>
          <p:cNvPr id="195" name="Google Shape;195;p34"/>
          <p:cNvSpPr/>
          <p:nvPr/>
        </p:nvSpPr>
        <p:spPr>
          <a:xfrm>
            <a:off x="457200" y="1600200"/>
            <a:ext cx="8229600" cy="4309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txBox="1"/>
          <p:nvPr/>
        </p:nvSpPr>
        <p:spPr>
          <a:xfrm>
            <a:off x="2459750" y="1813500"/>
            <a:ext cx="61086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393700" lvl="0" marL="457200" marR="0" rtl="0" algn="l">
              <a:lnSpc>
                <a:spcPct val="100000"/>
              </a:lnSpc>
              <a:spcBef>
                <a:spcPts val="1000"/>
              </a:spcBef>
              <a:spcAft>
                <a:spcPts val="0"/>
              </a:spcAft>
              <a:buClr>
                <a:srgbClr val="304852"/>
              </a:buClr>
              <a:buSzPts val="2600"/>
              <a:buFont typeface="Cabin"/>
              <a:buChar char="●"/>
            </a:pPr>
            <a:r>
              <a:rPr b="0" i="0" lang="en" sz="2600" u="none" cap="none" strike="noStrike">
                <a:solidFill>
                  <a:srgbClr val="304852"/>
                </a:solidFill>
                <a:latin typeface="Cabin"/>
                <a:ea typeface="Cabin"/>
                <a:cs typeface="Cabin"/>
                <a:sym typeface="Cabin"/>
              </a:rPr>
              <a:t>What insights did looking at distances give us into the system during our investigations of the videos?</a:t>
            </a:r>
            <a:endParaRPr b="0" i="0" sz="2600" u="none" cap="none" strike="noStrike">
              <a:solidFill>
                <a:srgbClr val="304852"/>
              </a:solidFill>
              <a:latin typeface="Cabin"/>
              <a:ea typeface="Cabin"/>
              <a:cs typeface="Cabin"/>
              <a:sym typeface="Cabin"/>
            </a:endParaRPr>
          </a:p>
          <a:p>
            <a:pPr indent="-393700" lvl="0" marL="457200" marR="0" rtl="0" algn="l">
              <a:lnSpc>
                <a:spcPct val="100000"/>
              </a:lnSpc>
              <a:spcBef>
                <a:spcPts val="1000"/>
              </a:spcBef>
              <a:spcAft>
                <a:spcPts val="0"/>
              </a:spcAft>
              <a:buClr>
                <a:srgbClr val="304852"/>
              </a:buClr>
              <a:buSzPts val="2600"/>
              <a:buFont typeface="Cabin"/>
              <a:buChar char="●"/>
            </a:pPr>
            <a:r>
              <a:rPr b="0" i="0" lang="en" sz="2600" u="none" cap="none" strike="noStrike">
                <a:solidFill>
                  <a:srgbClr val="304852"/>
                </a:solidFill>
                <a:latin typeface="Cabin"/>
                <a:ea typeface="Cabin"/>
                <a:cs typeface="Cabin"/>
                <a:sym typeface="Cabin"/>
              </a:rPr>
              <a:t>How much does being distracted impact the time it takes for a car to stop?</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97" name="Google Shape;197;p34"/>
          <p:cNvPicPr preferRelativeResize="0"/>
          <p:nvPr/>
        </p:nvPicPr>
        <p:blipFill rotWithShape="1">
          <a:blip r:embed="rId3">
            <a:alphaModFix/>
          </a:blip>
          <a:srcRect b="0" l="0" r="0" t="0"/>
          <a:stretch/>
        </p:blipFill>
        <p:spPr>
          <a:xfrm>
            <a:off x="587925" y="1813500"/>
            <a:ext cx="1742175" cy="1432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01" name="Shape 201"/>
        <p:cNvGrpSpPr/>
        <p:nvPr/>
      </p:nvGrpSpPr>
      <p:grpSpPr>
        <a:xfrm>
          <a:off x="0" y="0"/>
          <a:ext cx="0" cy="0"/>
          <a:chOff x="0" y="0"/>
          <a:chExt cx="0" cy="0"/>
        </a:xfrm>
      </p:grpSpPr>
      <p:sp>
        <p:nvSpPr>
          <p:cNvPr id="202" name="Google Shape;202;p35"/>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Navigation: Looking at Timing</a:t>
            </a:r>
            <a:endParaRPr b="1" i="0" sz="2800" u="none" cap="none" strike="noStrike">
              <a:solidFill>
                <a:srgbClr val="FFFFFF"/>
              </a:solidFill>
              <a:latin typeface="Open Sans"/>
              <a:ea typeface="Open Sans"/>
              <a:cs typeface="Open Sans"/>
              <a:sym typeface="Open Sans"/>
            </a:endParaRPr>
          </a:p>
        </p:txBody>
      </p:sp>
      <p:sp>
        <p:nvSpPr>
          <p:cNvPr id="203" name="Google Shape;203;p35"/>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L</a:t>
            </a:r>
            <a:endParaRPr b="0" i="0" sz="1800" u="none" cap="none" strike="noStrike">
              <a:solidFill>
                <a:srgbClr val="256C8D"/>
              </a:solidFill>
              <a:latin typeface="Boogaloo"/>
              <a:ea typeface="Boogaloo"/>
              <a:cs typeface="Boogaloo"/>
              <a:sym typeface="Boogaloo"/>
            </a:endParaRPr>
          </a:p>
        </p:txBody>
      </p:sp>
      <p:sp>
        <p:nvSpPr>
          <p:cNvPr id="204" name="Google Shape;204;p35"/>
          <p:cNvSpPr/>
          <p:nvPr/>
        </p:nvSpPr>
        <p:spPr>
          <a:xfrm>
            <a:off x="457200" y="1600200"/>
            <a:ext cx="8229600" cy="4309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5"/>
          <p:cNvSpPr txBox="1"/>
          <p:nvPr/>
        </p:nvSpPr>
        <p:spPr>
          <a:xfrm>
            <a:off x="2330100" y="1813500"/>
            <a:ext cx="60480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Turn and Talk</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How could looking at the timing of each scenario (not-distracted vs. distracted) help us understand how being distracted could change the outcome of a possible collision?</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06" name="Google Shape;206;p35"/>
          <p:cNvPicPr preferRelativeResize="0"/>
          <p:nvPr/>
        </p:nvPicPr>
        <p:blipFill rotWithShape="1">
          <a:blip r:embed="rId3">
            <a:alphaModFix/>
          </a:blip>
          <a:srcRect b="0" l="0" r="0" t="0"/>
          <a:stretch/>
        </p:blipFill>
        <p:spPr>
          <a:xfrm>
            <a:off x="718000" y="1813500"/>
            <a:ext cx="1491400" cy="1237100"/>
          </a:xfrm>
          <a:prstGeom prst="rect">
            <a:avLst/>
          </a:prstGeom>
          <a:noFill/>
          <a:ln>
            <a:noFill/>
          </a:ln>
        </p:spPr>
      </p:pic>
      <p:sp>
        <p:nvSpPr>
          <p:cNvPr id="207" name="Google Shape;207;p35"/>
          <p:cNvSpPr txBox="1"/>
          <p:nvPr/>
        </p:nvSpPr>
        <p:spPr>
          <a:xfrm rot="-126836">
            <a:off x="5001444" y="5600548"/>
            <a:ext cx="3911962" cy="593204"/>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1" name="Shape 211"/>
        <p:cNvGrpSpPr/>
        <p:nvPr/>
      </p:nvGrpSpPr>
      <p:grpSpPr>
        <a:xfrm>
          <a:off x="0" y="0"/>
          <a:ext cx="0" cy="0"/>
          <a:chOff x="0" y="0"/>
          <a:chExt cx="0" cy="0"/>
        </a:xfrm>
      </p:grpSpPr>
      <p:sp>
        <p:nvSpPr>
          <p:cNvPr id="212" name="Google Shape;212;p36"/>
          <p:cNvSpPr/>
          <p:nvPr/>
        </p:nvSpPr>
        <p:spPr>
          <a:xfrm>
            <a:off x="457200" y="1600200"/>
            <a:ext cx="8229600" cy="4869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2857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36"/>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Analyze the time interval for driver #1</a:t>
            </a:r>
            <a:endParaRPr b="1" i="0" sz="2800" u="none" cap="none" strike="noStrike">
              <a:solidFill>
                <a:srgbClr val="FFFFFF"/>
              </a:solidFill>
              <a:latin typeface="Open Sans"/>
              <a:ea typeface="Open Sans"/>
              <a:cs typeface="Open Sans"/>
              <a:sym typeface="Open Sans"/>
            </a:endParaRPr>
          </a:p>
        </p:txBody>
      </p:sp>
      <p:sp>
        <p:nvSpPr>
          <p:cNvPr id="214" name="Google Shape;214;p3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M</a:t>
            </a:r>
            <a:endParaRPr b="0" i="0" sz="1800" u="none" cap="none" strike="noStrike">
              <a:solidFill>
                <a:srgbClr val="256C8D"/>
              </a:solidFill>
              <a:latin typeface="Boogaloo"/>
              <a:ea typeface="Boogaloo"/>
              <a:cs typeface="Boogaloo"/>
              <a:sym typeface="Boogaloo"/>
            </a:endParaRPr>
          </a:p>
        </p:txBody>
      </p:sp>
      <p:sp>
        <p:nvSpPr>
          <p:cNvPr id="215" name="Google Shape;215;p36"/>
          <p:cNvSpPr txBox="1"/>
          <p:nvPr/>
        </p:nvSpPr>
        <p:spPr>
          <a:xfrm>
            <a:off x="2330100" y="1813500"/>
            <a:ext cx="6287700" cy="33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Use two new strips of paper to reconstruct a timeline of the not-distracted driver stopping. Start by creating tick-marks using the relevant units of time.</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Use the time code from the video to figure out the times associated with each position that you identified. Then determine the lengths of each time interval and add this information to the timeline.</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16" name="Google Shape;216;p36"/>
          <p:cNvPicPr preferRelativeResize="0"/>
          <p:nvPr/>
        </p:nvPicPr>
        <p:blipFill rotWithShape="1">
          <a:blip r:embed="rId3">
            <a:alphaModFix/>
          </a:blip>
          <a:srcRect b="0" l="0" r="0" t="0"/>
          <a:stretch/>
        </p:blipFill>
        <p:spPr>
          <a:xfrm>
            <a:off x="729174" y="1813500"/>
            <a:ext cx="1376700" cy="1403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20" name="Shape 220"/>
        <p:cNvGrpSpPr/>
        <p:nvPr/>
      </p:nvGrpSpPr>
      <p:grpSpPr>
        <a:xfrm>
          <a:off x="0" y="0"/>
          <a:ext cx="0" cy="0"/>
          <a:chOff x="0" y="0"/>
          <a:chExt cx="0" cy="0"/>
        </a:xfrm>
      </p:grpSpPr>
      <p:sp>
        <p:nvSpPr>
          <p:cNvPr id="221" name="Google Shape;221;p37"/>
          <p:cNvSpPr/>
          <p:nvPr/>
        </p:nvSpPr>
        <p:spPr>
          <a:xfrm>
            <a:off x="457200" y="1600200"/>
            <a:ext cx="8229600" cy="2704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2857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7"/>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Analyze the time intervals for both drivers</a:t>
            </a:r>
            <a:endParaRPr b="1" i="0" sz="2800" u="none" cap="none" strike="noStrike">
              <a:solidFill>
                <a:srgbClr val="FFFFFF"/>
              </a:solidFill>
              <a:latin typeface="Open Sans"/>
              <a:ea typeface="Open Sans"/>
              <a:cs typeface="Open Sans"/>
              <a:sym typeface="Open Sans"/>
            </a:endParaRPr>
          </a:p>
        </p:txBody>
      </p:sp>
      <p:sp>
        <p:nvSpPr>
          <p:cNvPr id="223" name="Google Shape;223;p3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N</a:t>
            </a:r>
            <a:endParaRPr b="0" i="0" sz="1800" u="none" cap="none" strike="noStrike">
              <a:solidFill>
                <a:srgbClr val="256C8D"/>
              </a:solidFill>
              <a:latin typeface="Boogaloo"/>
              <a:ea typeface="Boogaloo"/>
              <a:cs typeface="Boogaloo"/>
              <a:sym typeface="Boogaloo"/>
            </a:endParaRPr>
          </a:p>
        </p:txBody>
      </p:sp>
      <p:sp>
        <p:nvSpPr>
          <p:cNvPr id="224" name="Google Shape;224;p37"/>
          <p:cNvSpPr txBox="1"/>
          <p:nvPr/>
        </p:nvSpPr>
        <p:spPr>
          <a:xfrm>
            <a:off x="2330100" y="1813500"/>
            <a:ext cx="6287700" cy="33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Turn and Talk</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could we do to visualize what’s happening in both time and position, and look for a relationship between them?</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25" name="Google Shape;225;p37"/>
          <p:cNvPicPr preferRelativeResize="0"/>
          <p:nvPr/>
        </p:nvPicPr>
        <p:blipFill rotWithShape="1">
          <a:blip r:embed="rId3">
            <a:alphaModFix/>
          </a:blip>
          <a:srcRect b="0" l="0" r="0" t="0"/>
          <a:stretch/>
        </p:blipFill>
        <p:spPr>
          <a:xfrm>
            <a:off x="596151" y="1813500"/>
            <a:ext cx="1613525" cy="1338425"/>
          </a:xfrm>
          <a:prstGeom prst="rect">
            <a:avLst/>
          </a:prstGeom>
          <a:noFill/>
          <a:ln>
            <a:noFill/>
          </a:ln>
        </p:spPr>
      </p:pic>
      <p:sp>
        <p:nvSpPr>
          <p:cNvPr id="226" name="Google Shape;226;p37"/>
          <p:cNvSpPr txBox="1"/>
          <p:nvPr/>
        </p:nvSpPr>
        <p:spPr>
          <a:xfrm rot="-126714">
            <a:off x="5243106" y="3996195"/>
            <a:ext cx="3663388" cy="888313"/>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30" name="Shape 230"/>
        <p:cNvGrpSpPr/>
        <p:nvPr/>
      </p:nvGrpSpPr>
      <p:grpSpPr>
        <a:xfrm>
          <a:off x="0" y="0"/>
          <a:ext cx="0" cy="0"/>
          <a:chOff x="0" y="0"/>
          <a:chExt cx="0" cy="0"/>
        </a:xfrm>
      </p:grpSpPr>
      <p:sp>
        <p:nvSpPr>
          <p:cNvPr id="231" name="Google Shape;231;p38"/>
          <p:cNvSpPr/>
          <p:nvPr/>
        </p:nvSpPr>
        <p:spPr>
          <a:xfrm>
            <a:off x="457200" y="1600200"/>
            <a:ext cx="8229600" cy="2704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2857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8"/>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Analyze the time intervals for both drivers</a:t>
            </a:r>
            <a:endParaRPr b="1" i="0" sz="2800" u="none" cap="none" strike="noStrike">
              <a:solidFill>
                <a:srgbClr val="FFFFFF"/>
              </a:solidFill>
              <a:latin typeface="Open Sans"/>
              <a:ea typeface="Open Sans"/>
              <a:cs typeface="Open Sans"/>
              <a:sym typeface="Open Sans"/>
            </a:endParaRPr>
          </a:p>
        </p:txBody>
      </p:sp>
      <p:sp>
        <p:nvSpPr>
          <p:cNvPr id="233" name="Google Shape;233;p3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O</a:t>
            </a:r>
            <a:endParaRPr b="0" i="0" sz="1800" u="none" cap="none" strike="noStrike">
              <a:solidFill>
                <a:srgbClr val="256C8D"/>
              </a:solidFill>
              <a:latin typeface="Boogaloo"/>
              <a:ea typeface="Boogaloo"/>
              <a:cs typeface="Boogaloo"/>
              <a:sym typeface="Boogaloo"/>
            </a:endParaRPr>
          </a:p>
        </p:txBody>
      </p:sp>
      <p:sp>
        <p:nvSpPr>
          <p:cNvPr id="234" name="Google Shape;234;p38"/>
          <p:cNvSpPr txBox="1"/>
          <p:nvPr/>
        </p:nvSpPr>
        <p:spPr>
          <a:xfrm>
            <a:off x="2330100" y="1813500"/>
            <a:ext cx="6287700" cy="33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Turn and Talk (or On your Own)</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Which of these variables do you think determines the other?</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35" name="Google Shape;235;p38"/>
          <p:cNvPicPr preferRelativeResize="0"/>
          <p:nvPr/>
        </p:nvPicPr>
        <p:blipFill rotWithShape="1">
          <a:blip r:embed="rId3">
            <a:alphaModFix/>
          </a:blip>
          <a:srcRect b="0" l="0" r="0" t="0"/>
          <a:stretch/>
        </p:blipFill>
        <p:spPr>
          <a:xfrm>
            <a:off x="596151" y="1813500"/>
            <a:ext cx="1613525" cy="1338425"/>
          </a:xfrm>
          <a:prstGeom prst="rect">
            <a:avLst/>
          </a:prstGeom>
          <a:noFill/>
          <a:ln>
            <a:noFill/>
          </a:ln>
        </p:spPr>
      </p:pic>
      <p:sp>
        <p:nvSpPr>
          <p:cNvPr id="236" name="Google Shape;236;p38"/>
          <p:cNvSpPr txBox="1"/>
          <p:nvPr/>
        </p:nvSpPr>
        <p:spPr>
          <a:xfrm rot="-126714">
            <a:off x="5243106" y="3996195"/>
            <a:ext cx="3663388" cy="888313"/>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40" name="Shape 240"/>
        <p:cNvGrpSpPr/>
        <p:nvPr/>
      </p:nvGrpSpPr>
      <p:grpSpPr>
        <a:xfrm>
          <a:off x="0" y="0"/>
          <a:ext cx="0" cy="0"/>
          <a:chOff x="0" y="0"/>
          <a:chExt cx="0" cy="0"/>
        </a:xfrm>
      </p:grpSpPr>
      <p:sp>
        <p:nvSpPr>
          <p:cNvPr id="241" name="Google Shape;241;p39"/>
          <p:cNvSpPr/>
          <p:nvPr/>
        </p:nvSpPr>
        <p:spPr>
          <a:xfrm>
            <a:off x="457200" y="1600200"/>
            <a:ext cx="8229600" cy="4869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2857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9"/>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Create a position vs. time graph</a:t>
            </a:r>
            <a:endParaRPr b="1" i="0" sz="2800" u="none" cap="none" strike="noStrike">
              <a:solidFill>
                <a:srgbClr val="FFFFFF"/>
              </a:solidFill>
              <a:latin typeface="Open Sans"/>
              <a:ea typeface="Open Sans"/>
              <a:cs typeface="Open Sans"/>
              <a:sym typeface="Open Sans"/>
            </a:endParaRPr>
          </a:p>
        </p:txBody>
      </p:sp>
      <p:sp>
        <p:nvSpPr>
          <p:cNvPr id="243" name="Google Shape;243;p39"/>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P</a:t>
            </a:r>
            <a:endParaRPr b="0" i="0" sz="1800" u="none" cap="none" strike="noStrike">
              <a:solidFill>
                <a:srgbClr val="256C8D"/>
              </a:solidFill>
              <a:latin typeface="Boogaloo"/>
              <a:ea typeface="Boogaloo"/>
              <a:cs typeface="Boogaloo"/>
              <a:sym typeface="Boogaloo"/>
            </a:endParaRPr>
          </a:p>
        </p:txBody>
      </p:sp>
      <p:sp>
        <p:nvSpPr>
          <p:cNvPr id="244" name="Google Shape;244;p39"/>
          <p:cNvSpPr txBox="1"/>
          <p:nvPr/>
        </p:nvSpPr>
        <p:spPr>
          <a:xfrm>
            <a:off x="2330100" y="1965900"/>
            <a:ext cx="6153900" cy="33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393700" lvl="0" marL="457200" marR="0" rtl="0" algn="l">
              <a:lnSpc>
                <a:spcPct val="115000"/>
              </a:lnSpc>
              <a:spcBef>
                <a:spcPts val="1000"/>
              </a:spcBef>
              <a:spcAft>
                <a:spcPts val="0"/>
              </a:spcAft>
              <a:buClr>
                <a:srgbClr val="304852"/>
              </a:buClr>
              <a:buSzPts val="2600"/>
              <a:buFont typeface="Cabin"/>
              <a:buAutoNum type="arabicPeriod"/>
            </a:pPr>
            <a:r>
              <a:rPr b="0" i="0" lang="en" sz="2600" u="none" cap="none" strike="noStrike">
                <a:solidFill>
                  <a:srgbClr val="304852"/>
                </a:solidFill>
                <a:latin typeface="Cabin"/>
                <a:ea typeface="Cabin"/>
                <a:cs typeface="Cabin"/>
                <a:sym typeface="Cabin"/>
              </a:rPr>
              <a:t>Combine position and time for the </a:t>
            </a:r>
            <a:r>
              <a:rPr b="0" i="0" lang="en" sz="2600" u="sng" cap="none" strike="noStrike">
                <a:solidFill>
                  <a:srgbClr val="304852"/>
                </a:solidFill>
                <a:latin typeface="Cabin"/>
                <a:ea typeface="Cabin"/>
                <a:cs typeface="Cabin"/>
                <a:sym typeface="Cabin"/>
              </a:rPr>
              <a:t>non-distracted driver</a:t>
            </a:r>
            <a:r>
              <a:rPr b="0" i="0" lang="en" sz="2600" u="none" cap="none" strike="noStrike">
                <a:solidFill>
                  <a:srgbClr val="304852"/>
                </a:solidFill>
                <a:latin typeface="Cabin"/>
                <a:ea typeface="Cabin"/>
                <a:cs typeface="Cabin"/>
                <a:sym typeface="Cabin"/>
              </a:rPr>
              <a:t>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304852"/>
              </a:buClr>
              <a:buSzPts val="2600"/>
              <a:buFont typeface="Cabin"/>
              <a:buAutoNum type="arabicPeriod"/>
            </a:pPr>
            <a:r>
              <a:rPr b="0" i="0" lang="en" sz="2600" u="none" cap="none" strike="noStrike">
                <a:solidFill>
                  <a:srgbClr val="304852"/>
                </a:solidFill>
                <a:latin typeface="Cabin"/>
                <a:ea typeface="Cabin"/>
                <a:cs typeface="Cabin"/>
                <a:sym typeface="Cabin"/>
              </a:rPr>
              <a:t>Plot the intersections for each important position/time</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304852"/>
              </a:buClr>
              <a:buSzPts val="2600"/>
              <a:buFont typeface="Cabin"/>
              <a:buAutoNum type="arabicPeriod"/>
            </a:pPr>
            <a:r>
              <a:rPr b="0" i="0" lang="en" sz="2600" u="none" cap="none" strike="noStrike">
                <a:solidFill>
                  <a:srgbClr val="304852"/>
                </a:solidFill>
                <a:latin typeface="Cabin"/>
                <a:ea typeface="Cabin"/>
                <a:cs typeface="Cabin"/>
                <a:sym typeface="Cabin"/>
              </a:rPr>
              <a:t>Determine the lines between each point</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304852"/>
              </a:buClr>
              <a:buSzPts val="2600"/>
              <a:buFont typeface="Cabin"/>
              <a:buAutoNum type="arabicPeriod"/>
            </a:pPr>
            <a:r>
              <a:rPr b="0" i="0" lang="en" sz="2600" u="none" cap="none" strike="noStrike">
                <a:solidFill>
                  <a:srgbClr val="304852"/>
                </a:solidFill>
                <a:latin typeface="Cabin"/>
                <a:ea typeface="Cabin"/>
                <a:cs typeface="Cabin"/>
                <a:sym typeface="Cabin"/>
              </a:rPr>
              <a:t>Copy the plot the class makes onto a new piece of paper for your notebook.</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45" name="Google Shape;245;p39"/>
          <p:cNvPicPr preferRelativeResize="0"/>
          <p:nvPr/>
        </p:nvPicPr>
        <p:blipFill rotWithShape="1">
          <a:blip r:embed="rId3">
            <a:alphaModFix/>
          </a:blip>
          <a:srcRect b="0" l="0" r="0" t="0"/>
          <a:stretch/>
        </p:blipFill>
        <p:spPr>
          <a:xfrm>
            <a:off x="729174" y="1813500"/>
            <a:ext cx="1376700" cy="1403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49" name="Shape 249"/>
        <p:cNvGrpSpPr/>
        <p:nvPr/>
      </p:nvGrpSpPr>
      <p:grpSpPr>
        <a:xfrm>
          <a:off x="0" y="0"/>
          <a:ext cx="0" cy="0"/>
          <a:chOff x="0" y="0"/>
          <a:chExt cx="0" cy="0"/>
        </a:xfrm>
      </p:grpSpPr>
      <p:sp>
        <p:nvSpPr>
          <p:cNvPr id="250" name="Google Shape;250;p40"/>
          <p:cNvSpPr/>
          <p:nvPr/>
        </p:nvSpPr>
        <p:spPr>
          <a:xfrm>
            <a:off x="457200" y="1600200"/>
            <a:ext cx="8229600" cy="26949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2857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40"/>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Interpret the position vs. time graph</a:t>
            </a:r>
            <a:endParaRPr b="1" i="0" sz="2800" u="none" cap="none" strike="noStrike">
              <a:solidFill>
                <a:srgbClr val="FFFFFF"/>
              </a:solidFill>
              <a:latin typeface="Open Sans"/>
              <a:ea typeface="Open Sans"/>
              <a:cs typeface="Open Sans"/>
              <a:sym typeface="Open Sans"/>
            </a:endParaRPr>
          </a:p>
        </p:txBody>
      </p:sp>
      <p:sp>
        <p:nvSpPr>
          <p:cNvPr id="252" name="Google Shape;252;p4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Q</a:t>
            </a:r>
            <a:endParaRPr b="0" i="0" sz="1800" u="none" cap="none" strike="noStrike">
              <a:solidFill>
                <a:srgbClr val="256C8D"/>
              </a:solidFill>
              <a:latin typeface="Boogaloo"/>
              <a:ea typeface="Boogaloo"/>
              <a:cs typeface="Boogaloo"/>
              <a:sym typeface="Boogaloo"/>
            </a:endParaRPr>
          </a:p>
        </p:txBody>
      </p:sp>
      <p:sp>
        <p:nvSpPr>
          <p:cNvPr id="253" name="Google Shape;253;p40"/>
          <p:cNvSpPr txBox="1"/>
          <p:nvPr/>
        </p:nvSpPr>
        <p:spPr>
          <a:xfrm>
            <a:off x="2330100" y="1965900"/>
            <a:ext cx="6287700" cy="33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Turn and talk</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information do these lines tell us about the motion of the car at that position/time?</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254" name="Google Shape;254;p40"/>
          <p:cNvSpPr txBox="1"/>
          <p:nvPr/>
        </p:nvSpPr>
        <p:spPr>
          <a:xfrm rot="-126714">
            <a:off x="5190081" y="3890145"/>
            <a:ext cx="3663388" cy="888313"/>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class</a:t>
            </a:r>
            <a:endParaRPr b="0" i="0" sz="2200" u="none" cap="none" strike="noStrike">
              <a:solidFill>
                <a:srgbClr val="304852"/>
              </a:solidFill>
              <a:latin typeface="Cabin Condensed"/>
              <a:ea typeface="Cabin Condensed"/>
              <a:cs typeface="Cabin Condensed"/>
              <a:sym typeface="Cabin Condensed"/>
            </a:endParaRPr>
          </a:p>
        </p:txBody>
      </p:sp>
      <p:pic>
        <p:nvPicPr>
          <p:cNvPr id="255" name="Google Shape;255;p40"/>
          <p:cNvPicPr preferRelativeResize="0"/>
          <p:nvPr/>
        </p:nvPicPr>
        <p:blipFill rotWithShape="1">
          <a:blip r:embed="rId3">
            <a:alphaModFix/>
          </a:blip>
          <a:srcRect b="0" l="0" r="0" t="0"/>
          <a:stretch/>
        </p:blipFill>
        <p:spPr>
          <a:xfrm>
            <a:off x="611975" y="1965900"/>
            <a:ext cx="1526725" cy="1266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9" name="Shape 259"/>
        <p:cNvGrpSpPr/>
        <p:nvPr/>
      </p:nvGrpSpPr>
      <p:grpSpPr>
        <a:xfrm>
          <a:off x="0" y="0"/>
          <a:ext cx="0" cy="0"/>
          <a:chOff x="0" y="0"/>
          <a:chExt cx="0" cy="0"/>
        </a:xfrm>
      </p:grpSpPr>
      <p:sp>
        <p:nvSpPr>
          <p:cNvPr id="260" name="Google Shape;260;p41"/>
          <p:cNvSpPr/>
          <p:nvPr/>
        </p:nvSpPr>
        <p:spPr>
          <a:xfrm>
            <a:off x="457200" y="1600200"/>
            <a:ext cx="8229600" cy="4784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2857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1"/>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Interpret the position vs. time graph</a:t>
            </a:r>
            <a:endParaRPr b="1" i="0" sz="2800" u="none" cap="none" strike="noStrike">
              <a:solidFill>
                <a:srgbClr val="FFFFFF"/>
              </a:solidFill>
              <a:latin typeface="Open Sans"/>
              <a:ea typeface="Open Sans"/>
              <a:cs typeface="Open Sans"/>
              <a:sym typeface="Open Sans"/>
            </a:endParaRPr>
          </a:p>
        </p:txBody>
      </p:sp>
      <p:sp>
        <p:nvSpPr>
          <p:cNvPr id="262" name="Google Shape;262;p41"/>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R</a:t>
            </a:r>
            <a:endParaRPr b="0" i="0" sz="1800" u="none" cap="none" strike="noStrike">
              <a:solidFill>
                <a:srgbClr val="256C8D"/>
              </a:solidFill>
              <a:latin typeface="Boogaloo"/>
              <a:ea typeface="Boogaloo"/>
              <a:cs typeface="Boogaloo"/>
              <a:sym typeface="Boogaloo"/>
            </a:endParaRPr>
          </a:p>
        </p:txBody>
      </p:sp>
      <p:sp>
        <p:nvSpPr>
          <p:cNvPr id="263" name="Google Shape;263;p41"/>
          <p:cNvSpPr txBox="1"/>
          <p:nvPr/>
        </p:nvSpPr>
        <p:spPr>
          <a:xfrm>
            <a:off x="1945075" y="1813500"/>
            <a:ext cx="6629100" cy="3391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400"/>
              <a:buFont typeface="Arial"/>
              <a:buNone/>
            </a:pPr>
            <a:r>
              <a:rPr b="1" i="0" lang="en" sz="2400" u="none" cap="none" strike="noStrike">
                <a:solidFill>
                  <a:srgbClr val="304852"/>
                </a:solidFill>
                <a:latin typeface="Cabin"/>
                <a:ea typeface="Cabin"/>
                <a:cs typeface="Cabin"/>
                <a:sym typeface="Cabin"/>
              </a:rPr>
              <a:t>With your class</a:t>
            </a:r>
            <a:endParaRPr b="1" i="0" sz="24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What can the slope of the line in a position versus time graph tell us about how an object is moving?</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304852"/>
                </a:solidFill>
                <a:latin typeface="Cabin"/>
                <a:ea typeface="Cabin"/>
                <a:cs typeface="Cabin"/>
                <a:sym typeface="Cabin"/>
              </a:rPr>
              <a:t>On your own</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5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For a position versus time graph:</a:t>
            </a:r>
            <a:endParaRPr b="0" i="0" sz="2400" u="none" cap="none" strike="noStrike">
              <a:solidFill>
                <a:srgbClr val="304852"/>
              </a:solidFill>
              <a:latin typeface="Cabin"/>
              <a:ea typeface="Cabin"/>
              <a:cs typeface="Cabin"/>
              <a:sym typeface="Cabin"/>
            </a:endParaRPr>
          </a:p>
          <a:p>
            <a:pPr indent="-374650" lvl="0" marL="457200" marR="0" rtl="0" algn="l">
              <a:lnSpc>
                <a:spcPct val="100000"/>
              </a:lnSpc>
              <a:spcBef>
                <a:spcPts val="500"/>
              </a:spcBef>
              <a:spcAft>
                <a:spcPts val="0"/>
              </a:spcAft>
              <a:buClr>
                <a:srgbClr val="304852"/>
              </a:buClr>
              <a:buSzPts val="2300"/>
              <a:buFont typeface="Cabin"/>
              <a:buAutoNum type="alphaUcPeriod"/>
            </a:pPr>
            <a:r>
              <a:rPr b="0" i="0" lang="en" sz="2300" u="none" cap="none" strike="noStrike">
                <a:solidFill>
                  <a:srgbClr val="304852"/>
                </a:solidFill>
                <a:latin typeface="Cabin"/>
                <a:ea typeface="Cabin"/>
                <a:cs typeface="Cabin"/>
                <a:sym typeface="Cabin"/>
              </a:rPr>
              <a:t>What does a steeper slope mean about the motion of the object?</a:t>
            </a:r>
            <a:endParaRPr b="0" i="0" sz="2300" u="none" cap="none" strike="noStrike">
              <a:solidFill>
                <a:srgbClr val="304852"/>
              </a:solidFill>
              <a:latin typeface="Cabin"/>
              <a:ea typeface="Cabin"/>
              <a:cs typeface="Cabin"/>
              <a:sym typeface="Cabin"/>
            </a:endParaRPr>
          </a:p>
          <a:p>
            <a:pPr indent="-374650" lvl="0" marL="457200" marR="0" rtl="0" algn="l">
              <a:lnSpc>
                <a:spcPct val="100000"/>
              </a:lnSpc>
              <a:spcBef>
                <a:spcPts val="500"/>
              </a:spcBef>
              <a:spcAft>
                <a:spcPts val="0"/>
              </a:spcAft>
              <a:buClr>
                <a:srgbClr val="304852"/>
              </a:buClr>
              <a:buSzPts val="2300"/>
              <a:buFont typeface="Cabin"/>
              <a:buAutoNum type="alphaUcPeriod"/>
            </a:pPr>
            <a:r>
              <a:rPr b="0" i="0" lang="en" sz="2300" u="none" cap="none" strike="noStrike">
                <a:solidFill>
                  <a:srgbClr val="304852"/>
                </a:solidFill>
                <a:latin typeface="Cabin"/>
                <a:ea typeface="Cabin"/>
                <a:cs typeface="Cabin"/>
                <a:sym typeface="Cabin"/>
              </a:rPr>
              <a:t>What would it mean about the motion of the object if the slope were zero (a flat line)?</a:t>
            </a:r>
            <a:endParaRPr b="0" i="0" sz="2300" u="none" cap="none" strike="noStrike">
              <a:solidFill>
                <a:srgbClr val="304852"/>
              </a:solidFill>
              <a:latin typeface="Cabin"/>
              <a:ea typeface="Cabin"/>
              <a:cs typeface="Cabin"/>
              <a:sym typeface="Cabin"/>
            </a:endParaRPr>
          </a:p>
          <a:p>
            <a:pPr indent="-374650" lvl="0" marL="457200" marR="0" rtl="0" algn="l">
              <a:lnSpc>
                <a:spcPct val="100000"/>
              </a:lnSpc>
              <a:spcBef>
                <a:spcPts val="500"/>
              </a:spcBef>
              <a:spcAft>
                <a:spcPts val="0"/>
              </a:spcAft>
              <a:buClr>
                <a:srgbClr val="304852"/>
              </a:buClr>
              <a:buSzPts val="2300"/>
              <a:buFont typeface="Cabin"/>
              <a:buAutoNum type="alphaUcPeriod"/>
            </a:pPr>
            <a:r>
              <a:rPr b="0" i="0" lang="en" sz="2300" u="none" cap="none" strike="noStrike">
                <a:solidFill>
                  <a:srgbClr val="304852"/>
                </a:solidFill>
                <a:latin typeface="Cabin"/>
                <a:ea typeface="Cabin"/>
                <a:cs typeface="Cabin"/>
                <a:sym typeface="Cabin"/>
              </a:rPr>
              <a:t>What would it mean if the slope was negative?</a:t>
            </a:r>
            <a:endParaRPr b="0" i="0" sz="2300" u="none" cap="none" strike="noStrike">
              <a:solidFill>
                <a:srgbClr val="304852"/>
              </a:solidFill>
              <a:latin typeface="Cabin"/>
              <a:ea typeface="Cabin"/>
              <a:cs typeface="Cabin"/>
              <a:sym typeface="Cabin"/>
            </a:endParaRPr>
          </a:p>
          <a:p>
            <a:pPr indent="0" lvl="0" marL="0" marR="0" rtl="0" algn="l">
              <a:lnSpc>
                <a:spcPct val="100000"/>
              </a:lnSpc>
              <a:spcBef>
                <a:spcPts val="5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64" name="Google Shape;264;p41"/>
          <p:cNvPicPr preferRelativeResize="0"/>
          <p:nvPr/>
        </p:nvPicPr>
        <p:blipFill rotWithShape="1">
          <a:blip r:embed="rId3">
            <a:alphaModFix/>
          </a:blip>
          <a:srcRect b="0" l="0" r="0" t="0"/>
          <a:stretch/>
        </p:blipFill>
        <p:spPr>
          <a:xfrm>
            <a:off x="658101" y="3443675"/>
            <a:ext cx="1140250" cy="974100"/>
          </a:xfrm>
          <a:prstGeom prst="rect">
            <a:avLst/>
          </a:prstGeom>
          <a:noFill/>
          <a:ln>
            <a:noFill/>
          </a:ln>
        </p:spPr>
      </p:pic>
      <p:pic>
        <p:nvPicPr>
          <p:cNvPr id="265" name="Google Shape;265;p41"/>
          <p:cNvPicPr preferRelativeResize="0"/>
          <p:nvPr/>
        </p:nvPicPr>
        <p:blipFill rotWithShape="1">
          <a:blip r:embed="rId4">
            <a:alphaModFix/>
          </a:blip>
          <a:srcRect b="0" l="0" r="0" t="0"/>
          <a:stretch/>
        </p:blipFill>
        <p:spPr>
          <a:xfrm>
            <a:off x="688800" y="1813500"/>
            <a:ext cx="1078850" cy="1100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69" name="Shape 269"/>
        <p:cNvGrpSpPr/>
        <p:nvPr/>
      </p:nvGrpSpPr>
      <p:grpSpPr>
        <a:xfrm>
          <a:off x="0" y="0"/>
          <a:ext cx="0" cy="0"/>
          <a:chOff x="0" y="0"/>
          <a:chExt cx="0" cy="0"/>
        </a:xfrm>
      </p:grpSpPr>
      <p:sp>
        <p:nvSpPr>
          <p:cNvPr id="270" name="Google Shape;270;p42"/>
          <p:cNvSpPr/>
          <p:nvPr/>
        </p:nvSpPr>
        <p:spPr>
          <a:xfrm>
            <a:off x="457200" y="1600200"/>
            <a:ext cx="8229600" cy="4784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2857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2"/>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Interpret the position vs. time graph</a:t>
            </a:r>
            <a:endParaRPr b="1" i="0" sz="2800" u="none" cap="none" strike="noStrike">
              <a:solidFill>
                <a:srgbClr val="FFFFFF"/>
              </a:solidFill>
              <a:latin typeface="Open Sans"/>
              <a:ea typeface="Open Sans"/>
              <a:cs typeface="Open Sans"/>
              <a:sym typeface="Open Sans"/>
            </a:endParaRPr>
          </a:p>
        </p:txBody>
      </p:sp>
      <p:sp>
        <p:nvSpPr>
          <p:cNvPr id="272" name="Google Shape;272;p42"/>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S</a:t>
            </a:r>
            <a:endParaRPr b="0" i="0" sz="1800" u="none" cap="none" strike="noStrike">
              <a:solidFill>
                <a:srgbClr val="256C8D"/>
              </a:solidFill>
              <a:latin typeface="Boogaloo"/>
              <a:ea typeface="Boogaloo"/>
              <a:cs typeface="Boogaloo"/>
              <a:sym typeface="Boogaloo"/>
            </a:endParaRPr>
          </a:p>
        </p:txBody>
      </p:sp>
      <p:sp>
        <p:nvSpPr>
          <p:cNvPr id="273" name="Google Shape;273;p42"/>
          <p:cNvSpPr txBox="1"/>
          <p:nvPr/>
        </p:nvSpPr>
        <p:spPr>
          <a:xfrm>
            <a:off x="2332575" y="1813500"/>
            <a:ext cx="6241500" cy="3391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Add a line to the graph to show how the car was moving after time 3.</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Is there anywhere on the graph where we need to adjust the slope of the line to better show how the car was moving?</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74" name="Google Shape;274;p42"/>
          <p:cNvPicPr preferRelativeResize="0"/>
          <p:nvPr/>
        </p:nvPicPr>
        <p:blipFill rotWithShape="1">
          <a:blip r:embed="rId3">
            <a:alphaModFix/>
          </a:blip>
          <a:srcRect b="0" l="0" r="0" t="0"/>
          <a:stretch/>
        </p:blipFill>
        <p:spPr>
          <a:xfrm>
            <a:off x="688800" y="1813500"/>
            <a:ext cx="1368700" cy="1395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78" name="Shape 278"/>
        <p:cNvGrpSpPr/>
        <p:nvPr/>
      </p:nvGrpSpPr>
      <p:grpSpPr>
        <a:xfrm>
          <a:off x="0" y="0"/>
          <a:ext cx="0" cy="0"/>
          <a:chOff x="0" y="0"/>
          <a:chExt cx="0" cy="0"/>
        </a:xfrm>
      </p:grpSpPr>
      <p:sp>
        <p:nvSpPr>
          <p:cNvPr id="279" name="Google Shape;279;p43"/>
          <p:cNvSpPr/>
          <p:nvPr/>
        </p:nvSpPr>
        <p:spPr>
          <a:xfrm>
            <a:off x="457200" y="1600200"/>
            <a:ext cx="8229600" cy="3985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2857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43"/>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Create a position vs. time graph</a:t>
            </a:r>
            <a:endParaRPr b="1" i="0" sz="2800" u="none" cap="none" strike="noStrike">
              <a:solidFill>
                <a:srgbClr val="FFFFFF"/>
              </a:solidFill>
              <a:latin typeface="Open Sans"/>
              <a:ea typeface="Open Sans"/>
              <a:cs typeface="Open Sans"/>
              <a:sym typeface="Open Sans"/>
            </a:endParaRPr>
          </a:p>
        </p:txBody>
      </p:sp>
      <p:sp>
        <p:nvSpPr>
          <p:cNvPr id="281" name="Google Shape;281;p43"/>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T</a:t>
            </a:r>
            <a:endParaRPr b="0" i="0" sz="1800" u="none" cap="none" strike="noStrike">
              <a:solidFill>
                <a:srgbClr val="256C8D"/>
              </a:solidFill>
              <a:latin typeface="Boogaloo"/>
              <a:ea typeface="Boogaloo"/>
              <a:cs typeface="Boogaloo"/>
              <a:sym typeface="Boogaloo"/>
            </a:endParaRPr>
          </a:p>
        </p:txBody>
      </p:sp>
      <p:sp>
        <p:nvSpPr>
          <p:cNvPr id="282" name="Google Shape;282;p43"/>
          <p:cNvSpPr txBox="1"/>
          <p:nvPr/>
        </p:nvSpPr>
        <p:spPr>
          <a:xfrm>
            <a:off x="2330100" y="1965900"/>
            <a:ext cx="6287700" cy="33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Turn and talk</a:t>
            </a:r>
            <a:endParaRPr b="1" i="0" sz="2600" u="none" cap="none" strike="noStrike">
              <a:solidFill>
                <a:srgbClr val="304852"/>
              </a:solidFill>
              <a:latin typeface="Cabin"/>
              <a:ea typeface="Cabin"/>
              <a:cs typeface="Cabin"/>
              <a:sym typeface="Cabin"/>
            </a:endParaRPr>
          </a:p>
          <a:p>
            <a:pPr indent="-393700" lvl="0" marL="457200" marR="0" rtl="0" algn="l">
              <a:lnSpc>
                <a:spcPct val="115000"/>
              </a:lnSpc>
              <a:spcBef>
                <a:spcPts val="1000"/>
              </a:spcBef>
              <a:spcAft>
                <a:spcPts val="0"/>
              </a:spcAft>
              <a:buClr>
                <a:srgbClr val="304852"/>
              </a:buClr>
              <a:buSzPts val="2600"/>
              <a:buFont typeface="Cabin"/>
              <a:buAutoNum type="arabicPeriod"/>
            </a:pPr>
            <a:r>
              <a:rPr b="0" i="0" lang="en" sz="2600" u="none" cap="none" strike="noStrike">
                <a:solidFill>
                  <a:srgbClr val="304852"/>
                </a:solidFill>
                <a:latin typeface="Cabin"/>
                <a:ea typeface="Cabin"/>
                <a:cs typeface="Cabin"/>
                <a:sym typeface="Cabin"/>
              </a:rPr>
              <a:t>How can we represent the obstacle in our plots to show why the car did not hit it?</a:t>
            </a:r>
            <a:endParaRPr b="0" i="0" sz="2600" u="none" cap="none" strike="noStrike">
              <a:solidFill>
                <a:srgbClr val="304852"/>
              </a:solidFill>
              <a:latin typeface="Cabin"/>
              <a:ea typeface="Cabin"/>
              <a:cs typeface="Cabin"/>
              <a:sym typeface="Cabin"/>
            </a:endParaRPr>
          </a:p>
          <a:p>
            <a:pPr indent="-393700" lvl="0" marL="457200" marR="0" rtl="0" algn="l">
              <a:lnSpc>
                <a:spcPct val="115000"/>
              </a:lnSpc>
              <a:spcBef>
                <a:spcPts val="1000"/>
              </a:spcBef>
              <a:spcAft>
                <a:spcPts val="0"/>
              </a:spcAft>
              <a:buClr>
                <a:srgbClr val="304852"/>
              </a:buClr>
              <a:buSzPts val="2600"/>
              <a:buFont typeface="Cabin"/>
              <a:buAutoNum type="arabicPeriod"/>
            </a:pPr>
            <a:r>
              <a:rPr b="0" i="0" lang="en" sz="2600" u="none" cap="none" strike="noStrike">
                <a:solidFill>
                  <a:srgbClr val="304852"/>
                </a:solidFill>
                <a:latin typeface="Cabin"/>
                <a:ea typeface="Cabin"/>
                <a:cs typeface="Cabin"/>
                <a:sym typeface="Cabin"/>
              </a:rPr>
              <a:t>What if the obstacle had been closer to the car? How would the plot look different?</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1400"/>
              <a:buFont typeface="Arial"/>
              <a:buNone/>
            </a:pPr>
            <a:r>
              <a:t/>
            </a:r>
            <a:endParaRPr b="0" i="1" sz="1400" u="none" cap="none" strike="noStrike">
              <a:solidFill>
                <a:schemeClr val="dk1"/>
              </a:solidFill>
              <a:latin typeface="Open Sans"/>
              <a:ea typeface="Open Sans"/>
              <a:cs typeface="Open Sans"/>
              <a:sym typeface="Open Sans"/>
            </a:endParaRPr>
          </a:p>
        </p:txBody>
      </p:sp>
      <p:sp>
        <p:nvSpPr>
          <p:cNvPr id="283" name="Google Shape;283;p43"/>
          <p:cNvSpPr txBox="1"/>
          <p:nvPr/>
        </p:nvSpPr>
        <p:spPr>
          <a:xfrm rot="-126714">
            <a:off x="5190081" y="4880745"/>
            <a:ext cx="3663388" cy="888313"/>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class</a:t>
            </a:r>
            <a:endParaRPr b="0" i="0" sz="2200" u="none" cap="none" strike="noStrike">
              <a:solidFill>
                <a:srgbClr val="304852"/>
              </a:solidFill>
              <a:latin typeface="Cabin Condensed"/>
              <a:ea typeface="Cabin Condensed"/>
              <a:cs typeface="Cabin Condensed"/>
              <a:sym typeface="Cabin Condensed"/>
            </a:endParaRPr>
          </a:p>
        </p:txBody>
      </p:sp>
      <p:pic>
        <p:nvPicPr>
          <p:cNvPr id="284" name="Google Shape;284;p43"/>
          <p:cNvPicPr preferRelativeResize="0"/>
          <p:nvPr/>
        </p:nvPicPr>
        <p:blipFill rotWithShape="1">
          <a:blip r:embed="rId3">
            <a:alphaModFix/>
          </a:blip>
          <a:srcRect b="0" l="0" r="0" t="0"/>
          <a:stretch/>
        </p:blipFill>
        <p:spPr>
          <a:xfrm>
            <a:off x="611975" y="1965900"/>
            <a:ext cx="1526725" cy="1266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88" name="Shape 288"/>
        <p:cNvGrpSpPr/>
        <p:nvPr/>
      </p:nvGrpSpPr>
      <p:grpSpPr>
        <a:xfrm>
          <a:off x="0" y="0"/>
          <a:ext cx="0" cy="0"/>
          <a:chOff x="0" y="0"/>
          <a:chExt cx="0" cy="0"/>
        </a:xfrm>
      </p:grpSpPr>
      <p:sp>
        <p:nvSpPr>
          <p:cNvPr id="289" name="Google Shape;289;p44"/>
          <p:cNvSpPr/>
          <p:nvPr/>
        </p:nvSpPr>
        <p:spPr>
          <a:xfrm>
            <a:off x="457200" y="1600200"/>
            <a:ext cx="8229600" cy="4869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2857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44"/>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Create a position vs. time graph</a:t>
            </a:r>
            <a:endParaRPr b="1" i="0" sz="2800" u="none" cap="none" strike="noStrike">
              <a:solidFill>
                <a:srgbClr val="FFFFFF"/>
              </a:solidFill>
              <a:latin typeface="Open Sans"/>
              <a:ea typeface="Open Sans"/>
              <a:cs typeface="Open Sans"/>
              <a:sym typeface="Open Sans"/>
            </a:endParaRPr>
          </a:p>
        </p:txBody>
      </p:sp>
      <p:sp>
        <p:nvSpPr>
          <p:cNvPr id="291" name="Google Shape;291;p4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U</a:t>
            </a:r>
            <a:endParaRPr b="0" i="0" sz="1800" u="none" cap="none" strike="noStrike">
              <a:solidFill>
                <a:srgbClr val="256C8D"/>
              </a:solidFill>
              <a:latin typeface="Boogaloo"/>
              <a:ea typeface="Boogaloo"/>
              <a:cs typeface="Boogaloo"/>
              <a:sym typeface="Boogaloo"/>
            </a:endParaRPr>
          </a:p>
        </p:txBody>
      </p:sp>
      <p:sp>
        <p:nvSpPr>
          <p:cNvPr id="292" name="Google Shape;292;p44"/>
          <p:cNvSpPr txBox="1"/>
          <p:nvPr/>
        </p:nvSpPr>
        <p:spPr>
          <a:xfrm>
            <a:off x="2330100" y="1889700"/>
            <a:ext cx="6065700" cy="33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304852"/>
                </a:solidFill>
                <a:latin typeface="Cabin"/>
                <a:ea typeface="Cabin"/>
                <a:cs typeface="Cabin"/>
                <a:sym typeface="Cabin"/>
              </a:rPr>
              <a:t>With a partner</a:t>
            </a:r>
            <a:endParaRPr b="1"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0"/>
              </a:spcAft>
              <a:buClr>
                <a:srgbClr val="304852"/>
              </a:buClr>
              <a:buSzPts val="2500"/>
              <a:buFont typeface="Cabin"/>
              <a:buAutoNum type="arabicPeriod"/>
            </a:pPr>
            <a:r>
              <a:rPr b="0" i="0" lang="en" sz="2500" u="none" cap="none" strike="noStrike">
                <a:solidFill>
                  <a:srgbClr val="304852"/>
                </a:solidFill>
                <a:latin typeface="Cabin"/>
                <a:ea typeface="Cabin"/>
                <a:cs typeface="Cabin"/>
                <a:sym typeface="Cabin"/>
              </a:rPr>
              <a:t>Using a new color, plot position vs. time for the </a:t>
            </a:r>
            <a:r>
              <a:rPr b="0" i="0" lang="en" sz="2500" u="sng" cap="none" strike="noStrike">
                <a:solidFill>
                  <a:srgbClr val="304852"/>
                </a:solidFill>
                <a:latin typeface="Cabin"/>
                <a:ea typeface="Cabin"/>
                <a:cs typeface="Cabin"/>
                <a:sym typeface="Cabin"/>
              </a:rPr>
              <a:t>distracted driver</a:t>
            </a:r>
            <a:r>
              <a:rPr b="0" i="0" lang="en" sz="2500" u="none" cap="none" strike="noStrike">
                <a:solidFill>
                  <a:srgbClr val="304852"/>
                </a:solidFill>
                <a:latin typeface="Cabin"/>
                <a:ea typeface="Cabin"/>
                <a:cs typeface="Cabin"/>
                <a:sym typeface="Cabin"/>
              </a:rPr>
              <a:t> </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304852"/>
              </a:buClr>
              <a:buSzPts val="2500"/>
              <a:buFont typeface="Cabin"/>
              <a:buAutoNum type="arabicPeriod"/>
            </a:pPr>
            <a:r>
              <a:rPr b="0" i="0" lang="en" sz="2500" u="none" cap="none" strike="noStrike">
                <a:solidFill>
                  <a:srgbClr val="304852"/>
                </a:solidFill>
                <a:latin typeface="Cabin"/>
                <a:ea typeface="Cabin"/>
                <a:cs typeface="Cabin"/>
                <a:sym typeface="Cabin"/>
              </a:rPr>
              <a:t>Plot the intersections for each important position/time</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304852"/>
              </a:buClr>
              <a:buSzPts val="2500"/>
              <a:buFont typeface="Cabin"/>
              <a:buAutoNum type="arabicPeriod"/>
            </a:pPr>
            <a:r>
              <a:rPr b="0" i="0" lang="en" sz="2500" u="none" cap="none" strike="noStrike">
                <a:solidFill>
                  <a:srgbClr val="304852"/>
                </a:solidFill>
                <a:latin typeface="Cabin"/>
                <a:ea typeface="Cabin"/>
                <a:cs typeface="Cabin"/>
                <a:sym typeface="Cabin"/>
              </a:rPr>
              <a:t>Determine the lines between each point</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304852"/>
              </a:buClr>
              <a:buSzPts val="2500"/>
              <a:buFont typeface="Cabin"/>
              <a:buAutoNum type="arabicPeriod"/>
            </a:pPr>
            <a:r>
              <a:rPr b="0" i="0" lang="en" sz="2500" u="none" cap="none" strike="noStrike">
                <a:solidFill>
                  <a:srgbClr val="304852"/>
                </a:solidFill>
                <a:latin typeface="Cabin"/>
                <a:ea typeface="Cabin"/>
                <a:cs typeface="Cabin"/>
                <a:sym typeface="Cabin"/>
              </a:rPr>
              <a:t>Add the obstacle (this should be in the same place on the y-axis as it was in the previous plot)</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93" name="Google Shape;293;p44"/>
          <p:cNvPicPr preferRelativeResize="0"/>
          <p:nvPr/>
        </p:nvPicPr>
        <p:blipFill rotWithShape="1">
          <a:blip r:embed="rId3">
            <a:alphaModFix/>
          </a:blip>
          <a:srcRect b="0" l="0" r="0" t="0"/>
          <a:stretch/>
        </p:blipFill>
        <p:spPr>
          <a:xfrm>
            <a:off x="799924" y="1775549"/>
            <a:ext cx="1305625" cy="1539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97" name="Shape 297"/>
        <p:cNvGrpSpPr/>
        <p:nvPr/>
      </p:nvGrpSpPr>
      <p:grpSpPr>
        <a:xfrm>
          <a:off x="0" y="0"/>
          <a:ext cx="0" cy="0"/>
          <a:chOff x="0" y="0"/>
          <a:chExt cx="0" cy="0"/>
        </a:xfrm>
      </p:grpSpPr>
      <p:sp>
        <p:nvSpPr>
          <p:cNvPr id="298" name="Google Shape;298;p45"/>
          <p:cNvSpPr/>
          <p:nvPr/>
        </p:nvSpPr>
        <p:spPr>
          <a:xfrm>
            <a:off x="457200" y="1600200"/>
            <a:ext cx="8229600" cy="4869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t/>
            </a:r>
            <a:endParaRPr b="0" i="1" sz="2500" u="none" cap="none" strike="noStrike">
              <a:solidFill>
                <a:srgbClr val="304852"/>
              </a:solidFill>
              <a:latin typeface="Open Sans"/>
              <a:ea typeface="Open Sans"/>
              <a:cs typeface="Open Sans"/>
              <a:sym typeface="Open Sans"/>
            </a:endParaRPr>
          </a:p>
          <a:p>
            <a:pPr indent="0" lvl="0" marL="28575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5"/>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Open Sans"/>
                <a:ea typeface="Open Sans"/>
                <a:cs typeface="Open Sans"/>
                <a:sym typeface="Open Sans"/>
              </a:rPr>
              <a:t>Debrief the position vs. time graph</a:t>
            </a:r>
            <a:endParaRPr b="1" i="0" sz="2800" u="none" cap="none" strike="noStrike">
              <a:solidFill>
                <a:srgbClr val="FFFFFF"/>
              </a:solidFill>
              <a:latin typeface="Open Sans"/>
              <a:ea typeface="Open Sans"/>
              <a:cs typeface="Open Sans"/>
              <a:sym typeface="Open Sans"/>
            </a:endParaRPr>
          </a:p>
        </p:txBody>
      </p:sp>
      <p:sp>
        <p:nvSpPr>
          <p:cNvPr id="300" name="Google Shape;300;p45"/>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V</a:t>
            </a:r>
            <a:endParaRPr b="0" i="0" sz="1800" u="none" cap="none" strike="noStrike">
              <a:solidFill>
                <a:srgbClr val="256C8D"/>
              </a:solidFill>
              <a:latin typeface="Boogaloo"/>
              <a:ea typeface="Boogaloo"/>
              <a:cs typeface="Boogaloo"/>
              <a:sym typeface="Boogaloo"/>
            </a:endParaRPr>
          </a:p>
        </p:txBody>
      </p:sp>
      <p:sp>
        <p:nvSpPr>
          <p:cNvPr id="301" name="Google Shape;301;p45"/>
          <p:cNvSpPr txBox="1"/>
          <p:nvPr/>
        </p:nvSpPr>
        <p:spPr>
          <a:xfrm>
            <a:off x="2330100" y="1889700"/>
            <a:ext cx="6065700" cy="33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304852"/>
                </a:solidFill>
                <a:latin typeface="Cabin"/>
                <a:ea typeface="Cabin"/>
                <a:cs typeface="Cabin"/>
                <a:sym typeface="Cabin"/>
              </a:rPr>
              <a:t>With your class</a:t>
            </a:r>
            <a:endParaRPr b="1"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500"/>
              <a:buFont typeface="Arial"/>
              <a:buNone/>
            </a:pPr>
            <a:r>
              <a:rPr b="0" i="0" lang="en" sz="2500" u="none" cap="none" strike="noStrike">
                <a:solidFill>
                  <a:srgbClr val="304852"/>
                </a:solidFill>
                <a:latin typeface="Cabin"/>
                <a:ea typeface="Cabin"/>
                <a:cs typeface="Cabin"/>
                <a:sym typeface="Cabin"/>
              </a:rPr>
              <a:t>What differences did you notice that could explain why being distracted increases the likelihood of a vehicle collision?</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302" name="Google Shape;302;p45"/>
          <p:cNvPicPr preferRelativeResize="0"/>
          <p:nvPr/>
        </p:nvPicPr>
        <p:blipFill rotWithShape="1">
          <a:blip r:embed="rId3">
            <a:alphaModFix/>
          </a:blip>
          <a:srcRect b="0" l="0" r="0" t="0"/>
          <a:stretch/>
        </p:blipFill>
        <p:spPr>
          <a:xfrm>
            <a:off x="688800" y="1813500"/>
            <a:ext cx="1368700" cy="1395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06" name="Shape 306"/>
        <p:cNvGrpSpPr/>
        <p:nvPr/>
      </p:nvGrpSpPr>
      <p:grpSpPr>
        <a:xfrm>
          <a:off x="0" y="0"/>
          <a:ext cx="0" cy="0"/>
          <a:chOff x="0" y="0"/>
          <a:chExt cx="0" cy="0"/>
        </a:xfrm>
      </p:grpSpPr>
      <p:sp>
        <p:nvSpPr>
          <p:cNvPr id="307" name="Google Shape;307;p46"/>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Exit Ticket: What else affect time to stop?</a:t>
            </a:r>
            <a:endParaRPr b="1" i="0" sz="2800" u="none" cap="none" strike="noStrike">
              <a:solidFill>
                <a:srgbClr val="FFFFFF"/>
              </a:solidFill>
              <a:latin typeface="Open Sans"/>
              <a:ea typeface="Open Sans"/>
              <a:cs typeface="Open Sans"/>
              <a:sym typeface="Open Sans"/>
            </a:endParaRPr>
          </a:p>
        </p:txBody>
      </p:sp>
      <p:sp>
        <p:nvSpPr>
          <p:cNvPr id="308" name="Google Shape;308;p4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W</a:t>
            </a:r>
            <a:endParaRPr b="0" i="0" sz="1800" u="none" cap="none" strike="noStrike">
              <a:solidFill>
                <a:srgbClr val="256C8D"/>
              </a:solidFill>
              <a:latin typeface="Boogaloo"/>
              <a:ea typeface="Boogaloo"/>
              <a:cs typeface="Boogaloo"/>
              <a:sym typeface="Boogaloo"/>
            </a:endParaRPr>
          </a:p>
        </p:txBody>
      </p:sp>
      <p:sp>
        <p:nvSpPr>
          <p:cNvPr id="309" name="Google Shape;309;p46"/>
          <p:cNvSpPr/>
          <p:nvPr/>
        </p:nvSpPr>
        <p:spPr>
          <a:xfrm>
            <a:off x="457200" y="1600200"/>
            <a:ext cx="8229600" cy="4726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6"/>
          <p:cNvSpPr txBox="1"/>
          <p:nvPr/>
        </p:nvSpPr>
        <p:spPr>
          <a:xfrm>
            <a:off x="2427425" y="1813500"/>
            <a:ext cx="58167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On your own</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else could increase a driver’s reaction time, other than if the driver is distracted?</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311" name="Google Shape;311;p46"/>
          <p:cNvPicPr preferRelativeResize="0"/>
          <p:nvPr/>
        </p:nvPicPr>
        <p:blipFill rotWithShape="1">
          <a:blip r:embed="rId3">
            <a:alphaModFix/>
          </a:blip>
          <a:srcRect b="0" l="0" r="0" t="0"/>
          <a:stretch/>
        </p:blipFill>
        <p:spPr>
          <a:xfrm>
            <a:off x="602150" y="1930888"/>
            <a:ext cx="1600200" cy="1190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High_School_Physics_OpenSciEd_Slide_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igh_School_Chemistry_OpenSciEd_Slide_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