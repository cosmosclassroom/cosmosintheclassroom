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6858000" cx="9144000"/>
  <p:notesSz cx="6858000" cy="9144000"/>
  <p:embeddedFontLst>
    <p:embeddedFont>
      <p:font typeface="Cabin"/>
      <p:regular r:id="rId21"/>
      <p:bold r:id="rId22"/>
      <p:italic r:id="rId23"/>
      <p:boldItalic r:id="rId24"/>
    </p:embeddedFont>
    <p:embeddedFont>
      <p:font typeface="Boogaloo"/>
      <p:regular r:id="rId25"/>
    </p:embeddedFont>
    <p:embeddedFont>
      <p:font typeface="Helvetica Neue"/>
      <p:regular r:id="rId26"/>
      <p:bold r:id="rId27"/>
      <p:italic r:id="rId28"/>
      <p:boldItalic r:id="rId29"/>
    </p:embeddedFont>
    <p:embeddedFont>
      <p:font typeface="Open Sans"/>
      <p:regular r:id="rId30"/>
      <p:bold r:id="rId31"/>
      <p:italic r:id="rId32"/>
      <p:boldItalic r:id="rId33"/>
    </p:embeddedFont>
    <p:embeddedFont>
      <p:font typeface="Cabin Condensed"/>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A8B15F0-0B6F-4E18-9ACA-2B49FCD30EF3}">
  <a:tblStyle styleId="{FA8B15F0-0B6F-4E18-9ACA-2B49FCD30EF3}"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Cabin-bold.fntdata"/><Relationship Id="rId21" Type="http://schemas.openxmlformats.org/officeDocument/2006/relationships/font" Target="fonts/Cabin-regular.fntdata"/><Relationship Id="rId24" Type="http://schemas.openxmlformats.org/officeDocument/2006/relationships/font" Target="fonts/Cabin-boldItalic.fntdata"/><Relationship Id="rId23" Type="http://schemas.openxmlformats.org/officeDocument/2006/relationships/font" Target="fonts/Cabin-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HelveticaNeue-regular.fntdata"/><Relationship Id="rId25" Type="http://schemas.openxmlformats.org/officeDocument/2006/relationships/font" Target="fonts/Boogaloo-regular.fntdata"/><Relationship Id="rId28" Type="http://schemas.openxmlformats.org/officeDocument/2006/relationships/font" Target="fonts/HelveticaNeue-italic.fntdata"/><Relationship Id="rId27" Type="http://schemas.openxmlformats.org/officeDocument/2006/relationships/font" Target="fonts/HelveticaNeue-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6.xml"/><Relationship Id="rId33" Type="http://schemas.openxmlformats.org/officeDocument/2006/relationships/font" Target="fonts/OpenSans-boldItalic.fntdata"/><Relationship Id="rId10" Type="http://schemas.openxmlformats.org/officeDocument/2006/relationships/slide" Target="slides/slide5.xml"/><Relationship Id="rId32" Type="http://schemas.openxmlformats.org/officeDocument/2006/relationships/font" Target="fonts/OpenSans-italic.fntdata"/><Relationship Id="rId13" Type="http://schemas.openxmlformats.org/officeDocument/2006/relationships/slide" Target="slides/slide8.xml"/><Relationship Id="rId35" Type="http://schemas.openxmlformats.org/officeDocument/2006/relationships/font" Target="fonts/CabinCondensed-bold.fntdata"/><Relationship Id="rId12" Type="http://schemas.openxmlformats.org/officeDocument/2006/relationships/slide" Target="slides/slide7.xml"/><Relationship Id="rId34" Type="http://schemas.openxmlformats.org/officeDocument/2006/relationships/font" Target="fonts/CabinCondensed-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Identify the questions we were considering at the end of last class. Display </a:t>
            </a:r>
            <a:r>
              <a:rPr b="1" lang="en">
                <a:solidFill>
                  <a:srgbClr val="0B0B0B"/>
                </a:solidFill>
                <a:latin typeface="Cabin"/>
                <a:ea typeface="Cabin"/>
                <a:cs typeface="Cabin"/>
                <a:sym typeface="Cabin"/>
              </a:rPr>
              <a:t>slide A. </a:t>
            </a:r>
            <a:r>
              <a:rPr lang="en">
                <a:solidFill>
                  <a:srgbClr val="0B0B0B"/>
                </a:solidFill>
                <a:latin typeface="Cabin"/>
                <a:ea typeface="Cabin"/>
                <a:cs typeface="Cabin"/>
                <a:sym typeface="Cabin"/>
              </a:rPr>
              <a:t>Discuss the related question about the equation shown on the slide as a class.</a:t>
            </a:r>
            <a:r>
              <a:rPr lang="en">
                <a:solidFill>
                  <a:schemeClr val="dk1"/>
                </a:solidFill>
                <a:latin typeface="Cabin"/>
                <a:ea typeface="Cabin"/>
                <a:cs typeface="Cabin"/>
                <a:sym typeface="Cabin"/>
              </a:rPr>
              <a:t> See the prompts in the teacher guide for support.</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Motivate testing additional conditions. </a:t>
            </a: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Let’s orient to </a:t>
            </a:r>
            <a:r>
              <a:rPr i="1" lang="en">
                <a:solidFill>
                  <a:srgbClr val="0B0B0B"/>
                </a:solidFill>
                <a:latin typeface="Cabin"/>
                <a:ea typeface="Cabin"/>
                <a:cs typeface="Cabin"/>
                <a:sym typeface="Cabin"/>
              </a:rPr>
              <a:t>a sim that you can use that will allow you to play around with all kinds of combinations to see if this relationship holds for any other collision conditions. You will need your whiteboard or a sheet of paper, a calculator, and a pencil or pen to do the calculations using the data you collect from the simulation.</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Orient to a new simulation</a:t>
            </a:r>
            <a:r>
              <a:rPr lang="en">
                <a:solidFill>
                  <a:schemeClr val="dk1"/>
                </a:solidFill>
                <a:latin typeface="Cabin"/>
                <a:ea typeface="Cabin"/>
                <a:cs typeface="Cabin"/>
                <a:sym typeface="Cabin"/>
              </a:rPr>
              <a:t>. Display</a:t>
            </a:r>
            <a:r>
              <a:rPr b="1" lang="en">
                <a:solidFill>
                  <a:schemeClr val="dk1"/>
                </a:solidFill>
                <a:latin typeface="Cabin"/>
                <a:ea typeface="Cabin"/>
                <a:cs typeface="Cabin"/>
                <a:sym typeface="Cabin"/>
              </a:rPr>
              <a:t> slide B. </a:t>
            </a:r>
            <a:r>
              <a:rPr lang="en">
                <a:solidFill>
                  <a:schemeClr val="dk1"/>
                </a:solidFill>
                <a:latin typeface="Cabin"/>
                <a:ea typeface="Cabin"/>
                <a:cs typeface="Cabin"/>
                <a:sym typeface="Cabin"/>
              </a:rPr>
              <a:t> Point out the following interface elements that students can change in the simulation:</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two sliders that allow students to change the starting velocity of each cart.</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two sliders that allow students to change the mass of each cart.</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chooser that allow students to change the type of collision (elastic or inelastic)</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SETUP/RESET button which initializes a new model run using the values set in the sliders and chooser above.</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GO/PAUSE button that runs the model to produce the outcomes of the collison. </a:t>
            </a:r>
            <a:endParaRPr>
              <a:solidFill>
                <a:srgbClr val="304852"/>
              </a:solidFill>
              <a:latin typeface="Cabin"/>
              <a:ea typeface="Cabin"/>
              <a:cs typeface="Cabin"/>
              <a:sym typeface="Cabi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Carry out an investigation. </a:t>
            </a:r>
            <a:r>
              <a:rPr lang="en">
                <a:solidFill>
                  <a:schemeClr val="dk1"/>
                </a:solidFill>
                <a:latin typeface="Cabin"/>
                <a:ea typeface="Cabin"/>
                <a:cs typeface="Cabin"/>
                <a:sym typeface="Cabin"/>
              </a:rPr>
              <a:t>Display</a:t>
            </a:r>
            <a:r>
              <a:rPr b="1" lang="en">
                <a:solidFill>
                  <a:schemeClr val="dk1"/>
                </a:solidFill>
                <a:latin typeface="Cabin"/>
                <a:ea typeface="Cabin"/>
                <a:cs typeface="Cabin"/>
                <a:sym typeface="Cabin"/>
              </a:rPr>
              <a:t> slide C. </a:t>
            </a:r>
            <a:r>
              <a:rPr lang="en">
                <a:solidFill>
                  <a:schemeClr val="dk1"/>
                </a:solidFill>
                <a:latin typeface="Cabin"/>
                <a:ea typeface="Cabin"/>
                <a:cs typeface="Cabin"/>
                <a:sym typeface="Cabin"/>
              </a:rPr>
              <a:t>Review the directions on the slide. Share the url for the simulation video with students. Have students work with partners to carry out this brief investigation and record the related data. As students are doing this, distribute a white board, 2 white board markers, and a paper towel or whiteboard eraser to each partner.</a:t>
            </a:r>
            <a:endParaRPr>
              <a:solidFill>
                <a:schemeClr val="dk1"/>
              </a:solidFill>
              <a:latin typeface="Cabin"/>
              <a:ea typeface="Cabin"/>
              <a:cs typeface="Cabin"/>
              <a:sym typeface="Cabi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Test our model. </a:t>
            </a:r>
            <a:r>
              <a:rPr lang="en">
                <a:solidFill>
                  <a:schemeClr val="dk1"/>
                </a:solidFill>
                <a:latin typeface="Cabin"/>
                <a:ea typeface="Cabin"/>
                <a:cs typeface="Cabin"/>
                <a:sym typeface="Cabin"/>
              </a:rPr>
              <a:t>Pause students working with the simulation. Display </a:t>
            </a:r>
            <a:r>
              <a:rPr b="1" lang="en">
                <a:solidFill>
                  <a:schemeClr val="dk1"/>
                </a:solidFill>
                <a:latin typeface="Cabin"/>
                <a:ea typeface="Cabin"/>
                <a:cs typeface="Cabin"/>
                <a:sym typeface="Cabin"/>
              </a:rPr>
              <a:t>slide D.</a:t>
            </a:r>
            <a:r>
              <a:rPr lang="en">
                <a:solidFill>
                  <a:schemeClr val="dk1"/>
                </a:solidFill>
                <a:latin typeface="Cabin"/>
                <a:ea typeface="Cabin"/>
                <a:cs typeface="Cabin"/>
                <a:sym typeface="Cabin"/>
              </a:rPr>
              <a:t> Read through the directions. Tell students to use their calculators and to prepare documentation of their calculations on their whiteboard, so they will be easily visible to share these with the whole class in a few minutes.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Bring the class together to share whiteboard results for 5 minutes.</a:t>
            </a:r>
            <a:r>
              <a:rPr lang="en">
                <a:solidFill>
                  <a:schemeClr val="dk1"/>
                </a:solidFill>
                <a:latin typeface="Cabin"/>
                <a:ea typeface="Cabin"/>
                <a:cs typeface="Cabin"/>
                <a:sym typeface="Cabin"/>
              </a:rPr>
              <a:t>  Ask, </a:t>
            </a:r>
            <a:r>
              <a:rPr i="1" lang="en">
                <a:solidFill>
                  <a:schemeClr val="dk1"/>
                </a:solidFill>
                <a:latin typeface="Cabin"/>
                <a:ea typeface="Cabin"/>
                <a:cs typeface="Cabin"/>
                <a:sym typeface="Cabin"/>
              </a:rPr>
              <a:t>Does the mathematical relationship we discovered for Collisions E and F hold for none, some or all the collisions we tested as a class? What do your results say?</a:t>
            </a:r>
            <a:r>
              <a:rPr lang="en">
                <a:solidFill>
                  <a:schemeClr val="dk1"/>
                </a:solidFill>
                <a:latin typeface="Cabin"/>
                <a:ea typeface="Cabin"/>
                <a:cs typeface="Cabin"/>
                <a:sym typeface="Cabin"/>
              </a:rPr>
              <a:t>  Students should come to an agreement that it holds for all the conditions they tested.</a:t>
            </a:r>
            <a:endParaRPr>
              <a:solidFill>
                <a:srgbClr val="304852"/>
              </a:solidFill>
              <a:latin typeface="Cabin"/>
              <a:ea typeface="Cabin"/>
              <a:cs typeface="Cabin"/>
              <a:sym typeface="Cabi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 name="Google Shape;11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Simplify our equation.</a:t>
            </a:r>
            <a:r>
              <a:rPr lang="en">
                <a:solidFill>
                  <a:srgbClr val="0B0B0B"/>
                </a:solidFill>
                <a:latin typeface="Cabin"/>
                <a:ea typeface="Cabin"/>
                <a:cs typeface="Cabin"/>
                <a:sym typeface="Cabin"/>
              </a:rPr>
              <a:t> Point to the equation at the front of the room that equates the ratio of velocity changes to the negative, reciprocal for the ratio of their masses (pictured at right, top). Present </a:t>
            </a:r>
            <a:r>
              <a:rPr b="1" lang="en">
                <a:solidFill>
                  <a:srgbClr val="0B0B0B"/>
                </a:solidFill>
                <a:latin typeface="Cabin"/>
                <a:ea typeface="Cabin"/>
                <a:cs typeface="Cabin"/>
                <a:sym typeface="Cabin"/>
              </a:rPr>
              <a:t>slide E</a:t>
            </a:r>
            <a:r>
              <a:rPr lang="en">
                <a:solidFill>
                  <a:srgbClr val="0B0B0B"/>
                </a:solidFill>
                <a:latin typeface="Cabin"/>
                <a:ea typeface="Cabin"/>
                <a:cs typeface="Cabin"/>
                <a:sym typeface="Cabin"/>
              </a:rPr>
              <a:t>. Remind students that fractions are not always the easiest way to work with quantities. Ask students to work with a partner quickly to try to simplify the equation to move some of the variables out of the denominator.</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Give students about two minutes to work this out on their whiteboards with a partner and then ask students to share out. On the board, as students share out, document the process of cross-multiplying to get the equation at right, center.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Summarize the equation and point out that there is a quantity that is conserved.</a:t>
            </a:r>
            <a:r>
              <a:rPr lang="en">
                <a:solidFill>
                  <a:srgbClr val="0B0B0B"/>
                </a:solidFill>
                <a:latin typeface="Cabin"/>
                <a:ea typeface="Cabin"/>
                <a:cs typeface="Cabin"/>
                <a:sym typeface="Cabin"/>
              </a:rPr>
              <a:t> Say, </a:t>
            </a:r>
            <a:r>
              <a:rPr i="1" lang="en">
                <a:solidFill>
                  <a:srgbClr val="0B0B0B"/>
                </a:solidFill>
                <a:latin typeface="Cabin"/>
                <a:ea typeface="Cabin"/>
                <a:cs typeface="Cabin"/>
                <a:sym typeface="Cabin"/>
              </a:rPr>
              <a:t>We have an equation here that fits our data, that shows us that in a collision, the change in velocity times the mass of the first vehicle is always going to be equal to the change of velocity times the mass of the second vehicle, but in the other direction, which is what the negative sign tells us. So the mass times velocity lost by the blue vehicle in this case, is going to be gained by the green one. That tells us that for this  quantity we have been calculating, nothing has been lost from the system. And we can show that more clearly by moving all of the variables to one side of the equation and seeing that the total change across the system is zero.</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Move the negative term to the other side of the equation at the front of the room, as shown at right, bottom.</a:t>
            </a:r>
            <a:endParaRPr>
              <a:solidFill>
                <a:srgbClr val="0B0B0B"/>
              </a:solidFill>
            </a:endParaRPr>
          </a:p>
          <a:p>
            <a:pPr indent="0" lvl="0" marL="0" rtl="0" algn="l">
              <a:lnSpc>
                <a:spcPct val="100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Say, </a:t>
            </a:r>
            <a:r>
              <a:rPr i="1" lang="en">
                <a:solidFill>
                  <a:srgbClr val="0B0B0B"/>
                </a:solidFill>
                <a:latin typeface="Cabin"/>
                <a:ea typeface="Cabin"/>
                <a:cs typeface="Cabin"/>
                <a:sym typeface="Cabin"/>
              </a:rPr>
              <a:t>We have figured out that this quantity, mass times velocity, is </a:t>
            </a:r>
            <a:r>
              <a:rPr b="1" i="1" lang="en">
                <a:solidFill>
                  <a:srgbClr val="0B0B0B"/>
                </a:solidFill>
                <a:latin typeface="Cabin"/>
                <a:ea typeface="Cabin"/>
                <a:cs typeface="Cabin"/>
                <a:sym typeface="Cabin"/>
              </a:rPr>
              <a:t>conserved</a:t>
            </a:r>
            <a:r>
              <a:rPr i="1" lang="en">
                <a:solidFill>
                  <a:srgbClr val="0B0B0B"/>
                </a:solidFill>
                <a:latin typeface="Cabin"/>
                <a:ea typeface="Cabin"/>
                <a:cs typeface="Cabin"/>
                <a:sym typeface="Cabin"/>
              </a:rPr>
              <a:t> in a collision when we keep track of it for both objects in the system that collide with each other.  </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chemeClr val="dk1"/>
              </a:solidFill>
              <a:latin typeface="Cabin"/>
              <a:ea typeface="Cabin"/>
              <a:cs typeface="Cabin"/>
              <a:sym typeface="Cabi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Turn and Talk briefly about conserved quantities. </a:t>
            </a: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F</a:t>
            </a:r>
            <a:r>
              <a:rPr lang="en">
                <a:solidFill>
                  <a:srgbClr val="0B0B0B"/>
                </a:solidFill>
                <a:latin typeface="Cabin"/>
                <a:ea typeface="Cabin"/>
                <a:cs typeface="Cabin"/>
                <a:sym typeface="Cabin"/>
              </a:rPr>
              <a:t>. Give students under a minute to identify some other physical quantities that are conserved. Listen in, and then tell students, </a:t>
            </a:r>
            <a:r>
              <a:rPr i="1" lang="en">
                <a:solidFill>
                  <a:srgbClr val="0B0B0B"/>
                </a:solidFill>
                <a:latin typeface="Cabin"/>
                <a:ea typeface="Cabin"/>
                <a:cs typeface="Cabin"/>
                <a:sym typeface="Cabin"/>
              </a:rPr>
              <a:t>I heard ideas about conservation of energy, and mass. We definitely used those ideas in earlier units! And now we have found something else that is being conserved.</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Develop a geometric representation.</a:t>
            </a:r>
            <a:r>
              <a:rPr lang="en">
                <a:solidFill>
                  <a:srgbClr val="0B0B0B"/>
                </a:solidFill>
                <a:latin typeface="Cabin"/>
                <a:ea typeface="Cabin"/>
                <a:cs typeface="Cabin"/>
                <a:sym typeface="Cabin"/>
              </a:rPr>
              <a:t> Say, </a:t>
            </a:r>
            <a:r>
              <a:rPr i="1" lang="en">
                <a:solidFill>
                  <a:srgbClr val="0B0B0B"/>
                </a:solidFill>
                <a:latin typeface="Cabin"/>
                <a:ea typeface="Cabin"/>
                <a:cs typeface="Cabin"/>
                <a:sym typeface="Cabin"/>
              </a:rPr>
              <a:t>Whenever we think about a conserved quantity in any physical process, it can be useful to try to represent that quantity using alternate visualizations beyond just numbers or symbols.  Let’s try to visualize this quantity that is being conserved with a geometric model. A geometric model uses geometry, or shapes, to represent quantities in from an alternate representation visually. So we need a shape that will help represent a quantity that is the product of two variables. </a:t>
            </a:r>
            <a:endParaRPr i="1">
              <a:solidFill>
                <a:srgbClr val="0B0B0B"/>
              </a:solidFill>
              <a:latin typeface="Cabin"/>
              <a:ea typeface="Cabin"/>
              <a:cs typeface="Cabin"/>
              <a:sym typeface="Cabi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G</a:t>
            </a:r>
            <a:r>
              <a:rPr lang="en">
                <a:solidFill>
                  <a:srgbClr val="0B0B0B"/>
                </a:solidFill>
                <a:latin typeface="Cabin"/>
                <a:ea typeface="Cabin"/>
                <a:cs typeface="Cabin"/>
                <a:sym typeface="Cabin"/>
              </a:rPr>
              <a:t>.  Cue students to Turn and talk to a partner about the related question on the slide</a:t>
            </a:r>
            <a:r>
              <a:rPr i="1" lang="en">
                <a:solidFill>
                  <a:srgbClr val="0B0B0B"/>
                </a:solidFill>
                <a:latin typeface="Cabin"/>
                <a:ea typeface="Cabin"/>
                <a:cs typeface="Cabin"/>
                <a:sym typeface="Cabin"/>
              </a:rPr>
              <a:t>: </a:t>
            </a:r>
            <a:endParaRPr i="1">
              <a:solidFill>
                <a:srgbClr val="0B0B0B"/>
              </a:solidFill>
              <a:latin typeface="Cabin"/>
              <a:ea typeface="Cabin"/>
              <a:cs typeface="Cabin"/>
              <a:sym typeface="Cabin"/>
            </a:endParaRPr>
          </a:p>
          <a:p>
            <a:pPr indent="-298450" lvl="0" marL="457200" rtl="0" algn="l">
              <a:lnSpc>
                <a:spcPct val="100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What are some shapes you’ve used to represent the quantity that is the product of two variables in the past? </a:t>
            </a:r>
            <a:endParaRPr i="1">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Give students a minute to talk with a partner as you wander around the room. Then say,</a:t>
            </a:r>
            <a:r>
              <a:rPr i="1" lang="en">
                <a:solidFill>
                  <a:srgbClr val="0B0B0B"/>
                </a:solidFill>
                <a:latin typeface="Cabin"/>
                <a:ea typeface="Cabin"/>
                <a:cs typeface="Cabin"/>
                <a:sym typeface="Cabin"/>
              </a:rPr>
              <a:t> I heard some shapes being suggested. One of those was a rectangle. Can someone tell me how the product of two variables can be represented by a rectangle?</a:t>
            </a:r>
            <a:r>
              <a:rPr lang="en">
                <a:solidFill>
                  <a:srgbClr val="0B0B0B"/>
                </a:solidFill>
                <a:latin typeface="Cabin"/>
                <a:ea typeface="Cabin"/>
                <a:cs typeface="Cabin"/>
                <a:sym typeface="Cabin"/>
              </a:rPr>
              <a:t> Look for ideas about how they have a base and a height and how the product of these represents their area.</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If this idea doesn’t come out, or need further clarification, say something like, </a:t>
            </a:r>
            <a:r>
              <a:rPr i="1" lang="en">
                <a:solidFill>
                  <a:srgbClr val="0B0B0B"/>
                </a:solidFill>
                <a:latin typeface="Cabin"/>
                <a:ea typeface="Cabin"/>
                <a:cs typeface="Cabin"/>
                <a:sym typeface="Cabin"/>
              </a:rPr>
              <a:t>The product of two values can be conceptualized as the area of a rectangle where the base and height represent the values.</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Let’s try and represent a certain amount of change in this quantity that a vehicle undergoes in a collision using a rectangle, where one side of the rectangle will represent its mass and the other side will represent its change in velocity.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Draw a rectangle with the variables on its sides as shown and the corresponding description.</a:t>
            </a:r>
            <a:endParaRPr>
              <a:solidFill>
                <a:srgbClr val="304852"/>
              </a:solidFill>
              <a:latin typeface="Cabin"/>
              <a:ea typeface="Cabin"/>
              <a:cs typeface="Cabin"/>
              <a:sym typeface="Cabi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Represent the amount of change for one object.</a:t>
            </a:r>
            <a:r>
              <a:rPr lang="en">
                <a:solidFill>
                  <a:schemeClr val="dk1"/>
                </a:solidFill>
                <a:latin typeface="Cabin"/>
                <a:ea typeface="Cabin"/>
                <a:cs typeface="Cabin"/>
                <a:sym typeface="Cabin"/>
              </a:rPr>
              <a:t>  Let’s consider a situation where a 3 kg cart is stationary before a collision and it had a speed of 4 mph after the collision.  Present </a:t>
            </a:r>
            <a:r>
              <a:rPr b="1" lang="en">
                <a:solidFill>
                  <a:schemeClr val="dk1"/>
                </a:solidFill>
                <a:latin typeface="Cabin"/>
                <a:ea typeface="Cabin"/>
                <a:cs typeface="Cabin"/>
                <a:sym typeface="Cabin"/>
              </a:rPr>
              <a:t>slide H. </a:t>
            </a:r>
            <a:r>
              <a:rPr lang="en">
                <a:solidFill>
                  <a:schemeClr val="dk1"/>
                </a:solidFill>
                <a:latin typeface="Cabin"/>
                <a:ea typeface="Cabin"/>
                <a:cs typeface="Cabin"/>
                <a:sym typeface="Cabin"/>
              </a:rPr>
              <a:t> Ask students how to represent the amount of momentum change using this geometric representation.  Anticipated responses:</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 draw a rectangle with a base of 3 and a height of 4</a:t>
            </a:r>
            <a:endParaRPr i="1">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i="1" lang="en">
                <a:solidFill>
                  <a:schemeClr val="dk1"/>
                </a:solidFill>
                <a:latin typeface="Cabin"/>
                <a:ea typeface="Cabin"/>
                <a:cs typeface="Cabin"/>
                <a:sym typeface="Cabin"/>
              </a:rPr>
              <a:t> it will have an area of 12, which represents the amount of change that object experiences.</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rPr lang="en">
                <a:solidFill>
                  <a:schemeClr val="dk1"/>
                </a:solidFill>
                <a:latin typeface="Cabin"/>
                <a:ea typeface="Cabin"/>
                <a:cs typeface="Cabin"/>
                <a:sym typeface="Cabin"/>
              </a:rPr>
              <a:t>Sketch and annotate the corresponding rectangle on the board: reference teacher guide.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Ask students to consider how much the velocity of the second cart should have changed if it had a mass of 6 kg. Students should say it should have changed by 2 mph. Sketch and annotate the corresponding rectangle on the board next to the first in red marker: reference teacher guide.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rgbClr val="0B0B0B"/>
                </a:solidFill>
                <a:latin typeface="Cabin"/>
                <a:ea typeface="Cabin"/>
                <a:cs typeface="Cabin"/>
                <a:sym typeface="Cabin"/>
              </a:rPr>
              <a:t>Ask students whether the change is an  increase or decrease for this object if we know the sum total of the changes in the entire system has to be zero. Students will say it should be a decrease.</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rgbClr val="0B0B0B"/>
                </a:solidFill>
                <a:latin typeface="Cabin"/>
                <a:ea typeface="Cabin"/>
                <a:cs typeface="Cabin"/>
                <a:sym typeface="Cabin"/>
              </a:rPr>
              <a:t>Suggest that we show a decrease by drawing the arrow going in the other direction from the reference line drawn at the top of the rectangle, so we can better visualize this as a decrease in the amount of this quantity for this second object.  Add negative signs to the annotations as well to represent the change in velocity as -2 mphs, and the change in momentum as -12.</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400"/>
              <a:buNone/>
            </a:pPr>
            <a:r>
              <a:rPr b="1" lang="en">
                <a:solidFill>
                  <a:srgbClr val="0B0B0B"/>
                </a:solidFill>
                <a:latin typeface="Cabin"/>
                <a:ea typeface="Cabin"/>
                <a:cs typeface="Cabin"/>
                <a:sym typeface="Cabin"/>
              </a:rPr>
              <a:t>Represent the momentum change for a different second object. </a:t>
            </a:r>
            <a:r>
              <a:rPr lang="en">
                <a:solidFill>
                  <a:srgbClr val="0B0B0B"/>
                </a:solidFill>
                <a:latin typeface="Cabin"/>
                <a:ea typeface="Cabin"/>
                <a:cs typeface="Cabin"/>
                <a:sym typeface="Cabin"/>
              </a:rPr>
              <a:t> Ask students how we would draw this rectangle if the mass of the second cart was 1 kg, instead of 6.  Students will say draw it as a rectangle that is 1 kg wide and goes down 12 mph from the reference line. Erase the red rectangle, its label, and calculate and redraw the following: reference the teacher guide.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Represent the momentum change for a different second object. </a:t>
            </a:r>
            <a:r>
              <a:rPr lang="en">
                <a:solidFill>
                  <a:srgbClr val="0B0B0B"/>
                </a:solidFill>
                <a:latin typeface="Cabin"/>
                <a:ea typeface="Cabin"/>
                <a:cs typeface="Cabin"/>
                <a:sym typeface="Cabin"/>
              </a:rPr>
              <a:t> Ask students how we would draw this rectangle if the mass of the 2nd cart was 24 kg.  Students will say draw it as a rectangle that is 24 kg wide and goes down 0.5 mph from the reference line. Erase the red rectangle, its label, and calculate and redraw the following: reference the teacher guide.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
                <a:solidFill>
                  <a:srgbClr val="0B0B0B"/>
                </a:solidFill>
                <a:latin typeface="Cabin"/>
                <a:ea typeface="Cabin"/>
                <a:cs typeface="Cabin"/>
                <a:sym typeface="Cabin"/>
              </a:rPr>
              <a:t>Evaluate the geometric model.  </a:t>
            </a:r>
            <a:r>
              <a:rPr lang="en">
                <a:solidFill>
                  <a:srgbClr val="0B0B0B"/>
                </a:solidFill>
                <a:latin typeface="Cabin"/>
                <a:ea typeface="Cabin"/>
                <a:cs typeface="Cabin"/>
                <a:sym typeface="Cabin"/>
              </a:rPr>
              <a:t>Display </a:t>
            </a:r>
            <a:r>
              <a:rPr b="1" lang="en">
                <a:solidFill>
                  <a:srgbClr val="0B0B0B"/>
                </a:solidFill>
                <a:latin typeface="Cabin"/>
                <a:ea typeface="Cabin"/>
                <a:cs typeface="Cabin"/>
                <a:sym typeface="Cabin"/>
              </a:rPr>
              <a:t>slide I. </a:t>
            </a:r>
            <a:r>
              <a:rPr lang="en">
                <a:solidFill>
                  <a:srgbClr val="0B0B0B"/>
                </a:solidFill>
                <a:latin typeface="Cabin"/>
                <a:ea typeface="Cabin"/>
                <a:cs typeface="Cabin"/>
                <a:sym typeface="Cabin"/>
              </a:rPr>
              <a:t>Discuss the related questions as a class.</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400"/>
              <a:buNone/>
            </a:pPr>
            <a:r>
              <a:rPr b="1" lang="en">
                <a:solidFill>
                  <a:srgbClr val="0B0B0B"/>
                </a:solidFill>
                <a:latin typeface="Cabin"/>
                <a:ea typeface="Cabin"/>
                <a:cs typeface="Cabin"/>
                <a:sym typeface="Cabin"/>
              </a:rPr>
              <a:t>Name this quantity we are visualizing. </a:t>
            </a:r>
            <a:r>
              <a:rPr lang="en">
                <a:solidFill>
                  <a:srgbClr val="0B0B0B"/>
                </a:solidFill>
                <a:latin typeface="Cabin"/>
                <a:ea typeface="Cabin"/>
                <a:cs typeface="Cabin"/>
                <a:sym typeface="Cabin"/>
              </a:rPr>
              <a:t> Say, </a:t>
            </a:r>
            <a:r>
              <a:rPr i="1" lang="en">
                <a:solidFill>
                  <a:srgbClr val="0B0B0B"/>
                </a:solidFill>
                <a:latin typeface="Cabin"/>
                <a:ea typeface="Cabin"/>
                <a:cs typeface="Cabin"/>
                <a:sym typeface="Cabin"/>
              </a:rPr>
              <a:t>As scientists realized that this was a conserved quantity, they recognized they needed a way to that quantity more easily, so they assigned it a name.  They called the quantity mass * change in velocity,  a change in momentum. </a:t>
            </a:r>
            <a:r>
              <a:rPr lang="en">
                <a:solidFill>
                  <a:srgbClr val="0B0B0B"/>
                </a:solidFill>
                <a:latin typeface="Cabin"/>
                <a:ea typeface="Cabin"/>
                <a:cs typeface="Cabin"/>
                <a:sym typeface="Cabin"/>
              </a:rPr>
              <a:t>Add the following title </a:t>
            </a:r>
            <a:r>
              <a:rPr lang="en">
                <a:solidFill>
                  <a:schemeClr val="dk1"/>
                </a:solidFill>
                <a:latin typeface="Cabin"/>
                <a:ea typeface="Cabin"/>
                <a:cs typeface="Cabin"/>
                <a:sym typeface="Cabin"/>
              </a:rPr>
              <a:t>and annotations on top of the prior equation you wrote.  If this is your last class, start recording all of this on one poster paper, which you will reference in future activities and lessons as the </a:t>
            </a:r>
            <a:r>
              <a:rPr i="1" lang="en">
                <a:solidFill>
                  <a:schemeClr val="dk1"/>
                </a:solidFill>
                <a:latin typeface="Cabin"/>
                <a:ea typeface="Cabin"/>
                <a:cs typeface="Cabin"/>
                <a:sym typeface="Cabin"/>
              </a:rPr>
              <a:t>Momentum relationships</a:t>
            </a:r>
            <a:r>
              <a:rPr lang="en">
                <a:solidFill>
                  <a:schemeClr val="dk1"/>
                </a:solidFill>
                <a:latin typeface="Cabin"/>
                <a:ea typeface="Cabin"/>
                <a:cs typeface="Cabin"/>
                <a:sym typeface="Cabin"/>
              </a:rPr>
              <a:t> poster.</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rgbClr val="0B0B0B"/>
                </a:solidFill>
                <a:latin typeface="Cabin"/>
                <a:ea typeface="Cabin"/>
                <a:cs typeface="Cabin"/>
                <a:sym typeface="Cabin"/>
              </a:rPr>
              <a:t>Refer to the </a:t>
            </a:r>
            <a:r>
              <a:rPr i="1" lang="en">
                <a:solidFill>
                  <a:schemeClr val="dk1"/>
                </a:solidFill>
                <a:latin typeface="Cabin"/>
                <a:ea typeface="Cabin"/>
                <a:cs typeface="Cabin"/>
                <a:sym typeface="Cabin"/>
              </a:rPr>
              <a:t>Momentum relationships</a:t>
            </a:r>
            <a:r>
              <a:rPr lang="en">
                <a:solidFill>
                  <a:schemeClr val="dk1"/>
                </a:solidFill>
                <a:latin typeface="Cabin"/>
                <a:ea typeface="Cabin"/>
                <a:cs typeface="Cabin"/>
                <a:sym typeface="Cabin"/>
              </a:rPr>
              <a:t> poster you made last period. Ask students to explain to a partner in their own words how this equation is related to what we’ve seen in our data so far.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Problematize what momentum is.  </a:t>
            </a:r>
            <a:r>
              <a:rPr i="1" lang="en">
                <a:solidFill>
                  <a:srgbClr val="0B0B0B"/>
                </a:solidFill>
                <a:latin typeface="Cabin"/>
                <a:ea typeface="Cabin"/>
                <a:cs typeface="Cabin"/>
                <a:sym typeface="Cabin"/>
              </a:rPr>
              <a:t>Say, even though we have a relationship represented here that describes momentum change in  collision that can account for our results, this raises a new question. If what is on the left side of the equation represents change in momentum in each object, then what exactly is momentum itself?  </a:t>
            </a:r>
            <a:r>
              <a:rPr lang="en">
                <a:solidFill>
                  <a:srgbClr val="0B0B0B"/>
                </a:solidFill>
                <a:latin typeface="Cabin"/>
                <a:ea typeface="Cabin"/>
                <a:cs typeface="Cabin"/>
                <a:sym typeface="Cabin"/>
              </a:rPr>
              <a:t>Present</a:t>
            </a:r>
            <a:r>
              <a:rPr b="1" lang="en">
                <a:solidFill>
                  <a:srgbClr val="0B0B0B"/>
                </a:solidFill>
                <a:latin typeface="Cabin"/>
                <a:ea typeface="Cabin"/>
                <a:cs typeface="Cabin"/>
                <a:sym typeface="Cabin"/>
              </a:rPr>
              <a:t> slide J</a:t>
            </a:r>
            <a:r>
              <a:rPr lang="en">
                <a:solidFill>
                  <a:srgbClr val="0B0B0B"/>
                </a:solidFill>
                <a:latin typeface="Cabin"/>
                <a:ea typeface="Cabin"/>
                <a:cs typeface="Cabin"/>
                <a:sym typeface="Cabin"/>
              </a:rPr>
              <a:t>. Read the text on the slide</a:t>
            </a:r>
            <a:r>
              <a:rPr i="1" lang="en">
                <a:solidFill>
                  <a:srgbClr val="0B0B0B"/>
                </a:solidFill>
                <a:latin typeface="Cabin"/>
                <a:ea typeface="Cabin"/>
                <a:cs typeface="Cabin"/>
                <a:sym typeface="Cabin"/>
              </a:rPr>
              <a:t>, If m * Δv is change in momentum, then let’s consider what momentum itself is, by first thinking about what the Δ represents.  Then discuss the related question as a class. </a:t>
            </a:r>
            <a:r>
              <a:rPr lang="en">
                <a:solidFill>
                  <a:schemeClr val="dk1"/>
                </a:solidFill>
                <a:latin typeface="Cabin"/>
                <a:ea typeface="Cabin"/>
                <a:cs typeface="Cabin"/>
                <a:sym typeface="Cabin"/>
              </a:rPr>
              <a:t>See the prompts in the teacher guide for support.</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b="1">
              <a:solidFill>
                <a:schemeClr val="accent3"/>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Use the equation to predict the outcome of a vehicle collision.</a:t>
            </a:r>
            <a:r>
              <a:rPr lang="en">
                <a:solidFill>
                  <a:schemeClr val="dk1"/>
                </a:solidFill>
                <a:latin typeface="Cabin"/>
                <a:ea typeface="Cabin"/>
                <a:cs typeface="Cabin"/>
                <a:sym typeface="Cabin"/>
              </a:rPr>
              <a:t> Say, </a:t>
            </a:r>
            <a:r>
              <a:rPr i="1" lang="en">
                <a:solidFill>
                  <a:schemeClr val="dk1"/>
                </a:solidFill>
                <a:latin typeface="Cabin"/>
                <a:ea typeface="Cabin"/>
                <a:cs typeface="Cabin"/>
                <a:sym typeface="Cabin"/>
              </a:rPr>
              <a:t>Now that we know we can use any of these mathematical models to make predictions, let's see what it would predict for a real-world rear-end collision, between a moving truck and a stationary car. </a:t>
            </a:r>
            <a:r>
              <a:rPr lang="en">
                <a:solidFill>
                  <a:schemeClr val="dk1"/>
                </a:solidFill>
                <a:latin typeface="Cabin"/>
                <a:ea typeface="Cabin"/>
                <a:cs typeface="Cabin"/>
                <a:sym typeface="Cabin"/>
              </a:rPr>
              <a:t>Display </a:t>
            </a:r>
            <a:r>
              <a:rPr b="1" lang="en">
                <a:solidFill>
                  <a:schemeClr val="dk1"/>
                </a:solidFill>
                <a:latin typeface="Cabin"/>
                <a:ea typeface="Cabin"/>
                <a:cs typeface="Cabin"/>
                <a:sym typeface="Cabin"/>
              </a:rPr>
              <a:t>slide K.</a:t>
            </a:r>
            <a:r>
              <a:rPr lang="en">
                <a:solidFill>
                  <a:schemeClr val="dk1"/>
                </a:solidFill>
                <a:latin typeface="Cabin"/>
                <a:ea typeface="Cabin"/>
                <a:cs typeface="Cabin"/>
                <a:sym typeface="Cabin"/>
              </a:rPr>
              <a:t> Instruct students to use their notebook to solve for this unknown. This should take just under 3 minutes for students to be ready to share their answers.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Compare answers. </a:t>
            </a:r>
            <a:r>
              <a:rPr lang="en">
                <a:solidFill>
                  <a:schemeClr val="dk1"/>
                </a:solidFill>
                <a:latin typeface="Cabin"/>
                <a:ea typeface="Cabin"/>
                <a:cs typeface="Cabin"/>
                <a:sym typeface="Cabin"/>
              </a:rPr>
              <a:t>Students should agree that the velocity of the car after the collision is predicted to be 45 mph and the change in the velocity of the car should be 42 mph.</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If time permits, follow-up by asking students how the ratio of the velocity changes compares to the ratio of the masses and how these compare to our earlier discoveries from the green and blue collision carts.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L</a:t>
            </a:r>
            <a:r>
              <a:rPr lang="en">
                <a:solidFill>
                  <a:schemeClr val="dk1"/>
                </a:solidFill>
                <a:latin typeface="Cabin"/>
                <a:ea typeface="Cabin"/>
                <a:cs typeface="Cabin"/>
                <a:sym typeface="Cabin"/>
              </a:rPr>
              <a:t> and give students time to add words and symbols they developed in this lesson to their personal glossaries. Some of the words students may decide to include are: delta (Δ), elastic collision, inelastic collision, momentum.</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Motivate additional testing of the equation(s). </a:t>
            </a:r>
            <a:r>
              <a:rPr lang="en">
                <a:solidFill>
                  <a:srgbClr val="0B0B0B"/>
                </a:solidFill>
                <a:latin typeface="Cabin"/>
                <a:ea typeface="Cabin"/>
                <a:cs typeface="Cabin"/>
                <a:sym typeface="Cabin"/>
              </a:rPr>
              <a:t>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Any one of these equations seems to be pretty useful in helping us make predictions and think about whether they are consistent or not with other data we have collected. But we have still only analyzed a few types of elastic and inelastic collisions. Many of them were for the same types of vehicles, on the same track. There are so many other types of collisions that we have talked about. Let’s spend some time independently testing this relationship across a broader set of collision phenomena. </a:t>
            </a:r>
            <a:r>
              <a:rPr lang="en">
                <a:solidFill>
                  <a:schemeClr val="dk1"/>
                </a:solidFill>
                <a:latin typeface="Cabin"/>
                <a:ea typeface="Cabin"/>
                <a:cs typeface="Cabin"/>
                <a:sym typeface="Cabin"/>
              </a:rPr>
              <a: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 </a:t>
            </a:r>
            <a:r>
              <a:rPr b="1" lang="en">
                <a:solidFill>
                  <a:srgbClr val="0B0B0B"/>
                </a:solidFill>
                <a:latin typeface="Cabin"/>
                <a:ea typeface="Cabin"/>
                <a:cs typeface="Cabin"/>
                <a:sym typeface="Cabin"/>
              </a:rPr>
              <a:t>Introduce </a:t>
            </a:r>
            <a:r>
              <a:rPr lang="en">
                <a:solidFill>
                  <a:schemeClr val="dk1"/>
                </a:solidFill>
                <a:latin typeface="Cabin"/>
                <a:ea typeface="Cabin"/>
                <a:cs typeface="Cabin"/>
                <a:sym typeface="Cabin"/>
              </a:rPr>
              <a:t>the handout</a:t>
            </a:r>
            <a:r>
              <a:rPr b="1" lang="en">
                <a:solidFill>
                  <a:srgbClr val="0B0B0B"/>
                </a:solidFill>
                <a:latin typeface="Cabin"/>
                <a:ea typeface="Cabin"/>
                <a:cs typeface="Cabin"/>
                <a:sym typeface="Cabin"/>
              </a:rPr>
              <a:t>.</a:t>
            </a:r>
            <a:r>
              <a:rPr lang="en">
                <a:solidFill>
                  <a:srgbClr val="0B0B0B"/>
                </a:solidFill>
                <a:latin typeface="Cabin"/>
                <a:ea typeface="Cabin"/>
                <a:cs typeface="Cabin"/>
                <a:sym typeface="Cabin"/>
              </a:rPr>
              <a:t> Present </a:t>
            </a:r>
            <a:r>
              <a:rPr b="1" lang="en">
                <a:solidFill>
                  <a:srgbClr val="0B0B0B"/>
                </a:solidFill>
                <a:latin typeface="Cabin"/>
                <a:ea typeface="Cabin"/>
                <a:cs typeface="Cabin"/>
                <a:sym typeface="Cabin"/>
              </a:rPr>
              <a:t>slide M. </a:t>
            </a:r>
            <a:r>
              <a:rPr lang="en">
                <a:solidFill>
                  <a:srgbClr val="0B0B0B"/>
                </a:solidFill>
                <a:latin typeface="Cabin"/>
                <a:ea typeface="Cabin"/>
                <a:cs typeface="Cabin"/>
                <a:sym typeface="Cabin"/>
              </a:rPr>
              <a:t>Distribute the handout</a:t>
            </a:r>
            <a:r>
              <a:rPr lang="en">
                <a:solidFill>
                  <a:schemeClr val="dk1"/>
                </a:solidFill>
                <a:latin typeface="Cabin"/>
                <a:ea typeface="Cabin"/>
                <a:cs typeface="Cabin"/>
                <a:sym typeface="Cabin"/>
              </a:rPr>
              <a:t> to each student. </a:t>
            </a:r>
            <a:r>
              <a:rPr lang="en">
                <a:solidFill>
                  <a:srgbClr val="0B0B0B"/>
                </a:solidFill>
                <a:latin typeface="Cabin"/>
                <a:ea typeface="Cabin"/>
                <a:cs typeface="Cabin"/>
                <a:sym typeface="Cabin"/>
              </a:rPr>
              <a:t>Emphasize the following:</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Different forms of the momentum equation we developed in class are summarized on the first couple pages of the handout as reference for you..</a:t>
            </a:r>
            <a:endParaRPr i="1">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Let’s see what other types of phenomena we can predict and explain with our momentum equations.   Later pages of the handout provide 3 scenarios to try to apply these to.</a:t>
            </a:r>
            <a:endParaRPr i="1">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i="1" lang="en">
                <a:solidFill>
                  <a:srgbClr val="0B0B0B"/>
                </a:solidFill>
                <a:latin typeface="Cabin"/>
                <a:ea typeface="Cabin"/>
                <a:cs typeface="Cabin"/>
                <a:sym typeface="Cabin"/>
              </a:rPr>
              <a:t>At the end of the class we will compare the answers we get and the methods we used to determine how confident we are in using these momentum equations.  </a:t>
            </a:r>
            <a:endParaRPr i="1">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highlight>
                <a:srgbClr val="FFFF00"/>
              </a:highlight>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Give students the remaining time to complete the handout.</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rgbClr val="0B0B0B"/>
                </a:solidFill>
                <a:latin typeface="Cabin"/>
                <a:ea typeface="Cabin"/>
                <a:cs typeface="Cabin"/>
                <a:sym typeface="Cabin"/>
              </a:rPr>
              <a:t>Self-assess understanding and confidence. </a:t>
            </a:r>
            <a:r>
              <a:rPr lang="en">
                <a:solidFill>
                  <a:srgbClr val="0B0B0B"/>
                </a:solidFill>
                <a:latin typeface="Cabin"/>
                <a:ea typeface="Cabin"/>
                <a:cs typeface="Cabin"/>
                <a:sym typeface="Cabin"/>
              </a:rPr>
              <a:t>Present </a:t>
            </a:r>
            <a:r>
              <a:rPr b="1" lang="en">
                <a:solidFill>
                  <a:srgbClr val="0B0B0B"/>
                </a:solidFill>
                <a:latin typeface="Cabin"/>
                <a:ea typeface="Cabin"/>
                <a:cs typeface="Cabin"/>
                <a:sym typeface="Cabin"/>
              </a:rPr>
              <a:t>slide N. </a:t>
            </a:r>
            <a:r>
              <a:rPr lang="en">
                <a:solidFill>
                  <a:srgbClr val="0B0B0B"/>
                </a:solidFill>
                <a:latin typeface="Cabin"/>
                <a:ea typeface="Cabin"/>
                <a:cs typeface="Cabin"/>
                <a:sym typeface="Cabin"/>
              </a:rPr>
              <a:t>Distribute </a:t>
            </a:r>
            <a:r>
              <a:rPr lang="en">
                <a:solidFill>
                  <a:schemeClr val="dk1"/>
                </a:solidFill>
                <a:latin typeface="Cabin"/>
                <a:ea typeface="Cabin"/>
                <a:cs typeface="Cabin"/>
                <a:sym typeface="Cabin"/>
              </a:rPr>
              <a:t>the handout to each student.  Say, </a:t>
            </a:r>
            <a:r>
              <a:rPr i="1" lang="en">
                <a:solidFill>
                  <a:schemeClr val="dk1"/>
                </a:solidFill>
                <a:latin typeface="Cabin"/>
                <a:ea typeface="Cabin"/>
                <a:cs typeface="Cabin"/>
                <a:sym typeface="Cabin"/>
              </a:rPr>
              <a:t>This key asks you to reflect on your confidence solving these equations. How could doing so help us as learners?  </a:t>
            </a:r>
            <a:r>
              <a:rPr lang="en">
                <a:solidFill>
                  <a:schemeClr val="dk1"/>
                </a:solidFill>
                <a:latin typeface="Cabin"/>
                <a:ea typeface="Cabin"/>
                <a:cs typeface="Cabin"/>
                <a:sym typeface="Cabin"/>
              </a:rPr>
              <a:t>Accept all answers.</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Emphasize the following:</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Use the key to self-assess your work.</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lang="en">
                <a:solidFill>
                  <a:srgbClr val="0B0B0B"/>
                </a:solidFill>
                <a:latin typeface="Cabin"/>
                <a:ea typeface="Cabin"/>
                <a:cs typeface="Cabin"/>
                <a:sym typeface="Cabin"/>
              </a:rPr>
              <a:t>Complete questions A-C to help identify part of the process you feel confident about and parts you’d like additional practice or help with.</a:t>
            </a:r>
            <a:endParaRPr>
              <a:solidFill>
                <a:srgbClr val="0B0B0B"/>
              </a:solidFill>
              <a:latin typeface="Cabin"/>
              <a:ea typeface="Cabin"/>
              <a:cs typeface="Cabin"/>
              <a:sym typeface="Cabin"/>
            </a:endParaRPr>
          </a:p>
          <a:p>
            <a:pPr indent="-298450" lvl="0" marL="457200" rtl="0" algn="l">
              <a:lnSpc>
                <a:spcPct val="115000"/>
              </a:lnSpc>
              <a:spcBef>
                <a:spcPts val="0"/>
              </a:spcBef>
              <a:spcAft>
                <a:spcPts val="0"/>
              </a:spcAft>
              <a:buClr>
                <a:srgbClr val="0B0B0B"/>
              </a:buClr>
              <a:buSzPts val="1100"/>
              <a:buFont typeface="Cabin"/>
              <a:buChar char="●"/>
            </a:pPr>
            <a:r>
              <a:rPr lang="en">
                <a:solidFill>
                  <a:schemeClr val="dk1"/>
                </a:solidFill>
                <a:latin typeface="Cabin"/>
                <a:ea typeface="Cabin"/>
                <a:cs typeface="Cabin"/>
                <a:sym typeface="Cabin"/>
              </a:rPr>
              <a:t>This will provide you (the teacher) the ability to provide timely and targeted feedback, help, and additional practice. Say,</a:t>
            </a:r>
            <a:r>
              <a:rPr i="1" lang="en">
                <a:solidFill>
                  <a:schemeClr val="dk1"/>
                </a:solidFill>
                <a:latin typeface="Cabin"/>
                <a:ea typeface="Cabin"/>
                <a:cs typeface="Cabin"/>
                <a:sym typeface="Cabin"/>
              </a:rPr>
              <a:t> We will have additional opportunities to talk and work together to address areas where you all identify needs.</a:t>
            </a:r>
            <a:endParaRPr>
              <a:solidFill>
                <a:srgbClr val="0B0B0B"/>
              </a:solidFill>
              <a:latin typeface="Cabin"/>
              <a:ea typeface="Cabin"/>
              <a:cs typeface="Cabin"/>
              <a:sym typeface="Cabin"/>
            </a:endParaRPr>
          </a:p>
          <a:p>
            <a:pPr indent="0" lvl="0" marL="45720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Collect both </a:t>
            </a:r>
            <a:r>
              <a:rPr lang="en">
                <a:solidFill>
                  <a:schemeClr val="dk1"/>
                </a:solidFill>
                <a:latin typeface="Cabin"/>
                <a:ea typeface="Cabin"/>
                <a:cs typeface="Cabin"/>
                <a:sym typeface="Cabin"/>
              </a:rPr>
              <a:t>handout 3 and handout 4</a:t>
            </a:r>
            <a:r>
              <a:rPr lang="en">
                <a:solidFill>
                  <a:srgbClr val="0B0B0B"/>
                </a:solidFill>
                <a:latin typeface="Cabin"/>
                <a:ea typeface="Cabin"/>
                <a:cs typeface="Cabin"/>
                <a:sym typeface="Cabin"/>
              </a:rPr>
              <a:t> when students are done.</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rgbClr val="0B0B0B"/>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Reference an element of a science and engineering practice we used in our work. </a:t>
            </a:r>
            <a:r>
              <a:rPr lang="en">
                <a:solidFill>
                  <a:schemeClr val="dk1"/>
                </a:solidFill>
                <a:latin typeface="Cabin"/>
                <a:ea typeface="Cabin"/>
                <a:cs typeface="Cabin"/>
                <a:sym typeface="Cabin"/>
              </a:rPr>
              <a:t>Point to the </a:t>
            </a:r>
            <a:r>
              <a:rPr i="1" lang="en">
                <a:solidFill>
                  <a:schemeClr val="dk1"/>
                </a:solidFill>
                <a:latin typeface="Cabin"/>
                <a:ea typeface="Cabin"/>
                <a:cs typeface="Cabin"/>
                <a:sym typeface="Cabin"/>
              </a:rPr>
              <a:t>Relationships between variables for 2 colliding objects </a:t>
            </a:r>
            <a:r>
              <a:rPr lang="en">
                <a:solidFill>
                  <a:schemeClr val="dk1"/>
                </a:solidFill>
                <a:latin typeface="Cabin"/>
                <a:ea typeface="Cabin"/>
                <a:cs typeface="Cabin"/>
                <a:sym typeface="Cabin"/>
              </a:rPr>
              <a:t>poster to emphasize that we have identified a quantitative relationship between mass and velocity, which we now can name as being related to momentum. Point out that it wasn’t until we started drawing rectangles to visualize two variables at once that we saw evidence for a new mathematical relationship.</a:t>
            </a:r>
            <a:r>
              <a:rPr i="1" lang="en">
                <a:solidFill>
                  <a:schemeClr val="dk1"/>
                </a:solidFill>
                <a:latin typeface="Cabin"/>
                <a:ea typeface="Cabin"/>
                <a:cs typeface="Cabin"/>
                <a:sym typeface="Cabin"/>
              </a:rPr>
              <a:t> </a:t>
            </a:r>
            <a:r>
              <a:rPr lang="en">
                <a:solidFill>
                  <a:schemeClr val="dk1"/>
                </a:solidFill>
                <a:latin typeface="Cabin"/>
                <a:ea typeface="Cabin"/>
                <a:cs typeface="Cabin"/>
                <a:sym typeface="Cabin"/>
              </a:rPr>
              <a:t>Remind students that different mathematical representations are sometimes needed to identify different patterns.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Consider possible quantitative relationships between other variables.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We uncovered a quantitative relationship between mass and change in velocity in a collision. And that relationship turned out to be really productive for predicting what will happen in a collision, in terms of how fast something will be moving, or how fast it was moving before.</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Point to the </a:t>
            </a:r>
            <a:r>
              <a:rPr i="1" lang="en">
                <a:solidFill>
                  <a:schemeClr val="dk1"/>
                </a:solidFill>
                <a:latin typeface="Cabin"/>
                <a:ea typeface="Cabin"/>
                <a:cs typeface="Cabin"/>
                <a:sym typeface="Cabin"/>
              </a:rPr>
              <a:t>Relationships between variables for 2 colliding objects </a:t>
            </a:r>
            <a:r>
              <a:rPr lang="en">
                <a:solidFill>
                  <a:schemeClr val="dk1"/>
                </a:solidFill>
                <a:latin typeface="Cabin"/>
                <a:ea typeface="Cabin"/>
                <a:cs typeface="Cabin"/>
                <a:sym typeface="Cabin"/>
              </a:rPr>
              <a:t>poster again. Ask, </a:t>
            </a:r>
            <a:r>
              <a:rPr i="1" lang="en">
                <a:solidFill>
                  <a:schemeClr val="dk1"/>
                </a:solidFill>
                <a:latin typeface="Cabin"/>
                <a:ea typeface="Cabin"/>
                <a:cs typeface="Cabin"/>
                <a:sym typeface="Cabin"/>
              </a:rPr>
              <a:t>What about these other variables we identified, like force or delta t? How can we use what we figured out about change in momentum (mΔV) to make predictions about the connections to these other variables we are interested in?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rgbClr val="304852"/>
              </a:solidFill>
              <a:latin typeface="Cabin"/>
              <a:ea typeface="Cabin"/>
              <a:cs typeface="Cabin"/>
              <a:sym typeface="Cabi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Present</a:t>
            </a:r>
            <a:r>
              <a:rPr b="1" lang="en">
                <a:solidFill>
                  <a:schemeClr val="dk1"/>
                </a:solidFill>
                <a:latin typeface="Cabin"/>
                <a:ea typeface="Cabin"/>
                <a:cs typeface="Cabin"/>
                <a:sym typeface="Cabin"/>
              </a:rPr>
              <a:t> slide O</a:t>
            </a:r>
            <a:r>
              <a:rPr lang="en">
                <a:solidFill>
                  <a:schemeClr val="dk1"/>
                </a:solidFill>
                <a:latin typeface="Cabin"/>
                <a:ea typeface="Cabin"/>
                <a:cs typeface="Cabin"/>
                <a:sym typeface="Cabin"/>
              </a:rPr>
              <a:t> and give students a couple of minutes to talk with a partner.</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Forecast our purpose next time</a:t>
            </a:r>
            <a:r>
              <a:rPr lang="en">
                <a:solidFill>
                  <a:schemeClr val="dk1"/>
                </a:solidFill>
                <a:latin typeface="Cabin"/>
                <a:ea typeface="Cabin"/>
                <a:cs typeface="Cabin"/>
                <a:sym typeface="Cabin"/>
              </a:rPr>
              <a:t>. </a:t>
            </a:r>
            <a:r>
              <a:rPr i="1" lang="en">
                <a:solidFill>
                  <a:schemeClr val="dk1"/>
                </a:solidFill>
                <a:latin typeface="Cabin"/>
                <a:ea typeface="Cabin"/>
                <a:cs typeface="Cabin"/>
                <a:sym typeface="Cabin"/>
              </a:rPr>
              <a:t>Let’s come back to this question and see if we can start exploring other possible relationships between these variables next time using some physical carts and other equipment I have that we can work with for you to collect data from in our classroom.</a:t>
            </a:r>
            <a:endParaRPr>
              <a:solidFill>
                <a:schemeClr val="dk1"/>
              </a:solidFill>
              <a:latin typeface="Cabin"/>
              <a:ea typeface="Cabin"/>
              <a:cs typeface="Cabin"/>
              <a:sym typeface="Cabi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2">
    <p:spTree>
      <p:nvGrpSpPr>
        <p:cNvPr id="7" name="Shape 7"/>
        <p:cNvGrpSpPr/>
        <p:nvPr/>
      </p:nvGrpSpPr>
      <p:grpSpPr>
        <a:xfrm>
          <a:off x="0" y="0"/>
          <a:ext cx="0" cy="0"/>
          <a:chOff x="0" y="0"/>
          <a:chExt cx="0" cy="0"/>
        </a:xfrm>
      </p:grpSpPr>
      <p:sp>
        <p:nvSpPr>
          <p:cNvPr id="8" name="Google Shape;8;p2"/>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9" name="Google Shape;9;p2"/>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0" name="Google Shape;10;p2"/>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1" name="Google Shape;11;p2"/>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12" name="Shape 12"/>
        <p:cNvGrpSpPr/>
        <p:nvPr/>
      </p:nvGrpSpPr>
      <p:grpSpPr>
        <a:xfrm>
          <a:off x="0" y="0"/>
          <a:ext cx="0" cy="0"/>
          <a:chOff x="0" y="0"/>
          <a:chExt cx="0" cy="0"/>
        </a:xfrm>
      </p:grpSpPr>
      <p:sp>
        <p:nvSpPr>
          <p:cNvPr id="13" name="Google Shape;13;p3"/>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Open Sans"/>
              <a:buChar char="●"/>
              <a:defRPr b="1" i="0" sz="3600" u="none" cap="none" strike="noStrike">
                <a:solidFill>
                  <a:srgbClr val="304852"/>
                </a:solidFill>
                <a:latin typeface="Open Sans"/>
                <a:ea typeface="Open Sans"/>
                <a:cs typeface="Open Sans"/>
                <a:sym typeface="Open Sans"/>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14" name="Google Shape;14;p3"/>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3"/>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6" name="Google Shape;16;p3"/>
          <p:cNvSpPr txBox="1"/>
          <p:nvPr>
            <p:ph idx="3" type="subTitle"/>
          </p:nvPr>
        </p:nvSpPr>
        <p:spPr>
          <a:xfrm>
            <a:off x="457200" y="106750"/>
            <a:ext cx="40734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solidFill>
                  <a:srgbClr val="304852"/>
                </a:solidFill>
              </a:defRPr>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7" name="Google Shape;17;p3"/>
          <p:cNvSpPr txBox="1"/>
          <p:nvPr>
            <p:ph idx="4" type="subTitle"/>
          </p:nvPr>
        </p:nvSpPr>
        <p:spPr>
          <a:xfrm>
            <a:off x="5114300" y="106750"/>
            <a:ext cx="35724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solidFill>
                  <a:srgbClr val="304852"/>
                </a:solidFill>
              </a:defRPr>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4"/>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304852"/>
              </a:buClr>
              <a:buSzPts val="3600"/>
              <a:buFont typeface="Open Sans"/>
              <a:buChar char="●"/>
              <a:defRPr b="0" i="0" sz="3600" u="none" cap="none" strike="noStrike">
                <a:solidFill>
                  <a:srgbClr val="304852"/>
                </a:solidFill>
                <a:latin typeface="Open Sans"/>
                <a:ea typeface="Open Sans"/>
                <a:cs typeface="Open Sans"/>
                <a:sym typeface="Open Sans"/>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20" name="Google Shape;20;p4"/>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1" name="Google Shape;21;p4"/>
          <p:cNvSpPr txBox="1"/>
          <p:nvPr>
            <p:ph idx="1" type="subTitle"/>
          </p:nvPr>
        </p:nvSpPr>
        <p:spPr>
          <a:xfrm>
            <a:off x="457200" y="106750"/>
            <a:ext cx="4369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2" name="Google Shape;22;p4"/>
          <p:cNvSpPr txBox="1"/>
          <p:nvPr>
            <p:ph idx="3" type="subTitle"/>
          </p:nvPr>
        </p:nvSpPr>
        <p:spPr>
          <a:xfrm>
            <a:off x="4678375" y="106750"/>
            <a:ext cx="40083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5"/>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5" name="Google Shape;25;p5"/>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6" name="Google Shape;26;p5"/>
          <p:cNvSpPr txBox="1"/>
          <p:nvPr>
            <p:ph idx="2" type="subTitle"/>
          </p:nvPr>
        </p:nvSpPr>
        <p:spPr>
          <a:xfrm>
            <a:off x="457200" y="106750"/>
            <a:ext cx="38235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7" name="Google Shape;27;p5"/>
          <p:cNvSpPr txBox="1"/>
          <p:nvPr>
            <p:ph idx="3" type="subTitle"/>
          </p:nvPr>
        </p:nvSpPr>
        <p:spPr>
          <a:xfrm>
            <a:off x="5370875" y="106750"/>
            <a:ext cx="3315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30" name="Google Shape;30;p6"/>
          <p:cNvSpPr txBox="1"/>
          <p:nvPr>
            <p:ph idx="1" type="subTitle"/>
          </p:nvPr>
        </p:nvSpPr>
        <p:spPr>
          <a:xfrm>
            <a:off x="457200" y="106750"/>
            <a:ext cx="43773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1" name="Google Shape;31;p6"/>
          <p:cNvSpPr txBox="1"/>
          <p:nvPr>
            <p:ph idx="2" type="subTitle"/>
          </p:nvPr>
        </p:nvSpPr>
        <p:spPr>
          <a:xfrm>
            <a:off x="4876900" y="106750"/>
            <a:ext cx="3810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7"/>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34" name="Google Shape;34;p7"/>
          <p:cNvSpPr txBox="1"/>
          <p:nvPr>
            <p:ph idx="1" type="subTitle"/>
          </p:nvPr>
        </p:nvSpPr>
        <p:spPr>
          <a:xfrm>
            <a:off x="45727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 name="Google Shape;35;p7"/>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6" name="Google Shape;36;p7"/>
          <p:cNvSpPr txBox="1"/>
          <p:nvPr>
            <p:ph idx="3" type="subTitle"/>
          </p:nvPr>
        </p:nvSpPr>
        <p:spPr>
          <a:xfrm>
            <a:off x="457200" y="106750"/>
            <a:ext cx="42333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7" name="Google Shape;37;p7"/>
          <p:cNvSpPr txBox="1"/>
          <p:nvPr>
            <p:ph idx="4" type="subTitle"/>
          </p:nvPr>
        </p:nvSpPr>
        <p:spPr>
          <a:xfrm>
            <a:off x="4690500" y="106750"/>
            <a:ext cx="39963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
        <p:nvSpPr>
          <p:cNvPr id="38" name="Google Shape;38;p7"/>
          <p:cNvSpPr txBox="1"/>
          <p:nvPr>
            <p:ph idx="5" type="body"/>
          </p:nvPr>
        </p:nvSpPr>
        <p:spPr>
          <a:xfrm>
            <a:off x="4561900" y="1574475"/>
            <a:ext cx="4125000" cy="4662900"/>
          </a:xfrm>
          <a:prstGeom prst="rect">
            <a:avLst/>
          </a:prstGeom>
          <a:solidFill>
            <a:srgbClr val="EBF0F2"/>
          </a:solidFill>
          <a:ln cap="flat" cmpd="sng" w="9525">
            <a:solidFill>
              <a:srgbClr val="304852"/>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39" name="Shape 39"/>
        <p:cNvGrpSpPr/>
        <p:nvPr/>
      </p:nvGrpSpPr>
      <p:grpSpPr>
        <a:xfrm>
          <a:off x="0" y="0"/>
          <a:ext cx="0" cy="0"/>
          <a:chOff x="0" y="0"/>
          <a:chExt cx="0" cy="0"/>
        </a:xfrm>
      </p:grpSpPr>
      <p:sp>
        <p:nvSpPr>
          <p:cNvPr id="40" name="Google Shape;40;p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41" name="Google Shape;41;p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8"/>
          <p:cNvSpPr txBox="1"/>
          <p:nvPr>
            <p:ph idx="2"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1" i="0" sz="1400" u="none" cap="none" strike="noStrike">
                <a:solidFill>
                  <a:srgbClr val="000000"/>
                </a:solidFill>
                <a:latin typeface="Open Sans"/>
                <a:ea typeface="Open Sans"/>
                <a:cs typeface="Open Sans"/>
                <a:sym typeface="Open Sans"/>
              </a:defRPr>
            </a:lvl9pPr>
          </a:lstStyle>
          <a:p/>
        </p:txBody>
      </p:sp>
      <p:sp>
        <p:nvSpPr>
          <p:cNvPr id="43" name="Google Shape;43;p8"/>
          <p:cNvSpPr txBox="1"/>
          <p:nvPr>
            <p:ph idx="3" type="subTitle"/>
          </p:nvPr>
        </p:nvSpPr>
        <p:spPr>
          <a:xfrm>
            <a:off x="457200" y="106750"/>
            <a:ext cx="38862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4" name="Google Shape;44;p8"/>
          <p:cNvSpPr txBox="1"/>
          <p:nvPr>
            <p:ph idx="4" type="subTitle"/>
          </p:nvPr>
        </p:nvSpPr>
        <p:spPr>
          <a:xfrm>
            <a:off x="4622900" y="106750"/>
            <a:ext cx="40638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47" name="Google Shape;47;p9"/>
          <p:cNvSpPr txBox="1"/>
          <p:nvPr>
            <p:ph type="title"/>
          </p:nvPr>
        </p:nvSpPr>
        <p:spPr>
          <a:xfrm>
            <a:off x="457200" y="548650"/>
            <a:ext cx="8229600" cy="685800"/>
          </a:xfrm>
          <a:prstGeom prst="rect">
            <a:avLst/>
          </a:prstGeom>
          <a:solidFill>
            <a:srgbClr val="27697B"/>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8" name="Google Shape;48;p9"/>
          <p:cNvSpPr txBox="1"/>
          <p:nvPr>
            <p:ph idx="2" type="subTitle"/>
          </p:nvPr>
        </p:nvSpPr>
        <p:spPr>
          <a:xfrm>
            <a:off x="457200" y="106750"/>
            <a:ext cx="3513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b="0" sz="15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9" name="Google Shape;49;p9"/>
          <p:cNvSpPr txBox="1"/>
          <p:nvPr>
            <p:ph idx="3" type="subTitle"/>
          </p:nvPr>
        </p:nvSpPr>
        <p:spPr>
          <a:xfrm>
            <a:off x="4639825" y="106750"/>
            <a:ext cx="40470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b="0" sz="15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52" name="Shape 52"/>
        <p:cNvGrpSpPr/>
        <p:nvPr/>
      </p:nvGrpSpPr>
      <p:grpSpPr>
        <a:xfrm>
          <a:off x="0" y="0"/>
          <a:ext cx="0" cy="0"/>
          <a:chOff x="0" y="0"/>
          <a:chExt cx="0" cy="0"/>
        </a:xfrm>
      </p:grpSpPr>
      <p:sp>
        <p:nvSpPr>
          <p:cNvPr id="53" name="Google Shape;53;p12"/>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3">
    <p:spTree>
      <p:nvGrpSpPr>
        <p:cNvPr id="54" name="Shape 54"/>
        <p:cNvGrpSpPr/>
        <p:nvPr/>
      </p:nvGrpSpPr>
      <p:grpSpPr>
        <a:xfrm>
          <a:off x="0" y="0"/>
          <a:ext cx="0" cy="0"/>
          <a:chOff x="0" y="0"/>
          <a:chExt cx="0" cy="0"/>
        </a:xfrm>
      </p:grpSpPr>
      <p:sp>
        <p:nvSpPr>
          <p:cNvPr id="55" name="Google Shape;55;p13"/>
          <p:cNvSpPr txBox="1"/>
          <p:nvPr>
            <p:ph idx="1"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56" name="Google Shape;56;p13"/>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2800"/>
              <a:buFont typeface="Arial"/>
              <a:buNone/>
              <a:defRPr b="1" i="0" sz="2800" u="none" cap="none" strike="noStrike">
                <a:solidFill>
                  <a:srgbClr val="FFFFFF"/>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57" name="Google Shape;57;p13"/>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58" name="Google Shape;58;p13"/>
          <p:cNvSpPr txBox="1"/>
          <p:nvPr>
            <p:ph idx="3" type="subTitle"/>
          </p:nvPr>
        </p:nvSpPr>
        <p:spPr>
          <a:xfrm>
            <a:off x="5769900" y="106750"/>
            <a:ext cx="2916900" cy="4584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r">
              <a:lnSpc>
                <a:spcPct val="115000"/>
              </a:lnSpc>
              <a:spcBef>
                <a:spcPts val="1600"/>
              </a:spcBef>
              <a:spcAft>
                <a:spcPts val="0"/>
              </a:spcAft>
              <a:buSzPts val="3200"/>
              <a:buNone/>
              <a:defRPr/>
            </a:lvl2pPr>
            <a:lvl3pPr lvl="2" algn="r">
              <a:lnSpc>
                <a:spcPct val="115000"/>
              </a:lnSpc>
              <a:spcBef>
                <a:spcPts val="1600"/>
              </a:spcBef>
              <a:spcAft>
                <a:spcPts val="0"/>
              </a:spcAft>
              <a:buSzPts val="2400"/>
              <a:buNone/>
              <a:defRPr/>
            </a:lvl3pPr>
            <a:lvl4pPr lvl="3" algn="r">
              <a:lnSpc>
                <a:spcPct val="115000"/>
              </a:lnSpc>
              <a:spcBef>
                <a:spcPts val="1600"/>
              </a:spcBef>
              <a:spcAft>
                <a:spcPts val="0"/>
              </a:spcAft>
              <a:buSzPts val="2400"/>
              <a:buNone/>
              <a:defRPr/>
            </a:lvl4pPr>
            <a:lvl5pPr lvl="4" algn="r">
              <a:lnSpc>
                <a:spcPct val="115000"/>
              </a:lnSpc>
              <a:spcBef>
                <a:spcPts val="1600"/>
              </a:spcBef>
              <a:spcAft>
                <a:spcPts val="0"/>
              </a:spcAft>
              <a:buSzPts val="1800"/>
              <a:buNone/>
              <a:defRPr/>
            </a:lvl5pPr>
            <a:lvl6pPr lvl="5" algn="r">
              <a:lnSpc>
                <a:spcPct val="115000"/>
              </a:lnSpc>
              <a:spcBef>
                <a:spcPts val="1600"/>
              </a:spcBef>
              <a:spcAft>
                <a:spcPts val="0"/>
              </a:spcAft>
              <a:buSzPts val="1400"/>
              <a:buNone/>
              <a:defRPr/>
            </a:lvl6pPr>
            <a:lvl7pPr lvl="6" algn="r">
              <a:lnSpc>
                <a:spcPct val="115000"/>
              </a:lnSpc>
              <a:spcBef>
                <a:spcPts val="1600"/>
              </a:spcBef>
              <a:spcAft>
                <a:spcPts val="0"/>
              </a:spcAft>
              <a:buSzPts val="1400"/>
              <a:buNone/>
              <a:defRPr/>
            </a:lvl7pPr>
            <a:lvl8pPr lvl="7" algn="r">
              <a:lnSpc>
                <a:spcPct val="115000"/>
              </a:lnSpc>
              <a:spcBef>
                <a:spcPts val="1600"/>
              </a:spcBef>
              <a:spcAft>
                <a:spcPts val="0"/>
              </a:spcAft>
              <a:buSzPts val="1400"/>
              <a:buNone/>
              <a:defRPr/>
            </a:lvl8pPr>
            <a:lvl9pPr lvl="8" algn="r">
              <a:lnSpc>
                <a:spcPct val="115000"/>
              </a:lnSpc>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1_1">
    <p:spTree>
      <p:nvGrpSpPr>
        <p:cNvPr id="59" name="Shape 59"/>
        <p:cNvGrpSpPr/>
        <p:nvPr/>
      </p:nvGrpSpPr>
      <p:grpSpPr>
        <a:xfrm>
          <a:off x="0" y="0"/>
          <a:ext cx="0" cy="0"/>
          <a:chOff x="0" y="0"/>
          <a:chExt cx="0" cy="0"/>
        </a:xfrm>
      </p:grpSpPr>
      <p:sp>
        <p:nvSpPr>
          <p:cNvPr id="60" name="Google Shape;60;p14"/>
          <p:cNvSpPr txBox="1"/>
          <p:nvPr>
            <p:ph idx="12" type="sldNum"/>
          </p:nvPr>
        </p:nvSpPr>
        <p:spPr>
          <a:xfrm>
            <a:off x="66599" y="6215667"/>
            <a:ext cx="528000" cy="5250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
        <p:nvSpPr>
          <p:cNvPr id="61" name="Google Shape;61;p14"/>
          <p:cNvSpPr/>
          <p:nvPr/>
        </p:nvSpPr>
        <p:spPr>
          <a:xfrm>
            <a:off x="0" y="0"/>
            <a:ext cx="9144000" cy="228900"/>
          </a:xfrm>
          <a:prstGeom prst="rect">
            <a:avLst/>
          </a:prstGeom>
          <a:solidFill>
            <a:srgbClr val="FC8B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highlight>
                <a:srgbClr val="FFFFFF"/>
              </a:highlight>
              <a:latin typeface="Arial"/>
              <a:ea typeface="Arial"/>
              <a:cs typeface="Arial"/>
              <a:sym typeface="Arial"/>
            </a:endParaRPr>
          </a:p>
        </p:txBody>
      </p:sp>
      <p:sp>
        <p:nvSpPr>
          <p:cNvPr id="62" name="Google Shape;62;p14"/>
          <p:cNvSpPr txBox="1"/>
          <p:nvPr>
            <p:ph idx="1" type="body"/>
          </p:nvPr>
        </p:nvSpPr>
        <p:spPr>
          <a:xfrm>
            <a:off x="457200" y="1371600"/>
            <a:ext cx="8313000" cy="4555200"/>
          </a:xfrm>
          <a:prstGeom prst="rect">
            <a:avLst/>
          </a:prstGeom>
          <a:noFill/>
          <a:ln>
            <a:noFill/>
          </a:ln>
        </p:spPr>
        <p:txBody>
          <a:bodyPr anchorCtr="0" anchor="t" bIns="91425" lIns="91425" spcFirstLastPara="1" rIns="91425" wrap="square" tIns="91425">
            <a:noAutofit/>
          </a:bodyPr>
          <a:lstStyle>
            <a:lvl1pPr indent="-381000" lvl="0" marL="457200" algn="l">
              <a:lnSpc>
                <a:spcPct val="115000"/>
              </a:lnSpc>
              <a:spcBef>
                <a:spcPts val="0"/>
              </a:spcBef>
              <a:spcAft>
                <a:spcPts val="0"/>
              </a:spcAft>
              <a:buSzPts val="2400"/>
              <a:buChar char="●"/>
              <a:defRPr sz="2400"/>
            </a:lvl1pPr>
            <a:lvl2pPr indent="-355600" lvl="1" marL="914400" algn="l">
              <a:lnSpc>
                <a:spcPct val="115000"/>
              </a:lnSpc>
              <a:spcBef>
                <a:spcPts val="1600"/>
              </a:spcBef>
              <a:spcAft>
                <a:spcPts val="0"/>
              </a:spcAft>
              <a:buSzPts val="2000"/>
              <a:buChar char="○"/>
              <a:defRPr sz="2000"/>
            </a:lvl2pPr>
            <a:lvl3pPr indent="-330200" lvl="2" marL="1371600" algn="l">
              <a:lnSpc>
                <a:spcPct val="115000"/>
              </a:lnSpc>
              <a:spcBef>
                <a:spcPts val="1600"/>
              </a:spcBef>
              <a:spcAft>
                <a:spcPts val="0"/>
              </a:spcAft>
              <a:buSzPts val="1600"/>
              <a:buChar char="■"/>
              <a:defRPr sz="1600"/>
            </a:lvl3pPr>
            <a:lvl4pPr indent="-317500" lvl="3" marL="1828800" algn="l">
              <a:lnSpc>
                <a:spcPct val="115000"/>
              </a:lnSpc>
              <a:spcBef>
                <a:spcPts val="1600"/>
              </a:spcBef>
              <a:spcAft>
                <a:spcPts val="0"/>
              </a:spcAft>
              <a:buSzPts val="1400"/>
              <a:buChar char="●"/>
              <a:defRPr sz="1400"/>
            </a:lvl4pPr>
            <a:lvl5pPr indent="-304800" lvl="4" marL="2286000" algn="l">
              <a:lnSpc>
                <a:spcPct val="115000"/>
              </a:lnSpc>
              <a:spcBef>
                <a:spcPts val="1600"/>
              </a:spcBef>
              <a:spcAft>
                <a:spcPts val="0"/>
              </a:spcAft>
              <a:buSzPts val="1200"/>
              <a:buChar char="○"/>
              <a:defRPr sz="1200"/>
            </a:lvl5pPr>
            <a:lvl6pPr indent="-342900" lvl="5" marL="2743200" algn="l">
              <a:lnSpc>
                <a:spcPct val="115000"/>
              </a:lnSpc>
              <a:spcBef>
                <a:spcPts val="1600"/>
              </a:spcBef>
              <a:spcAft>
                <a:spcPts val="0"/>
              </a:spcAft>
              <a:buSzPts val="1800"/>
              <a:buChar char="■"/>
              <a:defRPr sz="1800"/>
            </a:lvl6pPr>
            <a:lvl7pPr indent="-330200" lvl="6" marL="3200400" algn="l">
              <a:lnSpc>
                <a:spcPct val="115000"/>
              </a:lnSpc>
              <a:spcBef>
                <a:spcPts val="1600"/>
              </a:spcBef>
              <a:spcAft>
                <a:spcPts val="0"/>
              </a:spcAft>
              <a:buSzPts val="1600"/>
              <a:buChar char="●"/>
              <a:defRPr sz="1600"/>
            </a:lvl7pPr>
            <a:lvl8pPr indent="-317500" lvl="7" marL="3657600" algn="l">
              <a:lnSpc>
                <a:spcPct val="115000"/>
              </a:lnSpc>
              <a:spcBef>
                <a:spcPts val="1600"/>
              </a:spcBef>
              <a:spcAft>
                <a:spcPts val="0"/>
              </a:spcAft>
              <a:buSzPts val="1400"/>
              <a:buChar char="○"/>
              <a:defRPr sz="1400"/>
            </a:lvl8pPr>
            <a:lvl9pPr indent="-304800" lvl="8" marL="4114800" algn="l">
              <a:lnSpc>
                <a:spcPct val="115000"/>
              </a:lnSpc>
              <a:spcBef>
                <a:spcPts val="1600"/>
              </a:spcBef>
              <a:spcAft>
                <a:spcPts val="1600"/>
              </a:spcAft>
              <a:buSzPts val="1200"/>
              <a:buChar char="■"/>
              <a:defRPr sz="1200"/>
            </a:lvl9pPr>
          </a:lstStyle>
          <a:p/>
        </p:txBody>
      </p:sp>
      <p:sp>
        <p:nvSpPr>
          <p:cNvPr id="63" name="Google Shape;63;p14"/>
          <p:cNvSpPr txBox="1"/>
          <p:nvPr>
            <p:ph idx="2" type="subTitle"/>
          </p:nvPr>
        </p:nvSpPr>
        <p:spPr>
          <a:xfrm>
            <a:off x="457200" y="457200"/>
            <a:ext cx="7688100" cy="721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b="1" sz="3000"/>
            </a:lvl1pPr>
            <a:lvl2pPr lvl="1" algn="l">
              <a:lnSpc>
                <a:spcPct val="100000"/>
              </a:lnSpc>
              <a:spcBef>
                <a:spcPts val="0"/>
              </a:spcBef>
              <a:spcAft>
                <a:spcPts val="0"/>
              </a:spcAft>
              <a:buClr>
                <a:srgbClr val="0B0B0B"/>
              </a:buClr>
              <a:buSzPts val="3000"/>
              <a:buNone/>
              <a:defRPr sz="3000">
                <a:solidFill>
                  <a:srgbClr val="0B0B0B"/>
                </a:solidFill>
              </a:defRPr>
            </a:lvl2pPr>
            <a:lvl3pPr lvl="2" algn="l">
              <a:lnSpc>
                <a:spcPct val="100000"/>
              </a:lnSpc>
              <a:spcBef>
                <a:spcPts val="0"/>
              </a:spcBef>
              <a:spcAft>
                <a:spcPts val="0"/>
              </a:spcAft>
              <a:buClr>
                <a:srgbClr val="0B0B0B"/>
              </a:buClr>
              <a:buSzPts val="3000"/>
              <a:buNone/>
              <a:defRPr sz="3000">
                <a:solidFill>
                  <a:srgbClr val="0B0B0B"/>
                </a:solidFill>
              </a:defRPr>
            </a:lvl3pPr>
            <a:lvl4pPr lvl="3" algn="l">
              <a:lnSpc>
                <a:spcPct val="100000"/>
              </a:lnSpc>
              <a:spcBef>
                <a:spcPts val="0"/>
              </a:spcBef>
              <a:spcAft>
                <a:spcPts val="0"/>
              </a:spcAft>
              <a:buClr>
                <a:srgbClr val="0B0B0B"/>
              </a:buClr>
              <a:buSzPts val="3000"/>
              <a:buNone/>
              <a:defRPr sz="3000">
                <a:solidFill>
                  <a:srgbClr val="0B0B0B"/>
                </a:solidFill>
              </a:defRPr>
            </a:lvl4pPr>
            <a:lvl5pPr lvl="4" algn="l">
              <a:lnSpc>
                <a:spcPct val="100000"/>
              </a:lnSpc>
              <a:spcBef>
                <a:spcPts val="0"/>
              </a:spcBef>
              <a:spcAft>
                <a:spcPts val="0"/>
              </a:spcAft>
              <a:buClr>
                <a:srgbClr val="0B0B0B"/>
              </a:buClr>
              <a:buSzPts val="3000"/>
              <a:buNone/>
              <a:defRPr sz="3000">
                <a:solidFill>
                  <a:srgbClr val="0B0B0B"/>
                </a:solidFill>
              </a:defRPr>
            </a:lvl5pPr>
            <a:lvl6pPr lvl="5" algn="l">
              <a:lnSpc>
                <a:spcPct val="100000"/>
              </a:lnSpc>
              <a:spcBef>
                <a:spcPts val="0"/>
              </a:spcBef>
              <a:spcAft>
                <a:spcPts val="0"/>
              </a:spcAft>
              <a:buClr>
                <a:srgbClr val="0B0B0B"/>
              </a:buClr>
              <a:buSzPts val="3000"/>
              <a:buNone/>
              <a:defRPr sz="3000">
                <a:solidFill>
                  <a:srgbClr val="0B0B0B"/>
                </a:solidFill>
              </a:defRPr>
            </a:lvl6pPr>
            <a:lvl7pPr lvl="6" algn="l">
              <a:lnSpc>
                <a:spcPct val="100000"/>
              </a:lnSpc>
              <a:spcBef>
                <a:spcPts val="0"/>
              </a:spcBef>
              <a:spcAft>
                <a:spcPts val="0"/>
              </a:spcAft>
              <a:buClr>
                <a:srgbClr val="0B0B0B"/>
              </a:buClr>
              <a:buSzPts val="3000"/>
              <a:buNone/>
              <a:defRPr sz="3000">
                <a:solidFill>
                  <a:srgbClr val="0B0B0B"/>
                </a:solidFill>
              </a:defRPr>
            </a:lvl7pPr>
            <a:lvl8pPr lvl="7" algn="l">
              <a:lnSpc>
                <a:spcPct val="100000"/>
              </a:lnSpc>
              <a:spcBef>
                <a:spcPts val="0"/>
              </a:spcBef>
              <a:spcAft>
                <a:spcPts val="0"/>
              </a:spcAft>
              <a:buClr>
                <a:srgbClr val="0B0B0B"/>
              </a:buClr>
              <a:buSzPts val="3000"/>
              <a:buNone/>
              <a:defRPr sz="3000">
                <a:solidFill>
                  <a:srgbClr val="0B0B0B"/>
                </a:solidFill>
              </a:defRPr>
            </a:lvl8pPr>
            <a:lvl9pPr lvl="8" algn="l">
              <a:lnSpc>
                <a:spcPct val="100000"/>
              </a:lnSpc>
              <a:spcBef>
                <a:spcPts val="0"/>
              </a:spcBef>
              <a:spcAft>
                <a:spcPts val="0"/>
              </a:spcAft>
              <a:buClr>
                <a:srgbClr val="0B0B0B"/>
              </a:buClr>
              <a:buSzPts val="3000"/>
              <a:buNone/>
              <a:defRPr sz="3000">
                <a:solidFill>
                  <a:srgbClr val="0B0B0B"/>
                </a:solidFill>
              </a:defRPr>
            </a:lvl9pPr>
          </a:lstStyle>
          <a:p/>
        </p:txBody>
      </p:sp>
      <p:pic>
        <p:nvPicPr>
          <p:cNvPr id="64" name="Google Shape;64;p14"/>
          <p:cNvPicPr preferRelativeResize="0"/>
          <p:nvPr/>
        </p:nvPicPr>
        <p:blipFill rotWithShape="1">
          <a:blip r:embed="rId2">
            <a:alphaModFix/>
          </a:blip>
          <a:srcRect b="38471" l="37560" r="36787" t="38350"/>
          <a:stretch/>
        </p:blipFill>
        <p:spPr>
          <a:xfrm>
            <a:off x="8556256" y="5952100"/>
            <a:ext cx="439768" cy="571333"/>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33325" y="1536625"/>
            <a:ext cx="83991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304852"/>
              </a:buClr>
              <a:buSzPts val="3600"/>
              <a:buFont typeface="Open Sans"/>
              <a:buChar char="●"/>
              <a:defRPr b="1" i="0" sz="3600" u="none" cap="none" strike="noStrike">
                <a:solidFill>
                  <a:srgbClr val="304852"/>
                </a:solidFill>
                <a:latin typeface="Open Sans"/>
                <a:ea typeface="Open Sans"/>
                <a:cs typeface="Open Sans"/>
                <a:sym typeface="Open Sans"/>
              </a:defRPr>
            </a:lvl1pPr>
            <a:lvl2pPr indent="-431800" lvl="1" marL="914400" marR="0" rtl="0" algn="l">
              <a:lnSpc>
                <a:spcPct val="115000"/>
              </a:lnSpc>
              <a:spcBef>
                <a:spcPts val="1600"/>
              </a:spcBef>
              <a:spcAft>
                <a:spcPts val="0"/>
              </a:spcAft>
              <a:buClr>
                <a:srgbClr val="304852"/>
              </a:buClr>
              <a:buSzPts val="3200"/>
              <a:buFont typeface="Open Sans"/>
              <a:buChar char="○"/>
              <a:defRPr b="1" i="0" sz="3200" u="none" cap="none" strike="noStrike">
                <a:solidFill>
                  <a:srgbClr val="304852"/>
                </a:solidFill>
                <a:latin typeface="Open Sans"/>
                <a:ea typeface="Open Sans"/>
                <a:cs typeface="Open Sans"/>
                <a:sym typeface="Open Sans"/>
              </a:defRPr>
            </a:lvl2pPr>
            <a:lvl3pPr indent="-381000" lvl="2" marL="1371600" marR="0" rtl="0" algn="l">
              <a:lnSpc>
                <a:spcPct val="115000"/>
              </a:lnSpc>
              <a:spcBef>
                <a:spcPts val="1600"/>
              </a:spcBef>
              <a:spcAft>
                <a:spcPts val="0"/>
              </a:spcAft>
              <a:buClr>
                <a:srgbClr val="304852"/>
              </a:buClr>
              <a:buSzPts val="2400"/>
              <a:buFont typeface="Cabin"/>
              <a:buChar char="■"/>
              <a:defRPr b="1" i="0" sz="2400" u="none" cap="none" strike="noStrike">
                <a:solidFill>
                  <a:srgbClr val="304852"/>
                </a:solidFill>
                <a:latin typeface="Cabin"/>
                <a:ea typeface="Cabin"/>
                <a:cs typeface="Cabin"/>
                <a:sym typeface="Cabin"/>
              </a:defRPr>
            </a:lvl3pPr>
            <a:lvl4pPr indent="-381000" lvl="3" marL="1828800" marR="0" rtl="0" algn="l">
              <a:lnSpc>
                <a:spcPct val="115000"/>
              </a:lnSpc>
              <a:spcBef>
                <a:spcPts val="1600"/>
              </a:spcBef>
              <a:spcAft>
                <a:spcPts val="0"/>
              </a:spcAft>
              <a:buClr>
                <a:srgbClr val="304852"/>
              </a:buClr>
              <a:buSzPts val="2400"/>
              <a:buFont typeface="Cabin Condensed"/>
              <a:buChar char="●"/>
              <a:defRPr b="0" i="0" sz="2400" u="none" cap="none" strike="noStrike">
                <a:solidFill>
                  <a:srgbClr val="304852"/>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304852"/>
              </a:buClr>
              <a:buSzPts val="1800"/>
              <a:buFont typeface="Cabin Condensed"/>
              <a:buChar char="○"/>
              <a:defRPr b="0" i="0" sz="1800" u="none" cap="none" strike="noStrike">
                <a:solidFill>
                  <a:srgbClr val="304852"/>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Cabin"/>
              <a:buChar char="○"/>
              <a:defRPr b="0" i="0" sz="1400" u="none" cap="none" strike="noStrike">
                <a:solidFill>
                  <a:schemeClr val="dk2"/>
                </a:solidFill>
                <a:latin typeface="Cabin"/>
                <a:ea typeface="Cabin"/>
                <a:cs typeface="Cabin"/>
                <a:sym typeface="Cabin"/>
              </a:defRPr>
            </a:lvl8pPr>
            <a:lvl9pPr indent="-317500" lvl="8" marL="4114800" marR="0" rtl="0" algn="l">
              <a:lnSpc>
                <a:spcPct val="115000"/>
              </a:lnSpc>
              <a:spcBef>
                <a:spcPts val="1600"/>
              </a:spcBef>
              <a:spcAft>
                <a:spcPts val="1600"/>
              </a:spcAft>
              <a:buClr>
                <a:schemeClr val="dk2"/>
              </a:buClr>
              <a:buSzPts val="1400"/>
              <a:buFont typeface="Cabin"/>
              <a:buChar char="■"/>
              <a:defRPr b="0" i="0" sz="1400" u="none" cap="none" strike="noStrike">
                <a:solidFill>
                  <a:schemeClr val="dk2"/>
                </a:solidFill>
                <a:latin typeface="Cabin"/>
                <a:ea typeface="Cabin"/>
                <a:cs typeface="Cabin"/>
                <a:sym typeface="Cabi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9.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hyperlink" Target="https://openscied-static.s3.amazonaws.com/HTML+Files/Inelastic+and+Elastic+Collisions.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p:nvPr/>
        </p:nvSpPr>
        <p:spPr>
          <a:xfrm>
            <a:off x="457200" y="1394450"/>
            <a:ext cx="8229600" cy="4759800"/>
          </a:xfrm>
          <a:prstGeom prst="rect">
            <a:avLst/>
          </a:prstGeom>
          <a:solidFill>
            <a:schemeClr val="lt1"/>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70" name="Google Shape;70;p15"/>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Navigate</a:t>
            </a:r>
            <a:endParaRPr/>
          </a:p>
        </p:txBody>
      </p:sp>
      <p:sp>
        <p:nvSpPr>
          <p:cNvPr id="71" name="Google Shape;71;p15"/>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A</a:t>
            </a:r>
            <a:endParaRPr b="0" sz="1500"/>
          </a:p>
        </p:txBody>
      </p:sp>
      <p:sp>
        <p:nvSpPr>
          <p:cNvPr id="72" name="Google Shape;72;p15"/>
          <p:cNvSpPr txBox="1"/>
          <p:nvPr/>
        </p:nvSpPr>
        <p:spPr>
          <a:xfrm>
            <a:off x="2505750" y="1471350"/>
            <a:ext cx="3105300" cy="2461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3000"/>
              <a:buFont typeface="Arial"/>
              <a:buNone/>
            </a:pPr>
            <a:r>
              <a:rPr b="1" i="0" lang="en" sz="3000" u="none" cap="none" strike="noStrike">
                <a:solidFill>
                  <a:srgbClr val="304852"/>
                </a:solidFill>
                <a:latin typeface="Open Sans"/>
                <a:ea typeface="Open Sans"/>
                <a:cs typeface="Open Sans"/>
                <a:sym typeface="Open Sans"/>
              </a:rPr>
              <a:t>With your class</a:t>
            </a:r>
            <a:endParaRPr b="0" i="0" sz="1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t/>
            </a:r>
            <a:endParaRPr b="1" i="0" sz="2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t/>
            </a:r>
            <a:endParaRPr b="1" i="0" sz="2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73" name="Google Shape;73;p15"/>
          <p:cNvPicPr preferRelativeResize="0"/>
          <p:nvPr/>
        </p:nvPicPr>
        <p:blipFill rotWithShape="1">
          <a:blip r:embed="rId3">
            <a:alphaModFix/>
          </a:blip>
          <a:srcRect b="0" l="0" r="0" t="0"/>
          <a:stretch/>
        </p:blipFill>
        <p:spPr>
          <a:xfrm>
            <a:off x="688475" y="1630250"/>
            <a:ext cx="1397975" cy="1425375"/>
          </a:xfrm>
          <a:prstGeom prst="rect">
            <a:avLst/>
          </a:prstGeom>
          <a:noFill/>
          <a:ln>
            <a:noFill/>
          </a:ln>
        </p:spPr>
      </p:pic>
      <p:sp>
        <p:nvSpPr>
          <p:cNvPr id="74" name="Google Shape;74;p15"/>
          <p:cNvSpPr txBox="1"/>
          <p:nvPr/>
        </p:nvSpPr>
        <p:spPr>
          <a:xfrm>
            <a:off x="858150" y="3830325"/>
            <a:ext cx="6854700" cy="1606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What were we wondering about this mathematical relationship at the end of our last class?</a:t>
            </a:r>
            <a:endParaRPr b="0" i="0" sz="1400" u="none" cap="none" strike="noStrike">
              <a:solidFill>
                <a:srgbClr val="000000"/>
              </a:solidFill>
              <a:latin typeface="Arial"/>
              <a:ea typeface="Arial"/>
              <a:cs typeface="Arial"/>
              <a:sym typeface="Arial"/>
            </a:endParaRPr>
          </a:p>
        </p:txBody>
      </p:sp>
      <p:pic>
        <p:nvPicPr>
          <p:cNvPr id="75" name="Google Shape;75;p15"/>
          <p:cNvPicPr preferRelativeResize="0"/>
          <p:nvPr/>
        </p:nvPicPr>
        <p:blipFill rotWithShape="1">
          <a:blip r:embed="rId4">
            <a:alphaModFix/>
          </a:blip>
          <a:srcRect b="0" l="0" r="0" t="0"/>
          <a:stretch/>
        </p:blipFill>
        <p:spPr>
          <a:xfrm>
            <a:off x="2944125" y="2223525"/>
            <a:ext cx="3426657" cy="1606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p:nvPr/>
        </p:nvSpPr>
        <p:spPr>
          <a:xfrm>
            <a:off x="457200" y="1394450"/>
            <a:ext cx="8229600" cy="5339700"/>
          </a:xfrm>
          <a:prstGeom prst="rect">
            <a:avLst/>
          </a:prstGeom>
          <a:solidFill>
            <a:srgbClr val="FFFFFF"/>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81" name="Google Shape;81;p16"/>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Plan an investigation</a:t>
            </a:r>
            <a:endParaRPr/>
          </a:p>
        </p:txBody>
      </p:sp>
      <p:sp>
        <p:nvSpPr>
          <p:cNvPr id="82" name="Google Shape;82;p16"/>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B</a:t>
            </a:r>
            <a:endParaRPr b="0" sz="1500"/>
          </a:p>
        </p:txBody>
      </p:sp>
      <p:sp>
        <p:nvSpPr>
          <p:cNvPr id="83" name="Google Shape;83;p16"/>
          <p:cNvSpPr txBox="1"/>
          <p:nvPr/>
        </p:nvSpPr>
        <p:spPr>
          <a:xfrm>
            <a:off x="2409050" y="2168300"/>
            <a:ext cx="5620800" cy="1556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700"/>
              <a:buFont typeface="Arial"/>
              <a:buNone/>
            </a:pPr>
            <a:r>
              <a:rPr b="0" i="0" lang="en" sz="2700" u="none" cap="none" strike="noStrike">
                <a:solidFill>
                  <a:srgbClr val="304852"/>
                </a:solidFill>
                <a:latin typeface="Cabin"/>
                <a:ea typeface="Cabin"/>
                <a:cs typeface="Cabin"/>
                <a:sym typeface="Cabin"/>
              </a:rPr>
              <a:t>Orient to a simulation that we can use to help us collect data on some of these other collision conditions.</a:t>
            </a:r>
            <a:endParaRPr b="0" i="0" sz="3100" u="none" cap="none" strike="noStrike">
              <a:solidFill>
                <a:srgbClr val="304852"/>
              </a:solidFill>
              <a:latin typeface="Cabin"/>
              <a:ea typeface="Cabin"/>
              <a:cs typeface="Cabin"/>
              <a:sym typeface="Cabin"/>
            </a:endParaRPr>
          </a:p>
        </p:txBody>
      </p:sp>
      <p:pic>
        <p:nvPicPr>
          <p:cNvPr id="84" name="Google Shape;84;p16"/>
          <p:cNvPicPr preferRelativeResize="0"/>
          <p:nvPr/>
        </p:nvPicPr>
        <p:blipFill rotWithShape="1">
          <a:blip r:embed="rId3">
            <a:alphaModFix/>
          </a:blip>
          <a:srcRect b="0" l="0" r="0" t="0"/>
          <a:stretch/>
        </p:blipFill>
        <p:spPr>
          <a:xfrm>
            <a:off x="667951" y="1706450"/>
            <a:ext cx="1512475" cy="1542125"/>
          </a:xfrm>
          <a:prstGeom prst="rect">
            <a:avLst/>
          </a:prstGeom>
          <a:noFill/>
          <a:ln>
            <a:noFill/>
          </a:ln>
        </p:spPr>
      </p:pic>
      <p:sp>
        <p:nvSpPr>
          <p:cNvPr id="85" name="Google Shape;85;p16"/>
          <p:cNvSpPr txBox="1"/>
          <p:nvPr/>
        </p:nvSpPr>
        <p:spPr>
          <a:xfrm>
            <a:off x="2391225" y="1554050"/>
            <a:ext cx="37488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3400"/>
              <a:buFont typeface="Arial"/>
              <a:buNone/>
            </a:pPr>
            <a:r>
              <a:rPr b="1" i="0" lang="en" sz="3400" u="none" cap="none" strike="noStrike">
                <a:solidFill>
                  <a:srgbClr val="304852"/>
                </a:solidFill>
                <a:latin typeface="Open Sans"/>
                <a:ea typeface="Open Sans"/>
                <a:cs typeface="Open Sans"/>
                <a:sym typeface="Open Sans"/>
              </a:rPr>
              <a:t>With Your Class</a:t>
            </a:r>
            <a:endParaRPr b="0" i="0" sz="1400" u="none" cap="none" strike="noStrike">
              <a:solidFill>
                <a:srgbClr val="000000"/>
              </a:solidFill>
              <a:latin typeface="Arial"/>
              <a:ea typeface="Arial"/>
              <a:cs typeface="Arial"/>
              <a:sym typeface="Arial"/>
            </a:endParaRPr>
          </a:p>
        </p:txBody>
      </p:sp>
      <p:pic>
        <p:nvPicPr>
          <p:cNvPr id="86" name="Google Shape;86;p16"/>
          <p:cNvPicPr preferRelativeResize="0"/>
          <p:nvPr/>
        </p:nvPicPr>
        <p:blipFill rotWithShape="1">
          <a:blip r:embed="rId4">
            <a:alphaModFix/>
          </a:blip>
          <a:srcRect b="4187" l="0" r="0" t="0"/>
          <a:stretch/>
        </p:blipFill>
        <p:spPr>
          <a:xfrm>
            <a:off x="1622675" y="3818475"/>
            <a:ext cx="5790900" cy="2759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p:nvPr/>
        </p:nvSpPr>
        <p:spPr>
          <a:xfrm>
            <a:off x="457200" y="1552575"/>
            <a:ext cx="8229600" cy="48387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92" name="Google Shape;92;p17"/>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Carry out an investigation</a:t>
            </a:r>
            <a:endParaRPr/>
          </a:p>
        </p:txBody>
      </p:sp>
      <p:sp>
        <p:nvSpPr>
          <p:cNvPr id="93" name="Google Shape;93;p17"/>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C</a:t>
            </a:r>
            <a:endParaRPr b="0" sz="1500"/>
          </a:p>
        </p:txBody>
      </p:sp>
      <p:sp>
        <p:nvSpPr>
          <p:cNvPr id="94" name="Google Shape;94;p17"/>
          <p:cNvSpPr txBox="1"/>
          <p:nvPr/>
        </p:nvSpPr>
        <p:spPr>
          <a:xfrm>
            <a:off x="2172500" y="1743725"/>
            <a:ext cx="6405000" cy="1673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3200"/>
              <a:buFont typeface="Arial"/>
              <a:buNone/>
            </a:pPr>
            <a:r>
              <a:rPr b="1" i="0" lang="en" sz="3200" u="none" cap="none" strike="noStrike">
                <a:solidFill>
                  <a:srgbClr val="304852"/>
                </a:solidFill>
                <a:latin typeface="Open Sans"/>
                <a:ea typeface="Open Sans"/>
                <a:cs typeface="Open Sans"/>
                <a:sym typeface="Open Sans"/>
              </a:rPr>
              <a:t>With a partner</a:t>
            </a:r>
            <a:endParaRPr b="0" i="0" sz="20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Use the simulation to test at least one elastic collision and one inelastic collision</a:t>
            </a:r>
            <a:endParaRPr b="0" i="0" sz="3300" u="none" cap="none" strike="noStrike">
              <a:solidFill>
                <a:srgbClr val="304852"/>
              </a:solidFill>
              <a:latin typeface="Cabin"/>
              <a:ea typeface="Cabin"/>
              <a:cs typeface="Cabin"/>
              <a:sym typeface="Cabin"/>
            </a:endParaRPr>
          </a:p>
        </p:txBody>
      </p:sp>
      <p:pic>
        <p:nvPicPr>
          <p:cNvPr id="95" name="Google Shape;95;p17"/>
          <p:cNvPicPr preferRelativeResize="0"/>
          <p:nvPr/>
        </p:nvPicPr>
        <p:blipFill rotWithShape="1">
          <a:blip r:embed="rId3">
            <a:alphaModFix/>
          </a:blip>
          <a:srcRect b="0" l="0" r="0" t="0"/>
          <a:stretch/>
        </p:blipFill>
        <p:spPr>
          <a:xfrm>
            <a:off x="803225" y="1863175"/>
            <a:ext cx="1105600" cy="1303850"/>
          </a:xfrm>
          <a:prstGeom prst="rect">
            <a:avLst/>
          </a:prstGeom>
          <a:noFill/>
          <a:ln>
            <a:noFill/>
          </a:ln>
        </p:spPr>
      </p:pic>
      <p:sp>
        <p:nvSpPr>
          <p:cNvPr id="96" name="Google Shape;96;p17"/>
          <p:cNvSpPr txBox="1"/>
          <p:nvPr/>
        </p:nvSpPr>
        <p:spPr>
          <a:xfrm>
            <a:off x="877500" y="4161500"/>
            <a:ext cx="7389000" cy="2160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For each collision record the following:</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100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The type of collision</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The mass of each cart</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The starting velocities of each cart</a:t>
            </a:r>
            <a:endParaRPr b="0" i="0" sz="2400" u="none" cap="none" strike="noStrike">
              <a:solidFill>
                <a:srgbClr val="304852"/>
              </a:solidFill>
              <a:latin typeface="Cabin"/>
              <a:ea typeface="Cabin"/>
              <a:cs typeface="Cabin"/>
              <a:sym typeface="Cabin"/>
            </a:endParaRPr>
          </a:p>
          <a:p>
            <a:pPr indent="-381000" lvl="0" marL="457200" marR="0" rtl="0" algn="l">
              <a:lnSpc>
                <a:spcPct val="100000"/>
              </a:lnSpc>
              <a:spcBef>
                <a:spcPts val="0"/>
              </a:spcBef>
              <a:spcAft>
                <a:spcPts val="0"/>
              </a:spcAft>
              <a:buClr>
                <a:srgbClr val="304852"/>
              </a:buClr>
              <a:buSzPts val="2400"/>
              <a:buFont typeface="Cabin"/>
              <a:buChar char="●"/>
            </a:pPr>
            <a:r>
              <a:rPr b="0" i="0" lang="en" sz="2400" u="none" cap="none" strike="noStrike">
                <a:solidFill>
                  <a:srgbClr val="304852"/>
                </a:solidFill>
                <a:latin typeface="Cabin"/>
                <a:ea typeface="Cabin"/>
                <a:cs typeface="Cabin"/>
                <a:sym typeface="Cabin"/>
              </a:rPr>
              <a:t>The final velocities of each cart</a:t>
            </a:r>
            <a:endParaRPr b="0" i="0" sz="2400" u="none" cap="none" strike="noStrike">
              <a:solidFill>
                <a:srgbClr val="304852"/>
              </a:solidFill>
              <a:latin typeface="Cabin"/>
              <a:ea typeface="Cabin"/>
              <a:cs typeface="Cabin"/>
              <a:sym typeface="Cabin"/>
            </a:endParaRPr>
          </a:p>
        </p:txBody>
      </p:sp>
      <p:sp>
        <p:nvSpPr>
          <p:cNvPr id="97" name="Google Shape;97;p17"/>
          <p:cNvSpPr txBox="1"/>
          <p:nvPr/>
        </p:nvSpPr>
        <p:spPr>
          <a:xfrm>
            <a:off x="803225" y="3376100"/>
            <a:ext cx="6303900" cy="813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1900"/>
              <a:buFont typeface="Arial"/>
              <a:buNone/>
            </a:pPr>
            <a:r>
              <a:rPr b="0" i="0" lang="en" sz="1900" u="sng" cap="none" strike="noStrike">
                <a:solidFill>
                  <a:schemeClr val="hlink"/>
                </a:solidFill>
                <a:latin typeface="Arial"/>
                <a:ea typeface="Arial"/>
                <a:cs typeface="Arial"/>
                <a:sym typeface="Arial"/>
                <a:hlinkClick r:id="rId4"/>
              </a:rPr>
              <a:t>https://openscied-static.s3.amazonaws.com/HTML+Files/Inelastic+and+Elastic+Collisions.html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p:nvPr/>
        </p:nvSpPr>
        <p:spPr>
          <a:xfrm>
            <a:off x="457200" y="1552575"/>
            <a:ext cx="8229600" cy="46473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03" name="Google Shape;103;p18"/>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Test our model</a:t>
            </a:r>
            <a:endParaRPr/>
          </a:p>
        </p:txBody>
      </p:sp>
      <p:sp>
        <p:nvSpPr>
          <p:cNvPr id="104" name="Google Shape;104;p18"/>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D</a:t>
            </a:r>
            <a:endParaRPr b="0" sz="1500"/>
          </a:p>
        </p:txBody>
      </p:sp>
      <p:sp>
        <p:nvSpPr>
          <p:cNvPr id="105" name="Google Shape;105;p18"/>
          <p:cNvSpPr txBox="1"/>
          <p:nvPr/>
        </p:nvSpPr>
        <p:spPr>
          <a:xfrm>
            <a:off x="2100250" y="1743725"/>
            <a:ext cx="6366300" cy="3638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800"/>
              <a:buFont typeface="Arial"/>
              <a:buNone/>
            </a:pPr>
            <a:r>
              <a:rPr b="1" i="0" lang="en" sz="2800" u="none" cap="none" strike="noStrike">
                <a:solidFill>
                  <a:srgbClr val="304852"/>
                </a:solidFill>
                <a:latin typeface="Open Sans"/>
                <a:ea typeface="Open Sans"/>
                <a:cs typeface="Open Sans"/>
                <a:sym typeface="Open Sans"/>
              </a:rPr>
              <a:t>With a partner</a:t>
            </a:r>
            <a:endParaRPr b="0" i="0" sz="1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Does the mathematical relationship we discovered for Collisions E and F hold for none, one, or both of the collisions you tested in the simulation? </a:t>
            </a:r>
            <a:endParaRPr b="0" i="0" sz="2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600"/>
              <a:buFont typeface="Arial"/>
              <a:buNone/>
            </a:pPr>
            <a:r>
              <a:rPr b="0" i="0" lang="en" sz="2600" u="none" cap="none" strike="noStrike">
                <a:solidFill>
                  <a:srgbClr val="304852"/>
                </a:solidFill>
                <a:latin typeface="Cabin"/>
                <a:ea typeface="Cabin"/>
                <a:cs typeface="Cabin"/>
                <a:sym typeface="Cabin"/>
              </a:rPr>
              <a:t>Use a white board to document your mathematical thinking for this. </a:t>
            </a:r>
            <a:endParaRPr b="0" i="0" sz="2600" u="none" cap="none" strike="noStrike">
              <a:solidFill>
                <a:srgbClr val="304852"/>
              </a:solidFill>
              <a:latin typeface="Cabin"/>
              <a:ea typeface="Cabin"/>
              <a:cs typeface="Cabin"/>
              <a:sym typeface="Cabin"/>
            </a:endParaRPr>
          </a:p>
        </p:txBody>
      </p:sp>
      <p:pic>
        <p:nvPicPr>
          <p:cNvPr id="106" name="Google Shape;106;p18"/>
          <p:cNvPicPr preferRelativeResize="0"/>
          <p:nvPr/>
        </p:nvPicPr>
        <p:blipFill rotWithShape="1">
          <a:blip r:embed="rId3">
            <a:alphaModFix/>
          </a:blip>
          <a:srcRect b="0" l="0" r="0" t="0"/>
          <a:stretch/>
        </p:blipFill>
        <p:spPr>
          <a:xfrm>
            <a:off x="784150" y="1831400"/>
            <a:ext cx="1105600" cy="1303850"/>
          </a:xfrm>
          <a:prstGeom prst="rect">
            <a:avLst/>
          </a:prstGeom>
          <a:noFill/>
          <a:ln>
            <a:noFill/>
          </a:ln>
        </p:spPr>
      </p:pic>
      <p:sp>
        <p:nvSpPr>
          <p:cNvPr id="107" name="Google Shape;107;p18"/>
          <p:cNvSpPr txBox="1"/>
          <p:nvPr/>
        </p:nvSpPr>
        <p:spPr>
          <a:xfrm rot="-126666">
            <a:off x="3978432" y="5596913"/>
            <a:ext cx="4324435" cy="904524"/>
          </a:xfrm>
          <a:prstGeom prst="rect">
            <a:avLst/>
          </a:prstGeom>
          <a:solidFill>
            <a:schemeClr val="lt1"/>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whiteboard with the whole class.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p:nvPr/>
        </p:nvSpPr>
        <p:spPr>
          <a:xfrm>
            <a:off x="457200" y="1552575"/>
            <a:ext cx="8229600" cy="36006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13" name="Google Shape;113;p19"/>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Use mathematical thinking</a:t>
            </a:r>
            <a:endParaRPr/>
          </a:p>
        </p:txBody>
      </p:sp>
      <p:sp>
        <p:nvSpPr>
          <p:cNvPr id="114" name="Google Shape;114;p19"/>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E</a:t>
            </a:r>
            <a:endParaRPr b="0" sz="1500"/>
          </a:p>
        </p:txBody>
      </p:sp>
      <p:sp>
        <p:nvSpPr>
          <p:cNvPr id="115" name="Google Shape;115;p19"/>
          <p:cNvSpPr txBox="1"/>
          <p:nvPr/>
        </p:nvSpPr>
        <p:spPr>
          <a:xfrm>
            <a:off x="2100250" y="1743725"/>
            <a:ext cx="6510300" cy="2726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800"/>
              <a:buFont typeface="Arial"/>
              <a:buNone/>
            </a:pPr>
            <a:r>
              <a:rPr b="1" i="0" lang="en" sz="2800" u="none" cap="none" strike="noStrike">
                <a:solidFill>
                  <a:srgbClr val="304852"/>
                </a:solidFill>
                <a:latin typeface="Open Sans"/>
                <a:ea typeface="Open Sans"/>
                <a:cs typeface="Open Sans"/>
                <a:sym typeface="Open Sans"/>
              </a:rPr>
              <a:t>With a partner</a:t>
            </a:r>
            <a:endParaRPr b="0" i="0" sz="16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Try to simplify the mathematical relationship we figured out so that it no longer has fractions. W</a:t>
            </a:r>
            <a:r>
              <a:rPr b="0" i="1" lang="en" sz="2800" u="none" cap="none" strike="noStrike">
                <a:solidFill>
                  <a:srgbClr val="304852"/>
                </a:solidFill>
                <a:latin typeface="Cabin"/>
                <a:ea typeface="Cabin"/>
                <a:cs typeface="Cabin"/>
                <a:sym typeface="Cabin"/>
              </a:rPr>
              <a:t>hat can you do to move the variables out of the denominators?</a:t>
            </a:r>
            <a:endParaRPr b="0" i="0" sz="2800" u="none" cap="none" strike="noStrike">
              <a:solidFill>
                <a:srgbClr val="304852"/>
              </a:solidFill>
              <a:latin typeface="Cabin"/>
              <a:ea typeface="Cabin"/>
              <a:cs typeface="Cabin"/>
              <a:sym typeface="Cabin"/>
            </a:endParaRPr>
          </a:p>
        </p:txBody>
      </p:sp>
      <p:sp>
        <p:nvSpPr>
          <p:cNvPr id="116" name="Google Shape;116;p19"/>
          <p:cNvSpPr txBox="1"/>
          <p:nvPr/>
        </p:nvSpPr>
        <p:spPr>
          <a:xfrm rot="-126666">
            <a:off x="3978432" y="4682513"/>
            <a:ext cx="4324435" cy="904524"/>
          </a:xfrm>
          <a:prstGeom prst="rect">
            <a:avLst/>
          </a:prstGeom>
          <a:solidFill>
            <a:schemeClr val="lt1"/>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your whiteboard with the whole class.</a:t>
            </a:r>
            <a:endParaRPr b="0" i="0" sz="2200" u="none" cap="none" strike="noStrike">
              <a:solidFill>
                <a:srgbClr val="304852"/>
              </a:solidFill>
              <a:latin typeface="Cabin Condensed"/>
              <a:ea typeface="Cabin Condensed"/>
              <a:cs typeface="Cabin Condensed"/>
              <a:sym typeface="Cabin Condensed"/>
            </a:endParaRPr>
          </a:p>
        </p:txBody>
      </p:sp>
      <p:pic>
        <p:nvPicPr>
          <p:cNvPr id="117" name="Google Shape;117;p19"/>
          <p:cNvPicPr preferRelativeResize="0"/>
          <p:nvPr/>
        </p:nvPicPr>
        <p:blipFill rotWithShape="1">
          <a:blip r:embed="rId3">
            <a:alphaModFix/>
          </a:blip>
          <a:srcRect b="0" l="0" r="0" t="0"/>
          <a:stretch/>
        </p:blipFill>
        <p:spPr>
          <a:xfrm>
            <a:off x="784150" y="1831400"/>
            <a:ext cx="1105600" cy="1303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0"/>
          <p:cNvSpPr/>
          <p:nvPr/>
        </p:nvSpPr>
        <p:spPr>
          <a:xfrm>
            <a:off x="457200" y="1552575"/>
            <a:ext cx="8229600" cy="31815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23" name="Google Shape;123;p20"/>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Recalling other conserved quantities</a:t>
            </a:r>
            <a:endParaRPr/>
          </a:p>
        </p:txBody>
      </p:sp>
      <p:sp>
        <p:nvSpPr>
          <p:cNvPr id="124" name="Google Shape;124;p20"/>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F</a:t>
            </a:r>
            <a:endParaRPr b="0" sz="1500"/>
          </a:p>
        </p:txBody>
      </p:sp>
      <p:sp>
        <p:nvSpPr>
          <p:cNvPr id="125" name="Google Shape;125;p20"/>
          <p:cNvSpPr txBox="1"/>
          <p:nvPr/>
        </p:nvSpPr>
        <p:spPr>
          <a:xfrm>
            <a:off x="2348050" y="1786925"/>
            <a:ext cx="6113700" cy="2301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3200"/>
              <a:buFont typeface="Arial"/>
              <a:buNone/>
            </a:pPr>
            <a:r>
              <a:rPr b="1" i="0" lang="en" sz="3200" u="none" cap="none" strike="noStrike">
                <a:solidFill>
                  <a:srgbClr val="304852"/>
                </a:solidFill>
                <a:latin typeface="Open Sans"/>
                <a:ea typeface="Open Sans"/>
                <a:cs typeface="Open Sans"/>
                <a:sym typeface="Open Sans"/>
              </a:rPr>
              <a:t>Turn and Talk </a:t>
            </a:r>
            <a:endParaRPr b="0" i="0" sz="20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Based on our work in prior units, what are some other physical quantities that are conserved?</a:t>
            </a:r>
            <a:endParaRPr b="0" i="0" sz="2800" u="none" cap="none" strike="noStrike">
              <a:solidFill>
                <a:srgbClr val="304852"/>
              </a:solidFill>
              <a:latin typeface="Cabin"/>
              <a:ea typeface="Cabin"/>
              <a:cs typeface="Cabin"/>
              <a:sym typeface="Cabin"/>
            </a:endParaRPr>
          </a:p>
        </p:txBody>
      </p:sp>
      <p:pic>
        <p:nvPicPr>
          <p:cNvPr id="126" name="Google Shape;126;p20"/>
          <p:cNvPicPr preferRelativeResize="0"/>
          <p:nvPr/>
        </p:nvPicPr>
        <p:blipFill rotWithShape="1">
          <a:blip r:embed="rId3">
            <a:alphaModFix/>
          </a:blip>
          <a:srcRect b="0" l="0" r="0" t="0"/>
          <a:stretch/>
        </p:blipFill>
        <p:spPr>
          <a:xfrm>
            <a:off x="648725" y="1848100"/>
            <a:ext cx="1436050" cy="1191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p:nvPr/>
        </p:nvSpPr>
        <p:spPr>
          <a:xfrm>
            <a:off x="457200" y="1394450"/>
            <a:ext cx="8229600" cy="50790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32" name="Google Shape;132;p21"/>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Use mathematical thinking</a:t>
            </a:r>
            <a:endParaRPr/>
          </a:p>
        </p:txBody>
      </p:sp>
      <p:sp>
        <p:nvSpPr>
          <p:cNvPr id="133" name="Google Shape;133;p21"/>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G</a:t>
            </a:r>
            <a:endParaRPr b="0" sz="1500"/>
          </a:p>
        </p:txBody>
      </p:sp>
      <p:pic>
        <p:nvPicPr>
          <p:cNvPr id="134" name="Google Shape;134;p21"/>
          <p:cNvPicPr preferRelativeResize="0"/>
          <p:nvPr/>
        </p:nvPicPr>
        <p:blipFill rotWithShape="1">
          <a:blip r:embed="rId3">
            <a:alphaModFix/>
          </a:blip>
          <a:srcRect b="0" l="0" r="0" t="0"/>
          <a:stretch/>
        </p:blipFill>
        <p:spPr>
          <a:xfrm>
            <a:off x="728575" y="1681600"/>
            <a:ext cx="1093500" cy="1114925"/>
          </a:xfrm>
          <a:prstGeom prst="rect">
            <a:avLst/>
          </a:prstGeom>
          <a:noFill/>
          <a:ln>
            <a:noFill/>
          </a:ln>
        </p:spPr>
      </p:pic>
      <p:sp>
        <p:nvSpPr>
          <p:cNvPr id="135" name="Google Shape;135;p21"/>
          <p:cNvSpPr txBox="1"/>
          <p:nvPr/>
        </p:nvSpPr>
        <p:spPr>
          <a:xfrm>
            <a:off x="2290925" y="1515125"/>
            <a:ext cx="6396000" cy="4845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800"/>
              <a:buFont typeface="Arial"/>
              <a:buNone/>
            </a:pPr>
            <a:r>
              <a:rPr b="1" i="0" lang="en" sz="2800" u="none" cap="none" strike="noStrike">
                <a:solidFill>
                  <a:srgbClr val="304852"/>
                </a:solidFill>
                <a:latin typeface="Open Sans"/>
                <a:ea typeface="Open Sans"/>
                <a:cs typeface="Open Sans"/>
                <a:sym typeface="Open Sans"/>
              </a:rPr>
              <a:t>With Your Class</a:t>
            </a:r>
            <a:endParaRPr b="0" i="0" sz="1600" u="none" cap="none" strike="noStrike">
              <a:solidFill>
                <a:srgbClr val="304852"/>
              </a:solidFill>
              <a:latin typeface="Open Sans"/>
              <a:ea typeface="Open Sans"/>
              <a:cs typeface="Open Sans"/>
              <a:sym typeface="Open Sans"/>
            </a:endParaRPr>
          </a:p>
          <a:p>
            <a:pPr indent="0" lvl="0" marL="0" marR="0" rtl="0" algn="l">
              <a:lnSpc>
                <a:spcPct val="115000"/>
              </a:lnSpc>
              <a:spcBef>
                <a:spcPts val="100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Prepare to develop a </a:t>
            </a:r>
            <a:r>
              <a:rPr b="0" i="0" lang="en" sz="2800" u="sng" cap="none" strike="noStrike">
                <a:solidFill>
                  <a:srgbClr val="304852"/>
                </a:solidFill>
                <a:latin typeface="Cabin"/>
                <a:ea typeface="Cabin"/>
                <a:cs typeface="Cabin"/>
                <a:sym typeface="Cabin"/>
              </a:rPr>
              <a:t>geometric way</a:t>
            </a:r>
            <a:r>
              <a:rPr b="0" i="0" lang="en" sz="2800" u="none" cap="none" strike="noStrike">
                <a:solidFill>
                  <a:srgbClr val="304852"/>
                </a:solidFill>
                <a:latin typeface="Cabin"/>
                <a:ea typeface="Cabin"/>
                <a:cs typeface="Cabin"/>
                <a:sym typeface="Cabin"/>
              </a:rPr>
              <a:t> to visualize the quantity that is conserved (</a:t>
            </a:r>
            <a:r>
              <a:rPr b="0" i="1" lang="en" sz="2800" u="none" cap="none" strike="noStrike">
                <a:solidFill>
                  <a:srgbClr val="304852"/>
                </a:solidFill>
                <a:latin typeface="Cabin"/>
                <a:ea typeface="Cabin"/>
                <a:cs typeface="Cabin"/>
                <a:sym typeface="Cabin"/>
              </a:rPr>
              <a:t>m * Δv</a:t>
            </a:r>
            <a:r>
              <a:rPr b="0" i="0" lang="en" sz="2800" u="none" cap="none" strike="noStrike">
                <a:solidFill>
                  <a:srgbClr val="304852"/>
                </a:solidFill>
                <a:latin typeface="Cabin"/>
                <a:ea typeface="Cabin"/>
                <a:cs typeface="Cabin"/>
                <a:sym typeface="Cabin"/>
              </a:rPr>
              <a:t>)</a:t>
            </a:r>
            <a:endParaRPr b="0" i="0" sz="2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1400"/>
              <a:buFont typeface="Arial"/>
              <a:buNone/>
            </a:pPr>
            <a:r>
              <a:t/>
            </a:r>
            <a:endParaRPr b="0" i="0" sz="14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rPr b="1" i="0" lang="en" sz="2800" u="none" cap="none" strike="noStrike">
                <a:solidFill>
                  <a:srgbClr val="304852"/>
                </a:solidFill>
                <a:latin typeface="Open Sans"/>
                <a:ea typeface="Open Sans"/>
                <a:cs typeface="Open Sans"/>
                <a:sym typeface="Open Sans"/>
              </a:rPr>
              <a:t>Turn and Talk</a:t>
            </a:r>
            <a:endParaRPr b="1" i="0" sz="2800" u="none" cap="none" strike="noStrike">
              <a:solidFill>
                <a:srgbClr val="304852"/>
              </a:solidFill>
              <a:latin typeface="Open Sans"/>
              <a:ea typeface="Open Sans"/>
              <a:cs typeface="Open Sans"/>
              <a:sym typeface="Open Sans"/>
            </a:endParaRPr>
          </a:p>
          <a:p>
            <a:pPr indent="0" lvl="0" marL="0" marR="0" rtl="0" algn="l">
              <a:lnSpc>
                <a:spcPct val="115000"/>
              </a:lnSpc>
              <a:spcBef>
                <a:spcPts val="100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What are some </a:t>
            </a:r>
            <a:r>
              <a:rPr b="0" i="0" lang="en" sz="2800" u="sng" cap="none" strike="noStrike">
                <a:solidFill>
                  <a:srgbClr val="304852"/>
                </a:solidFill>
                <a:latin typeface="Cabin"/>
                <a:ea typeface="Cabin"/>
                <a:cs typeface="Cabin"/>
                <a:sym typeface="Cabin"/>
              </a:rPr>
              <a:t>shapes</a:t>
            </a:r>
            <a:r>
              <a:rPr b="0" i="0" lang="en" sz="2800" u="none" cap="none" strike="noStrike">
                <a:solidFill>
                  <a:srgbClr val="304852"/>
                </a:solidFill>
                <a:latin typeface="Cabin"/>
                <a:ea typeface="Cabin"/>
                <a:cs typeface="Cabin"/>
                <a:sym typeface="Cabin"/>
              </a:rPr>
              <a:t> you’ve used in the past to represent the quantity that is the product of two variables (a * b)?</a:t>
            </a:r>
            <a:endParaRPr b="0" i="0" sz="2800" u="none" cap="none" strike="noStrike">
              <a:solidFill>
                <a:srgbClr val="304852"/>
              </a:solidFill>
              <a:latin typeface="Cabin"/>
              <a:ea typeface="Cabin"/>
              <a:cs typeface="Cabin"/>
              <a:sym typeface="Cabin"/>
            </a:endParaRPr>
          </a:p>
        </p:txBody>
      </p:sp>
      <p:pic>
        <p:nvPicPr>
          <p:cNvPr id="136" name="Google Shape;136;p21"/>
          <p:cNvPicPr preferRelativeResize="0"/>
          <p:nvPr/>
        </p:nvPicPr>
        <p:blipFill rotWithShape="1">
          <a:blip r:embed="rId4">
            <a:alphaModFix/>
          </a:blip>
          <a:srcRect b="0" l="0" r="0" t="0"/>
          <a:stretch/>
        </p:blipFill>
        <p:spPr>
          <a:xfrm>
            <a:off x="706000" y="4257050"/>
            <a:ext cx="1436050" cy="11912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p:nvPr/>
        </p:nvSpPr>
        <p:spPr>
          <a:xfrm>
            <a:off x="457200" y="1546850"/>
            <a:ext cx="8229600" cy="43260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42" name="Google Shape;142;p22"/>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Use mathematical thinking</a:t>
            </a:r>
            <a:endParaRPr/>
          </a:p>
        </p:txBody>
      </p:sp>
      <p:sp>
        <p:nvSpPr>
          <p:cNvPr id="143" name="Google Shape;143;p22"/>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H</a:t>
            </a:r>
            <a:endParaRPr b="0" sz="1500"/>
          </a:p>
        </p:txBody>
      </p:sp>
      <p:sp>
        <p:nvSpPr>
          <p:cNvPr id="144" name="Google Shape;144;p22"/>
          <p:cNvSpPr txBox="1"/>
          <p:nvPr/>
        </p:nvSpPr>
        <p:spPr>
          <a:xfrm>
            <a:off x="2628900" y="1667525"/>
            <a:ext cx="6057900" cy="3846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800"/>
              <a:buFont typeface="Arial"/>
              <a:buNone/>
            </a:pPr>
            <a:r>
              <a:rPr b="1" i="0" lang="en" sz="2800" u="none" cap="none" strike="noStrike">
                <a:solidFill>
                  <a:srgbClr val="304852"/>
                </a:solidFill>
                <a:latin typeface="Open Sans"/>
                <a:ea typeface="Open Sans"/>
                <a:cs typeface="Open Sans"/>
                <a:sym typeface="Open Sans"/>
              </a:rPr>
              <a:t>With Your Class</a:t>
            </a:r>
            <a:endParaRPr b="0" i="0" sz="1600" u="none" cap="none" strike="noStrike">
              <a:solidFill>
                <a:srgbClr val="304852"/>
              </a:solidFill>
              <a:latin typeface="Open Sans"/>
              <a:ea typeface="Open Sans"/>
              <a:cs typeface="Open Sans"/>
              <a:sym typeface="Open Sans"/>
            </a:endParaRPr>
          </a:p>
          <a:p>
            <a:pPr indent="0" lvl="0" marL="0" marR="0" rtl="0" algn="l">
              <a:lnSpc>
                <a:spcPct val="115000"/>
              </a:lnSpc>
              <a:spcBef>
                <a:spcPts val="100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A 3 kg cart is stationary before a collision and it had a speed of 4 </a:t>
            </a:r>
            <a:r>
              <a:rPr lang="en" sz="2800">
                <a:solidFill>
                  <a:srgbClr val="304852"/>
                </a:solidFill>
                <a:latin typeface="Cabin"/>
                <a:ea typeface="Cabin"/>
                <a:cs typeface="Cabin"/>
                <a:sym typeface="Cabin"/>
              </a:rPr>
              <a:t>m/s</a:t>
            </a:r>
            <a:r>
              <a:rPr b="0" i="0" lang="en" sz="2800" u="none" cap="none" strike="noStrike">
                <a:solidFill>
                  <a:srgbClr val="304852"/>
                </a:solidFill>
                <a:latin typeface="Cabin"/>
                <a:ea typeface="Cabin"/>
                <a:cs typeface="Cabin"/>
                <a:sym typeface="Cabin"/>
              </a:rPr>
              <a:t> after the collision.</a:t>
            </a:r>
            <a:endParaRPr b="0" i="0" sz="2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How would could we use a rectangle to represent the amount of momentum change this object experiences? </a:t>
            </a:r>
            <a:endParaRPr b="0" i="0" sz="2800" u="none" cap="none" strike="noStrike">
              <a:solidFill>
                <a:srgbClr val="304852"/>
              </a:solidFill>
              <a:latin typeface="Cabin"/>
              <a:ea typeface="Cabin"/>
              <a:cs typeface="Cabin"/>
              <a:sym typeface="Cabin"/>
            </a:endParaRPr>
          </a:p>
        </p:txBody>
      </p:sp>
      <p:pic>
        <p:nvPicPr>
          <p:cNvPr id="145" name="Google Shape;145;p22"/>
          <p:cNvPicPr preferRelativeResize="0"/>
          <p:nvPr/>
        </p:nvPicPr>
        <p:blipFill rotWithShape="1">
          <a:blip r:embed="rId3">
            <a:alphaModFix/>
          </a:blip>
          <a:srcRect b="0" l="0" r="0" t="0"/>
          <a:stretch/>
        </p:blipFill>
        <p:spPr>
          <a:xfrm>
            <a:off x="667950" y="1858850"/>
            <a:ext cx="1456125" cy="1484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p:nvPr/>
        </p:nvSpPr>
        <p:spPr>
          <a:xfrm>
            <a:off x="457200" y="1546850"/>
            <a:ext cx="8229600" cy="33066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51" name="Google Shape;151;p23"/>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Evaluate the geometric model</a:t>
            </a:r>
            <a:endParaRPr/>
          </a:p>
        </p:txBody>
      </p:sp>
      <p:sp>
        <p:nvSpPr>
          <p:cNvPr id="152" name="Google Shape;152;p23"/>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I</a:t>
            </a:r>
            <a:endParaRPr b="0" sz="1500"/>
          </a:p>
        </p:txBody>
      </p:sp>
      <p:sp>
        <p:nvSpPr>
          <p:cNvPr id="153" name="Google Shape;153;p23"/>
          <p:cNvSpPr txBox="1"/>
          <p:nvPr/>
        </p:nvSpPr>
        <p:spPr>
          <a:xfrm>
            <a:off x="2383400" y="1743725"/>
            <a:ext cx="5943900" cy="330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900"/>
              <a:buFont typeface="Arial"/>
              <a:buNone/>
            </a:pPr>
            <a:r>
              <a:rPr b="1" i="0" lang="en" sz="2900" u="none" cap="none" strike="noStrike">
                <a:solidFill>
                  <a:srgbClr val="304852"/>
                </a:solidFill>
                <a:latin typeface="Open Sans"/>
                <a:ea typeface="Open Sans"/>
                <a:cs typeface="Open Sans"/>
                <a:sym typeface="Open Sans"/>
              </a:rPr>
              <a:t>With Your Class</a:t>
            </a:r>
            <a:endParaRPr b="0" i="0" sz="1700" u="none" cap="none" strike="noStrike">
              <a:solidFill>
                <a:srgbClr val="304852"/>
              </a:solidFill>
              <a:latin typeface="Cabin"/>
              <a:ea typeface="Cabin"/>
              <a:cs typeface="Cabin"/>
              <a:sym typeface="Cabin"/>
            </a:endParaRPr>
          </a:p>
          <a:p>
            <a:pPr indent="0" lvl="0" marL="0" marR="0" rtl="0" algn="l">
              <a:lnSpc>
                <a:spcPct val="115000"/>
              </a:lnSpc>
              <a:spcBef>
                <a:spcPts val="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What did the geometric representation help us visualize?</a:t>
            </a:r>
            <a:endParaRPr b="0" i="0" sz="2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What were some of the limitations of the geometric representation?</a:t>
            </a:r>
            <a:endParaRPr b="0" i="0" sz="2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1000"/>
              </a:spcAft>
              <a:buClr>
                <a:srgbClr val="000000"/>
              </a:buClr>
              <a:buSzPts val="2400"/>
              <a:buFont typeface="Arial"/>
              <a:buNone/>
            </a:pPr>
            <a:r>
              <a:t/>
            </a:r>
            <a:endParaRPr b="0" i="0" sz="2400" u="none" cap="none" strike="noStrike">
              <a:solidFill>
                <a:srgbClr val="304852"/>
              </a:solidFill>
              <a:latin typeface="Cabin"/>
              <a:ea typeface="Cabin"/>
              <a:cs typeface="Cabin"/>
              <a:sym typeface="Cabin"/>
            </a:endParaRPr>
          </a:p>
        </p:txBody>
      </p:sp>
      <p:pic>
        <p:nvPicPr>
          <p:cNvPr id="154" name="Google Shape;154;p23"/>
          <p:cNvPicPr preferRelativeResize="0"/>
          <p:nvPr/>
        </p:nvPicPr>
        <p:blipFill rotWithShape="1">
          <a:blip r:embed="rId3">
            <a:alphaModFix/>
          </a:blip>
          <a:srcRect b="0" l="0" r="0" t="0"/>
          <a:stretch/>
        </p:blipFill>
        <p:spPr>
          <a:xfrm>
            <a:off x="667950" y="1935050"/>
            <a:ext cx="1456125" cy="1484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4"/>
          <p:cNvSpPr/>
          <p:nvPr/>
        </p:nvSpPr>
        <p:spPr>
          <a:xfrm>
            <a:off x="457200" y="3680450"/>
            <a:ext cx="8229600" cy="22803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60" name="Google Shape;160;p24"/>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Use mathematical thinking</a:t>
            </a:r>
            <a:endParaRPr/>
          </a:p>
        </p:txBody>
      </p:sp>
      <p:sp>
        <p:nvSpPr>
          <p:cNvPr id="161" name="Google Shape;161;p24"/>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J</a:t>
            </a:r>
            <a:endParaRPr b="0" sz="1500"/>
          </a:p>
        </p:txBody>
      </p:sp>
      <p:pic>
        <p:nvPicPr>
          <p:cNvPr id="162" name="Google Shape;162;p24"/>
          <p:cNvPicPr preferRelativeResize="0"/>
          <p:nvPr/>
        </p:nvPicPr>
        <p:blipFill rotWithShape="1">
          <a:blip r:embed="rId3">
            <a:alphaModFix/>
          </a:blip>
          <a:srcRect b="0" l="0" r="0" t="0"/>
          <a:stretch/>
        </p:blipFill>
        <p:spPr>
          <a:xfrm>
            <a:off x="728575" y="3967600"/>
            <a:ext cx="1252625" cy="1277175"/>
          </a:xfrm>
          <a:prstGeom prst="rect">
            <a:avLst/>
          </a:prstGeom>
          <a:noFill/>
          <a:ln>
            <a:noFill/>
          </a:ln>
        </p:spPr>
      </p:pic>
      <p:sp>
        <p:nvSpPr>
          <p:cNvPr id="163" name="Google Shape;163;p24"/>
          <p:cNvSpPr txBox="1"/>
          <p:nvPr/>
        </p:nvSpPr>
        <p:spPr>
          <a:xfrm>
            <a:off x="2290925" y="3801125"/>
            <a:ext cx="6017100" cy="2359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800"/>
              <a:buFont typeface="Arial"/>
              <a:buNone/>
            </a:pPr>
            <a:r>
              <a:rPr b="1" i="0" lang="en" sz="2800" u="none" cap="none" strike="noStrike">
                <a:solidFill>
                  <a:srgbClr val="304852"/>
                </a:solidFill>
                <a:latin typeface="Open Sans"/>
                <a:ea typeface="Open Sans"/>
                <a:cs typeface="Open Sans"/>
                <a:sym typeface="Open Sans"/>
              </a:rPr>
              <a:t>With Your Class</a:t>
            </a:r>
            <a:endParaRPr b="0" i="0" sz="1600" u="none" cap="none" strike="noStrike">
              <a:solidFill>
                <a:srgbClr val="304852"/>
              </a:solidFill>
              <a:latin typeface="Open Sans"/>
              <a:ea typeface="Open Sans"/>
              <a:cs typeface="Open Sans"/>
              <a:sym typeface="Open Sans"/>
            </a:endParaRPr>
          </a:p>
          <a:p>
            <a:pPr indent="0" lvl="0" marL="0" marR="0" rtl="0" algn="l">
              <a:lnSpc>
                <a:spcPct val="115000"/>
              </a:lnSpc>
              <a:spcBef>
                <a:spcPts val="100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How did we use data to determine the change in a single variable (i.e. Δ</a:t>
            </a:r>
            <a:r>
              <a:rPr b="0" i="1" lang="en" sz="2800" u="none" cap="none" strike="noStrike">
                <a:solidFill>
                  <a:srgbClr val="304852"/>
                </a:solidFill>
                <a:latin typeface="Cabin"/>
                <a:ea typeface="Cabin"/>
                <a:cs typeface="Cabin"/>
                <a:sym typeface="Cabin"/>
              </a:rPr>
              <a:t>t, </a:t>
            </a:r>
            <a:r>
              <a:rPr b="0" i="0" lang="en" sz="2800" u="none" cap="none" strike="noStrike">
                <a:solidFill>
                  <a:srgbClr val="304852"/>
                </a:solidFill>
                <a:latin typeface="Cabin"/>
                <a:ea typeface="Cabin"/>
                <a:cs typeface="Cabin"/>
                <a:sym typeface="Cabin"/>
              </a:rPr>
              <a:t>Δ</a:t>
            </a:r>
            <a:r>
              <a:rPr b="0" i="1" lang="en" sz="2800" u="none" cap="none" strike="noStrike">
                <a:solidFill>
                  <a:srgbClr val="304852"/>
                </a:solidFill>
                <a:latin typeface="Cabin"/>
                <a:ea typeface="Cabin"/>
                <a:cs typeface="Cabin"/>
                <a:sym typeface="Cabin"/>
              </a:rPr>
              <a:t>v</a:t>
            </a:r>
            <a:r>
              <a:rPr b="0" i="0" lang="en" sz="2800" u="none" cap="none" strike="noStrike">
                <a:solidFill>
                  <a:srgbClr val="304852"/>
                </a:solidFill>
                <a:latin typeface="Cabin"/>
                <a:ea typeface="Cabin"/>
                <a:cs typeface="Cabin"/>
                <a:sym typeface="Cabin"/>
              </a:rPr>
              <a:t>)?</a:t>
            </a:r>
            <a:endParaRPr b="0" i="0" sz="2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t/>
            </a:r>
            <a:endParaRPr b="0" i="0" sz="2800" u="none" cap="none" strike="noStrike">
              <a:solidFill>
                <a:srgbClr val="304852"/>
              </a:solidFill>
              <a:latin typeface="Cabin"/>
              <a:ea typeface="Cabin"/>
              <a:cs typeface="Cabin"/>
              <a:sym typeface="Cabin"/>
            </a:endParaRPr>
          </a:p>
        </p:txBody>
      </p:sp>
      <p:sp>
        <p:nvSpPr>
          <p:cNvPr id="164" name="Google Shape;164;p24"/>
          <p:cNvSpPr txBox="1"/>
          <p:nvPr/>
        </p:nvSpPr>
        <p:spPr>
          <a:xfrm>
            <a:off x="576850" y="1446400"/>
            <a:ext cx="8043300" cy="19656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15000"/>
              </a:lnSpc>
              <a:spcBef>
                <a:spcPts val="1000"/>
              </a:spcBef>
              <a:spcAft>
                <a:spcPts val="0"/>
              </a:spcAft>
              <a:buClr>
                <a:srgbClr val="304852"/>
              </a:buClr>
              <a:buSzPts val="2600"/>
              <a:buFont typeface="Cabin"/>
              <a:buChar char="●"/>
            </a:pPr>
            <a:r>
              <a:rPr b="0" i="1" lang="en" sz="2600" u="none" cap="none" strike="noStrike">
                <a:solidFill>
                  <a:srgbClr val="304852"/>
                </a:solidFill>
                <a:latin typeface="Cabin"/>
                <a:ea typeface="Cabin"/>
                <a:cs typeface="Cabin"/>
                <a:sym typeface="Cabin"/>
              </a:rPr>
              <a:t>m * </a:t>
            </a:r>
            <a:r>
              <a:rPr b="0" i="0" lang="en" sz="2600" u="none" cap="none" strike="noStrike">
                <a:solidFill>
                  <a:srgbClr val="304852"/>
                </a:solidFill>
                <a:latin typeface="Cabin"/>
                <a:ea typeface="Cabin"/>
                <a:cs typeface="Cabin"/>
                <a:sym typeface="Cabin"/>
              </a:rPr>
              <a:t>Δ</a:t>
            </a:r>
            <a:r>
              <a:rPr b="0" i="1" lang="en" sz="2600" u="none" cap="none" strike="noStrike">
                <a:solidFill>
                  <a:srgbClr val="304852"/>
                </a:solidFill>
                <a:latin typeface="Cabin"/>
                <a:ea typeface="Cabin"/>
                <a:cs typeface="Cabin"/>
                <a:sym typeface="Cabin"/>
              </a:rPr>
              <a:t>v </a:t>
            </a:r>
            <a:r>
              <a:rPr b="0" i="0" lang="en" sz="2600" u="none" cap="none" strike="noStrike">
                <a:solidFill>
                  <a:srgbClr val="304852"/>
                </a:solidFill>
                <a:latin typeface="Cabin"/>
                <a:ea typeface="Cabin"/>
                <a:cs typeface="Cabin"/>
                <a:sym typeface="Cabin"/>
              </a:rPr>
              <a:t>is </a:t>
            </a:r>
            <a:r>
              <a:rPr b="1" i="0" lang="en" sz="2600" u="none" cap="none" strike="noStrike">
                <a:solidFill>
                  <a:srgbClr val="304852"/>
                </a:solidFill>
                <a:latin typeface="Cabin"/>
                <a:ea typeface="Cabin"/>
                <a:cs typeface="Cabin"/>
                <a:sym typeface="Cabin"/>
              </a:rPr>
              <a:t>change</a:t>
            </a:r>
            <a:r>
              <a:rPr b="0" i="0" lang="en" sz="2600" u="none" cap="none" strike="noStrike">
                <a:solidFill>
                  <a:srgbClr val="304852"/>
                </a:solidFill>
                <a:latin typeface="Cabin"/>
                <a:ea typeface="Cabin"/>
                <a:cs typeface="Cabin"/>
                <a:sym typeface="Cabin"/>
              </a:rPr>
              <a:t> in momentum. </a:t>
            </a:r>
            <a:endParaRPr b="0" i="0" sz="2600" u="none" cap="none" strike="noStrike">
              <a:solidFill>
                <a:srgbClr val="304852"/>
              </a:solidFill>
              <a:latin typeface="Cabin"/>
              <a:ea typeface="Cabin"/>
              <a:cs typeface="Cabin"/>
              <a:sym typeface="Cabin"/>
            </a:endParaRPr>
          </a:p>
          <a:p>
            <a:pPr indent="-393700" lvl="0" marL="457200" marR="0" rtl="0" algn="l">
              <a:lnSpc>
                <a:spcPct val="115000"/>
              </a:lnSpc>
              <a:spcBef>
                <a:spcPts val="0"/>
              </a:spcBef>
              <a:spcAft>
                <a:spcPts val="0"/>
              </a:spcAft>
              <a:buClr>
                <a:srgbClr val="304852"/>
              </a:buClr>
              <a:buSzPts val="2600"/>
              <a:buFont typeface="Cabin"/>
              <a:buChar char="●"/>
            </a:pPr>
            <a:r>
              <a:rPr b="0" i="0" lang="en" sz="2600" u="none" cap="none" strike="noStrike">
                <a:solidFill>
                  <a:srgbClr val="304852"/>
                </a:solidFill>
                <a:latin typeface="Cabin"/>
                <a:ea typeface="Cabin"/>
                <a:cs typeface="Cabin"/>
                <a:sym typeface="Cabin"/>
              </a:rPr>
              <a:t>It has two variables as well as a Δ symbol. </a:t>
            </a:r>
            <a:endParaRPr b="0" i="0" sz="2600" u="none" cap="none" strike="noStrike">
              <a:solidFill>
                <a:srgbClr val="304852"/>
              </a:solidFill>
              <a:latin typeface="Cabin"/>
              <a:ea typeface="Cabin"/>
              <a:cs typeface="Cabin"/>
              <a:sym typeface="Cabin"/>
            </a:endParaRPr>
          </a:p>
          <a:p>
            <a:pPr indent="-393700" lvl="0" marL="457200" marR="0" rtl="0" algn="l">
              <a:lnSpc>
                <a:spcPct val="115000"/>
              </a:lnSpc>
              <a:spcBef>
                <a:spcPts val="0"/>
              </a:spcBef>
              <a:spcAft>
                <a:spcPts val="0"/>
              </a:spcAft>
              <a:buClr>
                <a:srgbClr val="304852"/>
              </a:buClr>
              <a:buSzPts val="2600"/>
              <a:buFont typeface="Cabin"/>
              <a:buChar char="●"/>
            </a:pPr>
            <a:r>
              <a:rPr b="0" i="0" lang="en" sz="2600" u="none" cap="none" strike="noStrike">
                <a:solidFill>
                  <a:srgbClr val="304852"/>
                </a:solidFill>
                <a:latin typeface="Cabin"/>
                <a:ea typeface="Cabin"/>
                <a:cs typeface="Cabin"/>
                <a:sym typeface="Cabin"/>
              </a:rPr>
              <a:t>Let’s consider what </a:t>
            </a:r>
            <a:r>
              <a:rPr b="1" i="0" lang="en" sz="2600" u="none" cap="none" strike="noStrike">
                <a:solidFill>
                  <a:srgbClr val="304852"/>
                </a:solidFill>
                <a:latin typeface="Cabin"/>
                <a:ea typeface="Cabin"/>
                <a:cs typeface="Cabin"/>
                <a:sym typeface="Cabin"/>
              </a:rPr>
              <a:t>momentum</a:t>
            </a:r>
            <a:r>
              <a:rPr b="0" i="0" lang="en" sz="2600" u="none" cap="none" strike="noStrike">
                <a:solidFill>
                  <a:srgbClr val="304852"/>
                </a:solidFill>
                <a:latin typeface="Cabin"/>
                <a:ea typeface="Cabin"/>
                <a:cs typeface="Cabin"/>
                <a:sym typeface="Cabin"/>
              </a:rPr>
              <a:t> is, by recalling how we determine the change (Δ) for a single variable.</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p:nvPr/>
        </p:nvSpPr>
        <p:spPr>
          <a:xfrm>
            <a:off x="457200" y="1552575"/>
            <a:ext cx="8229600" cy="4716600"/>
          </a:xfrm>
          <a:prstGeom prst="rect">
            <a:avLst/>
          </a:prstGeom>
          <a:solidFill>
            <a:srgbClr val="FFFFFF"/>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70" name="Google Shape;170;p25"/>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Use mathematical thinking</a:t>
            </a:r>
            <a:endParaRPr/>
          </a:p>
        </p:txBody>
      </p:sp>
      <p:sp>
        <p:nvSpPr>
          <p:cNvPr id="171" name="Google Shape;171;p25"/>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K</a:t>
            </a:r>
            <a:endParaRPr b="0" sz="1500"/>
          </a:p>
        </p:txBody>
      </p:sp>
      <p:sp>
        <p:nvSpPr>
          <p:cNvPr id="172" name="Google Shape;172;p25"/>
          <p:cNvSpPr txBox="1"/>
          <p:nvPr/>
        </p:nvSpPr>
        <p:spPr>
          <a:xfrm>
            <a:off x="2388900" y="1743725"/>
            <a:ext cx="6014400" cy="2098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3200"/>
              <a:buFont typeface="Arial"/>
              <a:buNone/>
            </a:pPr>
            <a:r>
              <a:rPr b="1" i="0" lang="en" sz="3200" u="none" cap="none" strike="noStrike">
                <a:solidFill>
                  <a:srgbClr val="304852"/>
                </a:solidFill>
                <a:latin typeface="Open Sans"/>
                <a:ea typeface="Open Sans"/>
                <a:cs typeface="Open Sans"/>
                <a:sym typeface="Open Sans"/>
              </a:rPr>
              <a:t>With a partner</a:t>
            </a:r>
            <a:endParaRPr b="0" i="0" sz="20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What do our equation(s) predict the velocity of the car will be after the truck hits it in a rear end collision?  What is Δv for the car?</a:t>
            </a:r>
            <a:endParaRPr b="0" i="0" sz="2400" u="none" cap="none" strike="noStrike">
              <a:solidFill>
                <a:srgbClr val="304852"/>
              </a:solidFill>
              <a:latin typeface="Cabin"/>
              <a:ea typeface="Cabin"/>
              <a:cs typeface="Cabin"/>
              <a:sym typeface="Cabin"/>
            </a:endParaRPr>
          </a:p>
        </p:txBody>
      </p:sp>
      <p:graphicFrame>
        <p:nvGraphicFramePr>
          <p:cNvPr id="173" name="Google Shape;173;p25"/>
          <p:cNvGraphicFramePr/>
          <p:nvPr/>
        </p:nvGraphicFramePr>
        <p:xfrm>
          <a:off x="934125" y="4022525"/>
          <a:ext cx="3000000" cy="3000000"/>
        </p:xfrm>
        <a:graphic>
          <a:graphicData uri="http://schemas.openxmlformats.org/drawingml/2006/table">
            <a:tbl>
              <a:tblPr>
                <a:noFill/>
                <a:tableStyleId>{FA8B15F0-0B6F-4E18-9ACA-2B49FCD30EF3}</a:tableStyleId>
              </a:tblPr>
              <a:tblGrid>
                <a:gridCol w="1178250"/>
                <a:gridCol w="1280150"/>
                <a:gridCol w="1920000"/>
                <a:gridCol w="1743800"/>
                <a:gridCol w="1347000"/>
              </a:tblGrid>
              <a:tr h="699275">
                <a:tc>
                  <a:txBody>
                    <a:bodyPr/>
                    <a:lstStyle/>
                    <a:p>
                      <a:pPr indent="0" lvl="0" marL="0" marR="0" rtl="0" algn="ctr">
                        <a:lnSpc>
                          <a:spcPct val="100000"/>
                        </a:lnSpc>
                        <a:spcBef>
                          <a:spcPts val="0"/>
                        </a:spcBef>
                        <a:spcAft>
                          <a:spcPts val="0"/>
                        </a:spcAft>
                        <a:buClr>
                          <a:srgbClr val="000000"/>
                        </a:buClr>
                        <a:buSzPts val="2000"/>
                        <a:buFont typeface="Arial"/>
                        <a:buNone/>
                      </a:pPr>
                      <a:r>
                        <a:rPr lang="en" sz="2000" u="none" cap="none" strike="noStrike"/>
                        <a:t>Vehicle</a:t>
                      </a:r>
                      <a:endParaRPr sz="2000" u="none" cap="none" strike="noStrike"/>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lang="en" sz="2000" u="none" cap="none" strike="noStrike"/>
                        <a:t>Mass</a:t>
                      </a:r>
                      <a:endParaRPr sz="2000" u="none" cap="none" strike="noStrike"/>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lang="en" sz="2000" u="none" cap="none" strike="noStrike"/>
                        <a:t>Velocity before the collision</a:t>
                      </a:r>
                      <a:endParaRPr sz="2000" u="none" cap="none" strike="noStrike"/>
                    </a:p>
                  </a:txBody>
                  <a:tcPr marT="91425" marB="91425"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lang="en" sz="2000" u="none" cap="none" strike="noStrike">
                          <a:solidFill>
                            <a:schemeClr val="dk1"/>
                          </a:solidFill>
                        </a:rPr>
                        <a:t>Velocity after the collision</a:t>
                      </a:r>
                      <a:endParaRPr sz="2000" u="none" cap="none" strike="noStrike"/>
                    </a:p>
                  </a:txBody>
                  <a:tcPr marT="91425" marB="91425" marR="91425" marL="91425">
                    <a:lnR cap="flat" cmpd="sng" w="9525">
                      <a:solidFill>
                        <a:srgbClr val="9E9E9E"/>
                      </a:solidFill>
                      <a:prstDash val="solid"/>
                      <a:round/>
                      <a:headEnd len="sm" w="sm" type="none"/>
                      <a:tailEnd len="sm" w="sm" type="none"/>
                    </a:lnR>
                    <a:solidFill>
                      <a:srgbClr val="D9D9D9"/>
                    </a:solidFill>
                  </a:tcPr>
                </a:tc>
                <a:tc>
                  <a:txBody>
                    <a:bodyPr/>
                    <a:lstStyle/>
                    <a:p>
                      <a:pPr indent="0" lvl="0" marL="0" marR="0" rtl="0" algn="ctr">
                        <a:lnSpc>
                          <a:spcPct val="100000"/>
                        </a:lnSpc>
                        <a:spcBef>
                          <a:spcPts val="0"/>
                        </a:spcBef>
                        <a:spcAft>
                          <a:spcPts val="0"/>
                        </a:spcAft>
                        <a:buClr>
                          <a:schemeClr val="dk1"/>
                        </a:buClr>
                        <a:buSzPts val="1100"/>
                        <a:buFont typeface="Arial"/>
                        <a:buNone/>
                      </a:pPr>
                      <a:r>
                        <a:rPr lang="en" sz="2000" u="none" cap="none" strike="noStrike">
                          <a:solidFill>
                            <a:schemeClr val="dk1"/>
                          </a:solidFill>
                        </a:rPr>
                        <a:t>Δv</a:t>
                      </a:r>
                      <a:endParaRPr sz="20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D9D9"/>
                    </a:solidFill>
                  </a:tcPr>
                </a:tc>
              </a:tr>
              <a:tr h="430300">
                <a:tc>
                  <a:txBody>
                    <a:bodyPr/>
                    <a:lstStyle/>
                    <a:p>
                      <a:pPr indent="0" lvl="0" marL="0" marR="0" rtl="0" algn="ctr">
                        <a:lnSpc>
                          <a:spcPct val="100000"/>
                        </a:lnSpc>
                        <a:spcBef>
                          <a:spcPts val="0"/>
                        </a:spcBef>
                        <a:spcAft>
                          <a:spcPts val="0"/>
                        </a:spcAft>
                        <a:buClr>
                          <a:srgbClr val="000000"/>
                        </a:buClr>
                        <a:buSzPts val="2000"/>
                        <a:buFont typeface="Arial"/>
                        <a:buNone/>
                      </a:pPr>
                      <a:r>
                        <a:rPr lang="en" sz="2000" u="none" cap="none" strike="noStrike">
                          <a:solidFill>
                            <a:schemeClr val="dk1"/>
                          </a:solidFill>
                        </a:rPr>
                        <a:t>truck</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 sz="2000" u="none" cap="none" strike="noStrike"/>
                        <a:t>6000 kg</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 sz="2000" u="none" cap="none" strike="noStrike"/>
                        <a:t>30 mph</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 sz="2000" u="none" cap="none" strike="noStrike">
                          <a:solidFill>
                            <a:schemeClr val="dk1"/>
                          </a:solidFill>
                        </a:rPr>
                        <a:t>23 mph</a:t>
                      </a:r>
                      <a:endParaRPr sz="2000" u="none" cap="none" strike="noStrike"/>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000"/>
                        <a:buFont typeface="Arial"/>
                        <a:buNone/>
                      </a:pPr>
                      <a:r>
                        <a:rPr lang="en" sz="2000" u="none" cap="none" strike="noStrike">
                          <a:solidFill>
                            <a:schemeClr val="dk1"/>
                          </a:solidFill>
                        </a:rPr>
                        <a:t>-7 mph</a:t>
                      </a:r>
                      <a:endParaRPr sz="20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69125">
                <a:tc>
                  <a:txBody>
                    <a:bodyPr/>
                    <a:lstStyle/>
                    <a:p>
                      <a:pPr indent="0" lvl="0" marL="0" marR="0" rtl="0" algn="ctr">
                        <a:lnSpc>
                          <a:spcPct val="100000"/>
                        </a:lnSpc>
                        <a:spcBef>
                          <a:spcPts val="0"/>
                        </a:spcBef>
                        <a:spcAft>
                          <a:spcPts val="0"/>
                        </a:spcAft>
                        <a:buClr>
                          <a:srgbClr val="000000"/>
                        </a:buClr>
                        <a:buSzPts val="2000"/>
                        <a:buFont typeface="Arial"/>
                        <a:buNone/>
                      </a:pPr>
                      <a:r>
                        <a:rPr lang="en" sz="2000" u="none" cap="none" strike="noStrike"/>
                        <a:t>car</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 sz="2000" u="none" cap="none" strike="noStrike"/>
                        <a:t>1000 kg</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lang="en" sz="2000" u="none" cap="none" strike="noStrike">
                          <a:solidFill>
                            <a:schemeClr val="dk1"/>
                          </a:solidFill>
                        </a:rPr>
                        <a:t>3 mph</a:t>
                      </a:r>
                      <a:endParaRPr sz="2000" u="none" cap="none" strike="noStrike"/>
                    </a:p>
                  </a:txBody>
                  <a:tcPr marT="91425" marB="91425" marR="91425" marL="91425"/>
                </a:tc>
                <a:tc>
                  <a:txBody>
                    <a:bodyPr/>
                    <a:lstStyle/>
                    <a:p>
                      <a:pPr indent="0" lvl="0" marL="0" marR="0" rtl="0" algn="ctr">
                        <a:lnSpc>
                          <a:spcPct val="100000"/>
                        </a:lnSpc>
                        <a:spcBef>
                          <a:spcPts val="0"/>
                        </a:spcBef>
                        <a:spcAft>
                          <a:spcPts val="0"/>
                        </a:spcAft>
                        <a:buClr>
                          <a:srgbClr val="000000"/>
                        </a:buClr>
                        <a:buSzPts val="2000"/>
                        <a:buFont typeface="Arial"/>
                        <a:buNone/>
                      </a:pPr>
                      <a:r>
                        <a:rPr b="1" lang="en" sz="2000" u="none" cap="none" strike="noStrike">
                          <a:solidFill>
                            <a:srgbClr val="6AA84F"/>
                          </a:solidFill>
                        </a:rPr>
                        <a:t>?</a:t>
                      </a:r>
                      <a:endParaRPr b="1" sz="2000" u="none" cap="none" strike="noStrike">
                        <a:solidFill>
                          <a:srgbClr val="6AA84F"/>
                        </a:solidFill>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ctr">
                        <a:lnSpc>
                          <a:spcPct val="100000"/>
                        </a:lnSpc>
                        <a:spcBef>
                          <a:spcPts val="0"/>
                        </a:spcBef>
                        <a:spcAft>
                          <a:spcPts val="0"/>
                        </a:spcAft>
                        <a:buClr>
                          <a:srgbClr val="000000"/>
                        </a:buClr>
                        <a:buSzPts val="2000"/>
                        <a:buFont typeface="Arial"/>
                        <a:buNone/>
                      </a:pPr>
                      <a:r>
                        <a:rPr b="1" lang="en" sz="2000" u="none" cap="none" strike="noStrike">
                          <a:solidFill>
                            <a:srgbClr val="71C402"/>
                          </a:solidFill>
                        </a:rPr>
                        <a:t>?</a:t>
                      </a:r>
                      <a:endParaRPr b="1" sz="2000" u="none" cap="none" strike="noStrike">
                        <a:solidFill>
                          <a:srgbClr val="71C402"/>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pic>
        <p:nvPicPr>
          <p:cNvPr id="174" name="Google Shape;174;p25"/>
          <p:cNvPicPr preferRelativeResize="0"/>
          <p:nvPr/>
        </p:nvPicPr>
        <p:blipFill rotWithShape="1">
          <a:blip r:embed="rId3">
            <a:alphaModFix/>
          </a:blip>
          <a:srcRect b="0" l="0" r="0" t="0"/>
          <a:stretch/>
        </p:blipFill>
        <p:spPr>
          <a:xfrm>
            <a:off x="784150" y="1831400"/>
            <a:ext cx="1105600" cy="13038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6"/>
          <p:cNvSpPr/>
          <p:nvPr/>
        </p:nvSpPr>
        <p:spPr>
          <a:xfrm>
            <a:off x="457200" y="1394450"/>
            <a:ext cx="8229600" cy="51210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80" name="Google Shape;180;p26"/>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Add to your personal glossary</a:t>
            </a:r>
            <a:endParaRPr/>
          </a:p>
        </p:txBody>
      </p:sp>
      <p:sp>
        <p:nvSpPr>
          <p:cNvPr id="181" name="Google Shape;181;p26"/>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L</a:t>
            </a:r>
            <a:endParaRPr b="0" sz="1500"/>
          </a:p>
        </p:txBody>
      </p:sp>
      <p:sp>
        <p:nvSpPr>
          <p:cNvPr id="182" name="Google Shape;182;p26"/>
          <p:cNvSpPr txBox="1"/>
          <p:nvPr/>
        </p:nvSpPr>
        <p:spPr>
          <a:xfrm>
            <a:off x="2434800" y="1591325"/>
            <a:ext cx="6135900" cy="4983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900"/>
              <a:buFont typeface="Arial"/>
              <a:buNone/>
            </a:pPr>
            <a:r>
              <a:rPr b="1" i="0" lang="en" sz="2900" u="none" cap="none" strike="noStrike">
                <a:solidFill>
                  <a:srgbClr val="304852"/>
                </a:solidFill>
                <a:latin typeface="Open Sans"/>
                <a:ea typeface="Open Sans"/>
                <a:cs typeface="Open Sans"/>
                <a:sym typeface="Open Sans"/>
              </a:rPr>
              <a:t>On Your Own</a:t>
            </a:r>
            <a:endParaRPr b="0" i="0" sz="1700" u="none" cap="none" strike="noStrike">
              <a:solidFill>
                <a:srgbClr val="304852"/>
              </a:solidFill>
              <a:latin typeface="Open Sans"/>
              <a:ea typeface="Open Sans"/>
              <a:cs typeface="Open Sans"/>
              <a:sym typeface="Open Sans"/>
            </a:endParaRPr>
          </a:p>
          <a:p>
            <a:pPr indent="0" lvl="0" marL="0" marR="0" rtl="0" algn="l">
              <a:lnSpc>
                <a:spcPct val="115000"/>
              </a:lnSpc>
              <a:spcBef>
                <a:spcPts val="1000"/>
              </a:spcBef>
              <a:spcAft>
                <a:spcPts val="0"/>
              </a:spcAft>
              <a:buClr>
                <a:srgbClr val="000000"/>
              </a:buClr>
              <a:buSzPts val="2800"/>
              <a:buFont typeface="Arial"/>
              <a:buNone/>
            </a:pPr>
            <a:r>
              <a:rPr b="0" i="0" lang="en" sz="2800" u="none" cap="none" strike="noStrike">
                <a:solidFill>
                  <a:srgbClr val="304852"/>
                </a:solidFill>
                <a:latin typeface="Cabin"/>
                <a:ea typeface="Cabin"/>
                <a:cs typeface="Cabin"/>
                <a:sym typeface="Cabin"/>
              </a:rPr>
              <a:t>Take a moment to add to or record a new definition for the following terms in your personal glossary:</a:t>
            </a:r>
            <a:endParaRPr b="0" i="0" sz="2800" u="none" cap="none" strike="noStrike">
              <a:solidFill>
                <a:srgbClr val="304852"/>
              </a:solidFill>
              <a:latin typeface="Cabin"/>
              <a:ea typeface="Cabin"/>
              <a:cs typeface="Cabin"/>
              <a:sym typeface="Cabin"/>
            </a:endParaRPr>
          </a:p>
          <a:p>
            <a:pPr indent="-406400" lvl="0" marL="914400" marR="0" rtl="0" algn="l">
              <a:lnSpc>
                <a:spcPct val="115000"/>
              </a:lnSpc>
              <a:spcBef>
                <a:spcPts val="1000"/>
              </a:spcBef>
              <a:spcAft>
                <a:spcPts val="0"/>
              </a:spcAft>
              <a:buClr>
                <a:srgbClr val="304852"/>
              </a:buClr>
              <a:buSzPts val="2800"/>
              <a:buFont typeface="Cabin"/>
              <a:buChar char="●"/>
            </a:pPr>
            <a:r>
              <a:rPr b="0" i="0" lang="en" sz="2800" u="none" cap="none" strike="noStrike">
                <a:solidFill>
                  <a:srgbClr val="304852"/>
                </a:solidFill>
                <a:latin typeface="Cabin"/>
                <a:ea typeface="Cabin"/>
                <a:cs typeface="Cabin"/>
                <a:sym typeface="Cabin"/>
              </a:rPr>
              <a:t>Delta (Δ)</a:t>
            </a:r>
            <a:endParaRPr b="0" i="0" sz="2800" u="none" cap="none" strike="noStrike">
              <a:solidFill>
                <a:srgbClr val="304852"/>
              </a:solidFill>
              <a:latin typeface="Cabin"/>
              <a:ea typeface="Cabin"/>
              <a:cs typeface="Cabin"/>
              <a:sym typeface="Cabin"/>
            </a:endParaRPr>
          </a:p>
          <a:p>
            <a:pPr indent="-406400" lvl="0" marL="914400" marR="0" rtl="0" algn="l">
              <a:lnSpc>
                <a:spcPct val="115000"/>
              </a:lnSpc>
              <a:spcBef>
                <a:spcPts val="0"/>
              </a:spcBef>
              <a:spcAft>
                <a:spcPts val="0"/>
              </a:spcAft>
              <a:buClr>
                <a:srgbClr val="304852"/>
              </a:buClr>
              <a:buSzPts val="2800"/>
              <a:buFont typeface="Cabin"/>
              <a:buChar char="●"/>
            </a:pPr>
            <a:r>
              <a:rPr b="0" i="0" lang="en" sz="2800" u="none" cap="none" strike="noStrike">
                <a:solidFill>
                  <a:srgbClr val="304852"/>
                </a:solidFill>
                <a:latin typeface="Cabin"/>
                <a:ea typeface="Cabin"/>
                <a:cs typeface="Cabin"/>
                <a:sym typeface="Cabin"/>
              </a:rPr>
              <a:t>Elastic collisions</a:t>
            </a:r>
            <a:endParaRPr b="0" i="0" sz="2800" u="none" cap="none" strike="noStrike">
              <a:solidFill>
                <a:srgbClr val="304852"/>
              </a:solidFill>
              <a:latin typeface="Cabin"/>
              <a:ea typeface="Cabin"/>
              <a:cs typeface="Cabin"/>
              <a:sym typeface="Cabin"/>
            </a:endParaRPr>
          </a:p>
          <a:p>
            <a:pPr indent="-406400" lvl="0" marL="914400" marR="0" rtl="0" algn="l">
              <a:lnSpc>
                <a:spcPct val="115000"/>
              </a:lnSpc>
              <a:spcBef>
                <a:spcPts val="0"/>
              </a:spcBef>
              <a:spcAft>
                <a:spcPts val="0"/>
              </a:spcAft>
              <a:buClr>
                <a:srgbClr val="304852"/>
              </a:buClr>
              <a:buSzPts val="2800"/>
              <a:buFont typeface="Cabin"/>
              <a:buChar char="●"/>
            </a:pPr>
            <a:r>
              <a:rPr b="0" i="0" lang="en" sz="2800" u="none" cap="none" strike="noStrike">
                <a:solidFill>
                  <a:srgbClr val="304852"/>
                </a:solidFill>
                <a:latin typeface="Cabin"/>
                <a:ea typeface="Cabin"/>
                <a:cs typeface="Cabin"/>
                <a:sym typeface="Cabin"/>
              </a:rPr>
              <a:t>Inelastic collisions</a:t>
            </a:r>
            <a:endParaRPr b="0" i="0" sz="2800" u="none" cap="none" strike="noStrike">
              <a:solidFill>
                <a:srgbClr val="304852"/>
              </a:solidFill>
              <a:latin typeface="Cabin"/>
              <a:ea typeface="Cabin"/>
              <a:cs typeface="Cabin"/>
              <a:sym typeface="Cabin"/>
            </a:endParaRPr>
          </a:p>
          <a:p>
            <a:pPr indent="-406400" lvl="0" marL="914400" marR="0" rtl="0" algn="l">
              <a:lnSpc>
                <a:spcPct val="115000"/>
              </a:lnSpc>
              <a:spcBef>
                <a:spcPts val="0"/>
              </a:spcBef>
              <a:spcAft>
                <a:spcPts val="0"/>
              </a:spcAft>
              <a:buClr>
                <a:srgbClr val="304852"/>
              </a:buClr>
              <a:buSzPts val="2800"/>
              <a:buFont typeface="Cabin"/>
              <a:buChar char="●"/>
            </a:pPr>
            <a:r>
              <a:rPr b="0" i="0" lang="en" sz="2800" u="none" cap="none" strike="noStrike">
                <a:solidFill>
                  <a:srgbClr val="304852"/>
                </a:solidFill>
                <a:latin typeface="Cabin"/>
                <a:ea typeface="Cabin"/>
                <a:cs typeface="Cabin"/>
                <a:sym typeface="Cabin"/>
              </a:rPr>
              <a:t>Momentum</a:t>
            </a:r>
            <a:endParaRPr b="0" i="0" sz="28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0"/>
              </a:spcAft>
              <a:buClr>
                <a:srgbClr val="000000"/>
              </a:buClr>
              <a:buSzPts val="2800"/>
              <a:buFont typeface="Arial"/>
              <a:buNone/>
            </a:pPr>
            <a:r>
              <a:t/>
            </a:r>
            <a:endParaRPr b="0" i="0" sz="2800" u="none" cap="none" strike="noStrike">
              <a:solidFill>
                <a:srgbClr val="304852"/>
              </a:solidFill>
              <a:latin typeface="Cabin"/>
              <a:ea typeface="Cabin"/>
              <a:cs typeface="Cabin"/>
              <a:sym typeface="Cabin"/>
            </a:endParaRPr>
          </a:p>
        </p:txBody>
      </p:sp>
      <p:pic>
        <p:nvPicPr>
          <p:cNvPr id="183" name="Google Shape;183;p26"/>
          <p:cNvPicPr preferRelativeResize="0"/>
          <p:nvPr/>
        </p:nvPicPr>
        <p:blipFill rotWithShape="1">
          <a:blip r:embed="rId3">
            <a:alphaModFix/>
          </a:blip>
          <a:srcRect b="0" l="0" r="0" t="0"/>
          <a:stretch/>
        </p:blipFill>
        <p:spPr>
          <a:xfrm>
            <a:off x="717149" y="1731950"/>
            <a:ext cx="1353900" cy="14986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7"/>
          <p:cNvSpPr/>
          <p:nvPr/>
        </p:nvSpPr>
        <p:spPr>
          <a:xfrm>
            <a:off x="457200" y="1470650"/>
            <a:ext cx="8229600" cy="31272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89" name="Google Shape;189;p27"/>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a:solidFill>
                  <a:schemeClr val="lt1"/>
                </a:solidFill>
              </a:rPr>
              <a:t>Use mathematical thinking </a:t>
            </a:r>
            <a:endParaRPr/>
          </a:p>
        </p:txBody>
      </p:sp>
      <p:sp>
        <p:nvSpPr>
          <p:cNvPr id="190" name="Google Shape;190;p27"/>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M</a:t>
            </a:r>
            <a:endParaRPr b="0" sz="1500"/>
          </a:p>
        </p:txBody>
      </p:sp>
      <p:sp>
        <p:nvSpPr>
          <p:cNvPr id="191" name="Google Shape;191;p27"/>
          <p:cNvSpPr txBox="1"/>
          <p:nvPr/>
        </p:nvSpPr>
        <p:spPr>
          <a:xfrm>
            <a:off x="2715050" y="1667525"/>
            <a:ext cx="5428800" cy="3127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900"/>
              <a:buFont typeface="Arial"/>
              <a:buNone/>
            </a:pPr>
            <a:r>
              <a:rPr b="1" i="0" lang="en" sz="2900" u="none" cap="none" strike="noStrike">
                <a:solidFill>
                  <a:srgbClr val="304852"/>
                </a:solidFill>
                <a:latin typeface="Open Sans"/>
                <a:ea typeface="Open Sans"/>
                <a:cs typeface="Open Sans"/>
                <a:sym typeface="Open Sans"/>
              </a:rPr>
              <a:t>On your own</a:t>
            </a:r>
            <a:endParaRPr b="0" i="0" sz="1700" u="none" cap="none" strike="noStrike">
              <a:solidFill>
                <a:srgbClr val="304852"/>
              </a:solidFill>
              <a:latin typeface="Open Sans"/>
              <a:ea typeface="Open Sans"/>
              <a:cs typeface="Open Sans"/>
              <a:sym typeface="Open Sans"/>
            </a:endParaRPr>
          </a:p>
          <a:p>
            <a:pPr indent="0" lvl="0" marL="0" marR="0" rtl="0" algn="l">
              <a:lnSpc>
                <a:spcPct val="115000"/>
              </a:lnSpc>
              <a:spcBef>
                <a:spcPts val="1000"/>
              </a:spcBef>
              <a:spcAft>
                <a:spcPts val="0"/>
              </a:spcAft>
              <a:buClr>
                <a:srgbClr val="000000"/>
              </a:buClr>
              <a:buSzPts val="2500"/>
              <a:buFont typeface="Arial"/>
              <a:buNone/>
            </a:pPr>
            <a:r>
              <a:rPr b="0" i="0" lang="en" sz="2500" u="none" cap="none" strike="noStrike">
                <a:solidFill>
                  <a:srgbClr val="304852"/>
                </a:solidFill>
                <a:latin typeface="Cabin"/>
                <a:ea typeface="Cabin"/>
                <a:cs typeface="Cabin"/>
                <a:sym typeface="Cabin"/>
              </a:rPr>
              <a:t>Use our equations for momentum conservation to solve for unknown outcomes or conditions in three different</a:t>
            </a:r>
            <a:r>
              <a:rPr b="0" i="0" lang="en" sz="2600" u="none" cap="none" strike="noStrike">
                <a:solidFill>
                  <a:srgbClr val="304852"/>
                </a:solidFill>
                <a:latin typeface="Cabin"/>
                <a:ea typeface="Cabin"/>
                <a:cs typeface="Cabin"/>
                <a:sym typeface="Cabin"/>
              </a:rPr>
              <a:t> collisions scenarios.</a:t>
            </a:r>
            <a:endParaRPr b="0" i="0" sz="2500" u="none" cap="none" strike="noStrike">
              <a:solidFill>
                <a:srgbClr val="304852"/>
              </a:solidFill>
              <a:latin typeface="Cabin"/>
              <a:ea typeface="Cabin"/>
              <a:cs typeface="Cabin"/>
              <a:sym typeface="Cabin"/>
            </a:endParaRPr>
          </a:p>
          <a:p>
            <a:pPr indent="0" lvl="0" marL="0" marR="0" rtl="0" algn="l">
              <a:lnSpc>
                <a:spcPct val="115000"/>
              </a:lnSpc>
              <a:spcBef>
                <a:spcPts val="1000"/>
              </a:spcBef>
              <a:spcAft>
                <a:spcPts val="1000"/>
              </a:spcAft>
              <a:buClr>
                <a:srgbClr val="000000"/>
              </a:buClr>
              <a:buSzPts val="2500"/>
              <a:buFont typeface="Arial"/>
              <a:buNone/>
            </a:pPr>
            <a:r>
              <a:rPr b="0" i="0" lang="en" sz="2500" u="none" cap="none" strike="noStrike">
                <a:solidFill>
                  <a:srgbClr val="304852"/>
                </a:solidFill>
                <a:latin typeface="Cabin"/>
                <a:ea typeface="Cabin"/>
                <a:cs typeface="Cabin"/>
                <a:sym typeface="Cabin"/>
              </a:rPr>
              <a:t>.</a:t>
            </a:r>
            <a:endParaRPr b="0" i="0" sz="2800" u="none" cap="none" strike="noStrike">
              <a:solidFill>
                <a:srgbClr val="304852"/>
              </a:solidFill>
              <a:latin typeface="Cabin"/>
              <a:ea typeface="Cabin"/>
              <a:cs typeface="Cabin"/>
              <a:sym typeface="Cabin"/>
            </a:endParaRPr>
          </a:p>
        </p:txBody>
      </p:sp>
      <p:pic>
        <p:nvPicPr>
          <p:cNvPr id="192" name="Google Shape;192;p27"/>
          <p:cNvPicPr preferRelativeResize="0"/>
          <p:nvPr/>
        </p:nvPicPr>
        <p:blipFill rotWithShape="1">
          <a:blip r:embed="rId3">
            <a:alphaModFix/>
          </a:blip>
          <a:srcRect b="0" l="0" r="0" t="0"/>
          <a:stretch/>
        </p:blipFill>
        <p:spPr>
          <a:xfrm>
            <a:off x="762913" y="1682675"/>
            <a:ext cx="1514475" cy="1676400"/>
          </a:xfrm>
          <a:prstGeom prst="rect">
            <a:avLst/>
          </a:prstGeom>
          <a:noFill/>
          <a:ln>
            <a:noFill/>
          </a:ln>
        </p:spPr>
      </p:pic>
      <p:sp>
        <p:nvSpPr>
          <p:cNvPr id="193" name="Google Shape;193;p27"/>
          <p:cNvSpPr txBox="1"/>
          <p:nvPr/>
        </p:nvSpPr>
        <p:spPr>
          <a:xfrm rot="-126729">
            <a:off x="4561451" y="4386114"/>
            <a:ext cx="4265298" cy="904524"/>
          </a:xfrm>
          <a:prstGeom prst="rect">
            <a:avLst/>
          </a:prstGeom>
          <a:solidFill>
            <a:schemeClr val="lt1"/>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and turn in your responses at the end of class.</a:t>
            </a:r>
            <a:endParaRPr b="0" i="0" sz="2200" u="none" cap="none" strike="noStrike">
              <a:solidFill>
                <a:srgbClr val="304852"/>
              </a:solidFill>
              <a:latin typeface="Cabin Condensed"/>
              <a:ea typeface="Cabin Condensed"/>
              <a:cs typeface="Cabin Condensed"/>
              <a:sym typeface="Cabin Condense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8"/>
          <p:cNvSpPr/>
          <p:nvPr/>
        </p:nvSpPr>
        <p:spPr>
          <a:xfrm>
            <a:off x="457200" y="1394450"/>
            <a:ext cx="8229600" cy="44064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199" name="Google Shape;199;p28"/>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Self-assess and reflect</a:t>
            </a:r>
            <a:endParaRPr/>
          </a:p>
        </p:txBody>
      </p:sp>
      <p:sp>
        <p:nvSpPr>
          <p:cNvPr id="200" name="Google Shape;200;p28"/>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N</a:t>
            </a:r>
            <a:endParaRPr b="0" sz="1500"/>
          </a:p>
        </p:txBody>
      </p:sp>
      <p:sp>
        <p:nvSpPr>
          <p:cNvPr id="201" name="Google Shape;201;p28"/>
          <p:cNvSpPr txBox="1"/>
          <p:nvPr/>
        </p:nvSpPr>
        <p:spPr>
          <a:xfrm>
            <a:off x="2434800" y="1591325"/>
            <a:ext cx="5709000" cy="41229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900"/>
              <a:buFont typeface="Arial"/>
              <a:buNone/>
            </a:pPr>
            <a:r>
              <a:rPr b="1" i="0" lang="en" sz="2900" u="none" cap="none" strike="noStrike">
                <a:solidFill>
                  <a:srgbClr val="304852"/>
                </a:solidFill>
                <a:latin typeface="Open Sans"/>
                <a:ea typeface="Open Sans"/>
                <a:cs typeface="Open Sans"/>
                <a:sym typeface="Open Sans"/>
              </a:rPr>
              <a:t>On your own</a:t>
            </a:r>
            <a:endParaRPr b="0" i="0" sz="1700" u="none" cap="none" strike="noStrike">
              <a:solidFill>
                <a:srgbClr val="304852"/>
              </a:solidFill>
              <a:latin typeface="Open Sans"/>
              <a:ea typeface="Open Sans"/>
              <a:cs typeface="Open Sans"/>
              <a:sym typeface="Open Sans"/>
            </a:endParaRPr>
          </a:p>
          <a:p>
            <a:pPr indent="-387350" lvl="0" marL="457200" marR="0" rtl="0" algn="l">
              <a:lnSpc>
                <a:spcPct val="115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Use the key to self-assess your work.</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Complete questions A-C to help identify part of the process you feel confident about and parts you’d like additional practice or help with.</a:t>
            </a:r>
            <a:endParaRPr b="0" i="0" sz="2500" u="none" cap="none" strike="noStrike">
              <a:solidFill>
                <a:srgbClr val="304852"/>
              </a:solidFill>
              <a:latin typeface="Cabin"/>
              <a:ea typeface="Cabin"/>
              <a:cs typeface="Cabin"/>
              <a:sym typeface="Cabin"/>
            </a:endParaRPr>
          </a:p>
          <a:p>
            <a:pPr indent="-387350" lvl="0" marL="457200" marR="0" rtl="0" algn="l">
              <a:lnSpc>
                <a:spcPct val="115000"/>
              </a:lnSpc>
              <a:spcBef>
                <a:spcPts val="1000"/>
              </a:spcBef>
              <a:spcAft>
                <a:spcPts val="100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Turn in both handouts when you are done.</a:t>
            </a:r>
            <a:endParaRPr b="0" i="0" sz="2500" u="none" cap="none" strike="noStrike">
              <a:solidFill>
                <a:srgbClr val="304852"/>
              </a:solidFill>
              <a:latin typeface="Cabin"/>
              <a:ea typeface="Cabin"/>
              <a:cs typeface="Cabin"/>
              <a:sym typeface="Cabin"/>
            </a:endParaRPr>
          </a:p>
        </p:txBody>
      </p:sp>
      <p:pic>
        <p:nvPicPr>
          <p:cNvPr id="202" name="Google Shape;202;p28"/>
          <p:cNvPicPr preferRelativeResize="0"/>
          <p:nvPr/>
        </p:nvPicPr>
        <p:blipFill rotWithShape="1">
          <a:blip r:embed="rId3">
            <a:alphaModFix/>
          </a:blip>
          <a:srcRect b="0" l="0" r="0" t="0"/>
          <a:stretch/>
        </p:blipFill>
        <p:spPr>
          <a:xfrm>
            <a:off x="762913" y="1682675"/>
            <a:ext cx="1514475" cy="1676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9"/>
          <p:cNvSpPr/>
          <p:nvPr/>
        </p:nvSpPr>
        <p:spPr>
          <a:xfrm>
            <a:off x="457200" y="1552575"/>
            <a:ext cx="8229600" cy="4640100"/>
          </a:xfrm>
          <a:prstGeom prst="rect">
            <a:avLst/>
          </a:prstGeom>
          <a:solidFill>
            <a:srgbClr val="EBF0F2"/>
          </a:solidFill>
          <a:ln cap="flat" cmpd="sng" w="19050">
            <a:solidFill>
              <a:srgbClr val="30485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1" i="0" sz="2400" u="none" cap="none" strike="noStrike">
              <a:solidFill>
                <a:srgbClr val="980000"/>
              </a:solidFill>
              <a:latin typeface="Cabin Condensed"/>
              <a:ea typeface="Cabin Condensed"/>
              <a:cs typeface="Cabin Condensed"/>
              <a:sym typeface="Cabin Condensed"/>
            </a:endParaRPr>
          </a:p>
        </p:txBody>
      </p:sp>
      <p:sp>
        <p:nvSpPr>
          <p:cNvPr id="208" name="Google Shape;208;p29"/>
          <p:cNvSpPr txBox="1"/>
          <p:nvPr>
            <p:ph type="title"/>
          </p:nvPr>
        </p:nvSpPr>
        <p:spPr>
          <a:xfrm>
            <a:off x="457200" y="548650"/>
            <a:ext cx="8229600" cy="685800"/>
          </a:xfrm>
          <a:prstGeom prst="rect">
            <a:avLst/>
          </a:prstGeom>
          <a:solidFill>
            <a:srgbClr val="304852"/>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solidFill>
                  <a:schemeClr val="lt1"/>
                </a:solidFill>
              </a:rPr>
              <a:t>Navigate</a:t>
            </a:r>
            <a:endParaRPr/>
          </a:p>
        </p:txBody>
      </p:sp>
      <p:sp>
        <p:nvSpPr>
          <p:cNvPr id="209" name="Google Shape;209;p29"/>
          <p:cNvSpPr txBox="1"/>
          <p:nvPr>
            <p:ph idx="2" type="subTitle"/>
          </p:nvPr>
        </p:nvSpPr>
        <p:spPr>
          <a:xfrm>
            <a:off x="457200" y="106750"/>
            <a:ext cx="2916900" cy="45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b="0" lang="en" sz="1500"/>
              <a:t>Slide O</a:t>
            </a:r>
            <a:endParaRPr b="0" sz="1500"/>
          </a:p>
        </p:txBody>
      </p:sp>
      <p:sp>
        <p:nvSpPr>
          <p:cNvPr id="210" name="Google Shape;210;p29"/>
          <p:cNvSpPr txBox="1"/>
          <p:nvPr/>
        </p:nvSpPr>
        <p:spPr>
          <a:xfrm>
            <a:off x="2346900" y="1743725"/>
            <a:ext cx="61545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3200"/>
              <a:buFont typeface="Arial"/>
              <a:buNone/>
            </a:pPr>
            <a:r>
              <a:rPr b="1" i="0" lang="en" sz="3200" u="none" cap="none" strike="noStrike">
                <a:solidFill>
                  <a:srgbClr val="304852"/>
                </a:solidFill>
                <a:latin typeface="Open Sans"/>
                <a:ea typeface="Open Sans"/>
                <a:cs typeface="Open Sans"/>
                <a:sym typeface="Open Sans"/>
              </a:rPr>
              <a:t>Turn and talk </a:t>
            </a:r>
            <a:r>
              <a:rPr b="0" i="0" lang="en" sz="2900" u="none" cap="none" strike="noStrike">
                <a:solidFill>
                  <a:srgbClr val="304852"/>
                </a:solidFill>
                <a:latin typeface="Cabin"/>
                <a:ea typeface="Cabin"/>
                <a:cs typeface="Cabin"/>
                <a:sym typeface="Cabin"/>
              </a:rPr>
              <a:t>  </a:t>
            </a:r>
            <a:endParaRPr b="0" i="0" sz="2400" u="none" cap="none" strike="noStrike">
              <a:solidFill>
                <a:srgbClr val="304852"/>
              </a:solidFill>
              <a:latin typeface="Cabin"/>
              <a:ea typeface="Cabin"/>
              <a:cs typeface="Cabin"/>
              <a:sym typeface="Cabin"/>
            </a:endParaRPr>
          </a:p>
        </p:txBody>
      </p:sp>
      <p:sp>
        <p:nvSpPr>
          <p:cNvPr id="211" name="Google Shape;211;p29"/>
          <p:cNvSpPr txBox="1"/>
          <p:nvPr/>
        </p:nvSpPr>
        <p:spPr>
          <a:xfrm rot="-126907">
            <a:off x="4383610" y="5609932"/>
            <a:ext cx="3934180" cy="882306"/>
          </a:xfrm>
          <a:prstGeom prst="rect">
            <a:avLst/>
          </a:prstGeom>
          <a:solidFill>
            <a:srgbClr val="FFFFFF"/>
          </a:solidFill>
          <a:ln cap="flat" cmpd="sng" w="9525">
            <a:solidFill>
              <a:srgbClr val="304852"/>
            </a:solidFill>
            <a:prstDash val="solid"/>
            <a:round/>
            <a:headEnd len="sm" w="sm" type="none"/>
            <a:tailEnd len="sm" w="sm" type="none"/>
          </a:ln>
          <a:effectLst>
            <a:outerShdw blurRad="57150" rotWithShape="0" algn="bl" dir="5400000" dist="19050">
              <a:srgbClr val="000000">
                <a:alpha val="49411"/>
              </a:srgbClr>
            </a:outerShdw>
          </a:effectLst>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rgbClr val="304852"/>
              </a:buClr>
              <a:buSzPts val="2200"/>
              <a:buFont typeface="Cabin Condensed"/>
              <a:buChar char="➔"/>
            </a:pPr>
            <a:r>
              <a:rPr b="0" i="0" lang="en" sz="2200" u="none" cap="none" strike="noStrike">
                <a:solidFill>
                  <a:srgbClr val="304852"/>
                </a:solidFill>
                <a:latin typeface="Cabin Condensed"/>
                <a:ea typeface="Cabin Condensed"/>
                <a:cs typeface="Cabin Condensed"/>
                <a:sym typeface="Cabin Condensed"/>
              </a:rPr>
              <a:t>Be ready to share these with the whole class.</a:t>
            </a:r>
            <a:endParaRPr b="0" i="0" sz="2200" u="none" cap="none" strike="noStrike">
              <a:solidFill>
                <a:srgbClr val="304852"/>
              </a:solidFill>
              <a:latin typeface="Cabin Condensed"/>
              <a:ea typeface="Cabin Condensed"/>
              <a:cs typeface="Cabin Condensed"/>
              <a:sym typeface="Cabin Condensed"/>
            </a:endParaRPr>
          </a:p>
        </p:txBody>
      </p:sp>
      <p:sp>
        <p:nvSpPr>
          <p:cNvPr id="212" name="Google Shape;212;p29"/>
          <p:cNvSpPr txBox="1"/>
          <p:nvPr/>
        </p:nvSpPr>
        <p:spPr>
          <a:xfrm>
            <a:off x="2346900" y="2491625"/>
            <a:ext cx="5686200" cy="18285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000"/>
              </a:spcBef>
              <a:spcAft>
                <a:spcPts val="0"/>
              </a:spcAft>
              <a:buClr>
                <a:srgbClr val="000000"/>
              </a:buClr>
              <a:buSzPts val="2400"/>
              <a:buFont typeface="Arial"/>
              <a:buNone/>
            </a:pPr>
            <a:r>
              <a:rPr b="0" i="0" lang="en" sz="2400" u="none" cap="none" strike="noStrike">
                <a:solidFill>
                  <a:srgbClr val="304852"/>
                </a:solidFill>
                <a:latin typeface="Cabin"/>
                <a:ea typeface="Cabin"/>
                <a:cs typeface="Cabin"/>
                <a:sym typeface="Cabin"/>
              </a:rPr>
              <a:t>How can we we use what we figured out about change in momentum (mΔV) to make predictions about the connections to other variables we are interested in?</a:t>
            </a:r>
            <a:endParaRPr b="0" i="0" sz="2400" u="none" cap="none" strike="noStrike">
              <a:solidFill>
                <a:srgbClr val="304852"/>
              </a:solidFill>
              <a:latin typeface="Cabin"/>
              <a:ea typeface="Cabin"/>
              <a:cs typeface="Cabin"/>
              <a:sym typeface="Cabin"/>
            </a:endParaRPr>
          </a:p>
        </p:txBody>
      </p:sp>
      <p:sp>
        <p:nvSpPr>
          <p:cNvPr id="213" name="Google Shape;213;p29"/>
          <p:cNvSpPr txBox="1"/>
          <p:nvPr/>
        </p:nvSpPr>
        <p:spPr>
          <a:xfrm>
            <a:off x="1317550" y="4347125"/>
            <a:ext cx="6882900" cy="10119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100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    F           </a:t>
            </a:r>
            <a:r>
              <a:rPr b="0" i="1" lang="en" sz="2500" u="none" cap="none" strike="noStrike">
                <a:solidFill>
                  <a:srgbClr val="304852"/>
                </a:solidFill>
                <a:latin typeface="Cabin"/>
                <a:ea typeface="Cabin"/>
                <a:cs typeface="Cabin"/>
                <a:sym typeface="Cabin"/>
              </a:rPr>
              <a:t>the force applied to an object</a:t>
            </a:r>
            <a:endParaRPr b="0" i="1" sz="2500" u="none" cap="none" strike="noStrike">
              <a:solidFill>
                <a:srgbClr val="304852"/>
              </a:solidFill>
              <a:latin typeface="Cabin"/>
              <a:ea typeface="Cabin"/>
              <a:cs typeface="Cabin"/>
              <a:sym typeface="Cabin"/>
            </a:endParaRPr>
          </a:p>
          <a:p>
            <a:pPr indent="-387350" lvl="0" marL="457200" marR="0" rtl="0" algn="l">
              <a:lnSpc>
                <a:spcPct val="115000"/>
              </a:lnSpc>
              <a:spcBef>
                <a:spcPts val="0"/>
              </a:spcBef>
              <a:spcAft>
                <a:spcPts val="0"/>
              </a:spcAft>
              <a:buClr>
                <a:srgbClr val="304852"/>
              </a:buClr>
              <a:buSzPts val="2500"/>
              <a:buFont typeface="Cabin"/>
              <a:buChar char="●"/>
            </a:pPr>
            <a:r>
              <a:rPr b="0" i="0" lang="en" sz="2500" u="none" cap="none" strike="noStrike">
                <a:solidFill>
                  <a:srgbClr val="304852"/>
                </a:solidFill>
                <a:latin typeface="Cabin"/>
                <a:ea typeface="Cabin"/>
                <a:cs typeface="Cabin"/>
                <a:sym typeface="Cabin"/>
              </a:rPr>
              <a:t>   Δt          </a:t>
            </a:r>
            <a:r>
              <a:rPr b="0" i="1" lang="en" sz="2500" u="none" cap="none" strike="noStrike">
                <a:solidFill>
                  <a:srgbClr val="304852"/>
                </a:solidFill>
                <a:latin typeface="Cabin"/>
                <a:ea typeface="Cabin"/>
                <a:cs typeface="Cabin"/>
                <a:sym typeface="Cabin"/>
              </a:rPr>
              <a:t>the time over which the force is applied</a:t>
            </a:r>
            <a:endParaRPr b="0" i="1" sz="2500" u="none" cap="none" strike="noStrike">
              <a:solidFill>
                <a:srgbClr val="304852"/>
              </a:solidFill>
              <a:latin typeface="Cabin"/>
              <a:ea typeface="Cabin"/>
              <a:cs typeface="Cabin"/>
              <a:sym typeface="Cabin"/>
            </a:endParaRPr>
          </a:p>
        </p:txBody>
      </p:sp>
      <p:pic>
        <p:nvPicPr>
          <p:cNvPr id="214" name="Google Shape;214;p29"/>
          <p:cNvPicPr preferRelativeResize="0"/>
          <p:nvPr/>
        </p:nvPicPr>
        <p:blipFill rotWithShape="1">
          <a:blip r:embed="rId3">
            <a:alphaModFix/>
          </a:blip>
          <a:srcRect b="0" l="0" r="0" t="0"/>
          <a:stretch/>
        </p:blipFill>
        <p:spPr>
          <a:xfrm>
            <a:off x="636125" y="1698525"/>
            <a:ext cx="1537575" cy="1275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igh_School_Chemistry_OpenSciEd_Slide_TEMPLAT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