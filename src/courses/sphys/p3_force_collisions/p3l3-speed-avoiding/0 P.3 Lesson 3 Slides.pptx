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6858000" cy="9144000"/>
  <p:embeddedFontLst>
    <p:embeddedFont>
      <p:font typeface="Cabin"/>
      <p:regular r:id="rId14"/>
      <p:bold r:id="rId15"/>
      <p:italic r:id="rId16"/>
      <p:boldItalic r:id="rId17"/>
    </p:embeddedFont>
    <p:embeddedFont>
      <p:font typeface="Boogaloo"/>
      <p:regular r:id="rId18"/>
    </p:embeddedFont>
    <p:embeddedFont>
      <p:font typeface="Helvetica Neue"/>
      <p:regular r:id="rId19"/>
      <p:bold r:id="rId20"/>
      <p:italic r:id="rId21"/>
      <p:boldItalic r:id="rId22"/>
    </p:embeddedFont>
    <p:embeddedFont>
      <p:font typeface="Open Sans"/>
      <p:regular r:id="rId23"/>
      <p:bold r:id="rId24"/>
      <p:italic r:id="rId25"/>
      <p:boldItalic r:id="rId26"/>
    </p:embeddedFont>
    <p:embeddedFont>
      <p:font typeface="Cabin Condensed"/>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elveticaNeue-bold.fntdata"/><Relationship Id="rId22" Type="http://schemas.openxmlformats.org/officeDocument/2006/relationships/font" Target="fonts/HelveticaNeue-boldItalic.fntdata"/><Relationship Id="rId21" Type="http://schemas.openxmlformats.org/officeDocument/2006/relationships/font" Target="fonts/HelveticaNeue-italic.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italic.fntdata"/><Relationship Id="rId28" Type="http://schemas.openxmlformats.org/officeDocument/2006/relationships/font" Target="fonts/CabinCondensed-bold.fntdata"/><Relationship Id="rId27" Type="http://schemas.openxmlformats.org/officeDocument/2006/relationships/font" Target="fonts/CabinCondense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Cabin-bold.fntdata"/><Relationship Id="rId14" Type="http://schemas.openxmlformats.org/officeDocument/2006/relationships/font" Target="fonts/Cabin-regular.fntdata"/><Relationship Id="rId17" Type="http://schemas.openxmlformats.org/officeDocument/2006/relationships/font" Target="fonts/Cabin-boldItalic.fntdata"/><Relationship Id="rId16" Type="http://schemas.openxmlformats.org/officeDocument/2006/relationships/font" Target="fonts/Cabin-italic.fntdata"/><Relationship Id="rId19" Type="http://schemas.openxmlformats.org/officeDocument/2006/relationships/font" Target="fonts/HelveticaNeue-regular.fntdata"/><Relationship Id="rId18" Type="http://schemas.openxmlformats.org/officeDocument/2006/relationships/font" Target="fonts/Boogalo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A. </a:t>
            </a:r>
            <a:r>
              <a:rPr lang="en">
                <a:solidFill>
                  <a:srgbClr val="0B0B0B"/>
                </a:solidFill>
                <a:latin typeface="Cabin"/>
                <a:ea typeface="Cabin"/>
                <a:cs typeface="Cabin"/>
                <a:sym typeface="Cabin"/>
              </a:rPr>
              <a:t>Use the prompt on the slide to get students thinking about how speed will affect both distance and time.</a:t>
            </a:r>
            <a:endParaRPr b="1">
              <a:solidFill>
                <a:srgbClr val="0B0B0B"/>
              </a:solidFill>
              <a:latin typeface="Cabin"/>
              <a:ea typeface="Cabin"/>
              <a:cs typeface="Cabin"/>
              <a:sym typeface="Cabin"/>
            </a:endParaRPr>
          </a:p>
        </p:txBody>
      </p:sp>
      <p:sp>
        <p:nvSpPr>
          <p:cNvPr id="99" name="Google Shape;99;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Motivate a speed versus time plot.</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B</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Let’s take a closer look at the speed of the car in the video. We calculated this speed using the slope of the position graph.</a:t>
            </a:r>
            <a:r>
              <a:rPr lang="en">
                <a:solidFill>
                  <a:srgbClr val="0B0B0B"/>
                </a:solidFill>
                <a:latin typeface="Cabin"/>
                <a:ea typeface="Cabin"/>
                <a:cs typeface="Cabin"/>
                <a:sym typeface="Cabin"/>
              </a:rPr>
              <a:t> </a:t>
            </a:r>
            <a:r>
              <a:rPr i="1" lang="en">
                <a:solidFill>
                  <a:srgbClr val="0B0B0B"/>
                </a:solidFill>
                <a:latin typeface="Cabin"/>
                <a:ea typeface="Cabin"/>
                <a:cs typeface="Cabin"/>
                <a:sym typeface="Cabin"/>
              </a:rPr>
              <a:t>What could we do to keep track of how this speed changes over time?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Look for students to suggest a plot. If they do, ask, </a:t>
            </a:r>
            <a:r>
              <a:rPr i="1" lang="en">
                <a:solidFill>
                  <a:srgbClr val="0B0B0B"/>
                </a:solidFill>
                <a:latin typeface="Cabin"/>
                <a:ea typeface="Cabin"/>
                <a:cs typeface="Cabin"/>
                <a:sym typeface="Cabin"/>
              </a:rPr>
              <a:t>What could a plot of speed over time tell us about distracted driving?</a:t>
            </a:r>
            <a:r>
              <a:rPr lang="en">
                <a:solidFill>
                  <a:srgbClr val="0B0B0B"/>
                </a:solidFill>
                <a:latin typeface="Cabin"/>
                <a:ea typeface="Cabin"/>
                <a:cs typeface="Cabin"/>
                <a:sym typeface="Cabin"/>
              </a:rPr>
              <a:t> Accept all ideas. If they do not suggest a plot, say, </a:t>
            </a:r>
            <a:r>
              <a:rPr i="1" lang="en">
                <a:solidFill>
                  <a:srgbClr val="0B0B0B"/>
                </a:solidFill>
                <a:latin typeface="Cabin"/>
                <a:ea typeface="Cabin"/>
                <a:cs typeface="Cabin"/>
                <a:sym typeface="Cabin"/>
              </a:rPr>
              <a:t>Could we do the same thing we did for position, but with speed? What could that tell us?</a:t>
            </a:r>
            <a:endParaRPr/>
          </a:p>
        </p:txBody>
      </p:sp>
      <p:sp>
        <p:nvSpPr>
          <p:cNvPr id="108" name="Google Shape;108;p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Eliciting help from students, draw a graph of speed versus time at the front of the room.</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C</a:t>
            </a:r>
            <a:r>
              <a:rPr lang="en">
                <a:solidFill>
                  <a:srgbClr val="0B0B0B"/>
                </a:solidFill>
                <a:latin typeface="Cabin"/>
                <a:ea typeface="Cabin"/>
                <a:cs typeface="Cabin"/>
                <a:sym typeface="Cabin"/>
              </a:rPr>
              <a:t>. Have a fresh piece of chart paper ready for graphing. Ask students to come up and mark the important timepoints from the video on the bottom, and draw dotted lines up from these points. Then ask students to work in small groups to sketch out speed versus time graphs in their notebooks. Give students 10 minutes to sketch their ideas in groups.</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Then bring the class back together and  ask, </a:t>
            </a:r>
            <a:r>
              <a:rPr i="1" lang="en">
                <a:solidFill>
                  <a:srgbClr val="0B0B0B"/>
                </a:solidFill>
                <a:latin typeface="Cabin"/>
                <a:ea typeface="Cabin"/>
                <a:cs typeface="Cabin"/>
                <a:sym typeface="Cabin"/>
              </a:rPr>
              <a:t>What speed was the car going at between t1 and t2? Did this speed change? </a:t>
            </a:r>
            <a:r>
              <a:rPr lang="en">
                <a:solidFill>
                  <a:srgbClr val="0B0B0B"/>
                </a:solidFill>
                <a:latin typeface="Cabin"/>
                <a:ea typeface="Cabin"/>
                <a:cs typeface="Cabin"/>
                <a:sym typeface="Cabin"/>
              </a:rPr>
              <a:t>Have a student come up to the board to show what their group drew by drawing the line.</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Ask, </a:t>
            </a:r>
            <a:r>
              <a:rPr i="1" lang="en">
                <a:solidFill>
                  <a:srgbClr val="0B0B0B"/>
                </a:solidFill>
                <a:latin typeface="Cabin"/>
                <a:ea typeface="Cabin"/>
                <a:cs typeface="Cabin"/>
                <a:sym typeface="Cabin"/>
              </a:rPr>
              <a:t>What speed was the car going between t2 and t3? </a:t>
            </a:r>
            <a:r>
              <a:rPr lang="en">
                <a:solidFill>
                  <a:srgbClr val="0B0B0B"/>
                </a:solidFill>
                <a:latin typeface="Cabin"/>
                <a:ea typeface="Cabin"/>
                <a:cs typeface="Cabin"/>
                <a:sym typeface="Cabin"/>
              </a:rPr>
              <a:t>Look for ideas about how the speed was changing. Say, </a:t>
            </a:r>
            <a:r>
              <a:rPr i="1" lang="en">
                <a:solidFill>
                  <a:srgbClr val="0B0B0B"/>
                </a:solidFill>
                <a:latin typeface="Cabin"/>
                <a:ea typeface="Cabin"/>
                <a:cs typeface="Cabin"/>
                <a:sym typeface="Cabin"/>
              </a:rPr>
              <a:t>We have some ideas about how the speed is changing, but we all agree that it was going this speed at t2, when the brake lights went on (point to where the line you drew intersects with the t2 dashed line), and had changed to zero by the time we get to t3, which was when the car stopped. </a:t>
            </a:r>
            <a:r>
              <a:rPr lang="en">
                <a:solidFill>
                  <a:srgbClr val="0B0B0B"/>
                </a:solidFill>
                <a:latin typeface="Cabin"/>
                <a:ea typeface="Cabin"/>
                <a:cs typeface="Cabin"/>
                <a:sym typeface="Cabin"/>
              </a:rPr>
              <a:t> Have another students come up and draw a line to connect these points. If students are thinking that the speed might change in a variable way (and they draw something non-linear), ask them to voice their reasoning, but do not shut them down. You can use multiple colors to illustrate different ideas.</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Repeat for the distracted driver.</a:t>
            </a:r>
            <a:r>
              <a:rPr lang="en">
                <a:solidFill>
                  <a:srgbClr val="0B0B0B"/>
                </a:solidFill>
                <a:latin typeface="Cabin"/>
                <a:ea typeface="Cabin"/>
                <a:cs typeface="Cabin"/>
                <a:sym typeface="Cabin"/>
              </a:rPr>
              <a:t> Ask, </a:t>
            </a:r>
            <a:r>
              <a:rPr i="1" lang="en">
                <a:solidFill>
                  <a:srgbClr val="0B0B0B"/>
                </a:solidFill>
                <a:latin typeface="Cabin"/>
                <a:ea typeface="Cabin"/>
                <a:cs typeface="Cabin"/>
                <a:sym typeface="Cabin"/>
              </a:rPr>
              <a:t>What about for our distracted driver? </a:t>
            </a:r>
            <a:r>
              <a:rPr lang="en">
                <a:solidFill>
                  <a:srgbClr val="0B0B0B"/>
                </a:solidFill>
                <a:latin typeface="Cabin"/>
                <a:ea typeface="Cabin"/>
                <a:cs typeface="Cabin"/>
                <a:sym typeface="Cabin"/>
              </a:rPr>
              <a:t>Repeat this process for the distracted driver in another color. Give students time to make changes to the graphs they made in their notebooks if necessary.</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So let’s see what this can tell us about how speed matters. What would happen if this initial speed had been higher? Would the reaction time change? </a:t>
            </a:r>
            <a:r>
              <a:rPr lang="en">
                <a:solidFill>
                  <a:srgbClr val="0B0B0B"/>
                </a:solidFill>
                <a:latin typeface="Cabin"/>
                <a:ea typeface="Cabin"/>
                <a:cs typeface="Cabin"/>
                <a:sym typeface="Cabin"/>
              </a:rPr>
              <a:t>Sketch a straight line above the first line between time 1 and time 2. Accept all ideas here, but make sure to highlight that we aren’t sure. Some students may say that no, the reaction time would not change. Some students may suggest that field of vision changes when you are speeding, or some other mechanism by which initial speed might affect reaction time. Say,</a:t>
            </a:r>
            <a:r>
              <a:rPr i="1" lang="en">
                <a:solidFill>
                  <a:srgbClr val="0B0B0B"/>
                </a:solidFill>
                <a:latin typeface="Cabin"/>
                <a:ea typeface="Cabin"/>
                <a:cs typeface="Cabin"/>
                <a:sym typeface="Cabin"/>
              </a:rPr>
              <a:t> It sounds like we aren’t sure about this, but we can’t think of anything that would affect reaction time in a big way, so I think we can assume the same reaction times, even if you are speeding.</a:t>
            </a:r>
            <a:endParaRPr i="1">
              <a:solidFill>
                <a:schemeClr val="dk1"/>
              </a:solidFill>
              <a:highlight>
                <a:srgbClr val="FFFF00"/>
              </a:highlight>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highlight>
                <a:srgbClr val="FFFF00"/>
              </a:highlight>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Ask, </a:t>
            </a:r>
            <a:r>
              <a:rPr i="1" lang="en">
                <a:solidFill>
                  <a:srgbClr val="0B0B0B"/>
                </a:solidFill>
                <a:latin typeface="Cabin"/>
                <a:ea typeface="Cabin"/>
                <a:cs typeface="Cabin"/>
                <a:sym typeface="Cabin"/>
              </a:rPr>
              <a:t>So what would this line look like assuming the reaction time is not affected by initial speed?</a:t>
            </a:r>
            <a:r>
              <a:rPr lang="en">
                <a:solidFill>
                  <a:srgbClr val="0B0B0B"/>
                </a:solidFill>
                <a:latin typeface="Cabin"/>
                <a:ea typeface="Cabin"/>
                <a:cs typeface="Cabin"/>
                <a:sym typeface="Cabin"/>
              </a:rPr>
              <a:t> Point at the space to the right of the line you just drew.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Look for students to say that either the car would take way longer to stop if we mimic the braking lines from before, or they would have to slow down way faster (a much steeper line) between t2 and t3) for both distracted and non-distracted drivers. Accept all ideas right now. Then ask, </a:t>
            </a:r>
            <a:r>
              <a:rPr i="1" lang="en">
                <a:solidFill>
                  <a:srgbClr val="0B0B0B"/>
                </a:solidFill>
                <a:latin typeface="Cabin"/>
                <a:ea typeface="Cabin"/>
                <a:cs typeface="Cabin"/>
                <a:sym typeface="Cabin"/>
              </a:rPr>
              <a:t>Does it matter if the driver is distracted?</a:t>
            </a:r>
            <a:r>
              <a:rPr lang="en">
                <a:solidFill>
                  <a:srgbClr val="0B0B0B"/>
                </a:solidFill>
                <a:latin typeface="Cabin"/>
                <a:ea typeface="Cabin"/>
                <a:cs typeface="Cabin"/>
                <a:sym typeface="Cabin"/>
              </a:rPr>
              <a:t> Again, accept all ideas.</a:t>
            </a:r>
            <a:endParaRPr>
              <a:solidFill>
                <a:schemeClr val="dk1"/>
              </a:solidFill>
              <a:highlight>
                <a:srgbClr val="FFFF00"/>
              </a:highlight>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Sketch predictions. </a:t>
            </a:r>
            <a:r>
              <a:rPr lang="en">
                <a:solidFill>
                  <a:schemeClr val="dk1"/>
                </a:solidFill>
                <a:latin typeface="Cabin"/>
                <a:ea typeface="Cabin"/>
                <a:cs typeface="Cabin"/>
                <a:sym typeface="Cabin"/>
              </a:rPr>
              <a:t>Give students a minute to sketch their predictions, and a minute to share their ideas with their groups, or with a partner. Then ask for a volunteer to share their ideas. Ask students if they drew something similar or different, and elicit a couple of ideas. Then once there is some consensus, sketch these predictions at the front of the room in another color. Add question marks to show that we aren’t sure.</a:t>
            </a:r>
            <a:endParaRPr/>
          </a:p>
        </p:txBody>
      </p:sp>
      <p:sp>
        <p:nvSpPr>
          <p:cNvPr id="117" name="Google Shape;117;p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Investigate speed vs. reaction distance in pairs.</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D</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We had some ideas about how our initial speed, the speed we are going before an obstacle appears, might affect our probability of collision. Let’s investigate this further and find out exactly how much of a difference initial speed makes. </a:t>
            </a:r>
            <a:r>
              <a:rPr lang="en">
                <a:solidFill>
                  <a:srgbClr val="0B0B0B"/>
                </a:solidFill>
                <a:latin typeface="Cabin"/>
                <a:ea typeface="Cabin"/>
                <a:cs typeface="Cabin"/>
                <a:sym typeface="Cabin"/>
              </a:rPr>
              <a:t>Pass out handout.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Break students into pairs or groups of three to complete the handout.</a:t>
            </a:r>
            <a:r>
              <a:rPr b="1" lang="en">
                <a:solidFill>
                  <a:srgbClr val="0B0B0B"/>
                </a:solidFill>
                <a:latin typeface="Cabin"/>
                <a:ea typeface="Cabin"/>
                <a:cs typeface="Cabin"/>
                <a:sym typeface="Cabin"/>
              </a:rPr>
              <a:t> </a:t>
            </a:r>
            <a:endParaRPr b="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The handout provides students with the information that the average reaction time is .75 seconds, and assumes that a distracted driver will have a reaction time twice that long (1.5 seconds). This is based on the information from the article we read after L1. Point this out to students. Then move around the classroom and support students as they do the math and the graphing and see that reaction distance increases with speed, and distracted driving doubles that.</a:t>
            </a:r>
            <a:endParaRPr/>
          </a:p>
        </p:txBody>
      </p:sp>
      <p:sp>
        <p:nvSpPr>
          <p:cNvPr id="127" name="Google Shape;127;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Debrief the investigation briefly.</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E.</a:t>
            </a:r>
            <a:r>
              <a:rPr lang="en">
                <a:solidFill>
                  <a:schemeClr val="dk1"/>
                </a:solidFill>
                <a:latin typeface="Cabin"/>
                <a:ea typeface="Cabin"/>
                <a:cs typeface="Cabin"/>
                <a:sym typeface="Cabin"/>
              </a:rPr>
              <a:t> See the prompts in the teacher guide for support.</a:t>
            </a:r>
            <a:endParaRPr/>
          </a:p>
        </p:txBody>
      </p:sp>
      <p:sp>
        <p:nvSpPr>
          <p:cNvPr id="137" name="Google Shape;137;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F</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Wow speed clearly makes a difference.</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What can we do to limit people’s speeds?</a:t>
            </a:r>
            <a:r>
              <a:rPr lang="en">
                <a:solidFill>
                  <a:schemeClr val="dk1"/>
                </a:solidFill>
                <a:latin typeface="Cabin"/>
                <a:ea typeface="Cabin"/>
                <a:cs typeface="Cabin"/>
                <a:sym typeface="Cabin"/>
              </a:rPr>
              <a:t> Look for students to suggest that we could impose speed limits.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the Engineering Design Tracker.</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Let’s keep track of this idea.</a:t>
            </a:r>
            <a:r>
              <a:rPr lang="en">
                <a:solidFill>
                  <a:schemeClr val="dk1"/>
                </a:solidFill>
                <a:latin typeface="Cabin"/>
                <a:ea typeface="Cabin"/>
                <a:cs typeface="Cabin"/>
                <a:sym typeface="Cabin"/>
              </a:rPr>
              <a:t> Pass out the handout and lead a quick discussion to help the class fill in just the first row, as in the example below. Then tell students that they will fill in the rest of the tracker as Home Learning. The rows that students will do as Home Learning are indicated in grey in the example below. See the teacher guide for support.</a:t>
            </a:r>
            <a:endParaRPr/>
          </a:p>
        </p:txBody>
      </p:sp>
      <p:sp>
        <p:nvSpPr>
          <p:cNvPr id="146" name="Google Shape;146;p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Assign home learning.</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G. </a:t>
            </a:r>
            <a:r>
              <a:rPr lang="en">
                <a:solidFill>
                  <a:schemeClr val="dk1"/>
                </a:solidFill>
                <a:latin typeface="Cabin"/>
                <a:ea typeface="Cabin"/>
                <a:cs typeface="Cabin"/>
                <a:sym typeface="Cabin"/>
              </a:rPr>
              <a:t>Students will read about several design solutions as Home Learning and add them to their Engineering Design Trackers for home learning.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Explain to students that they will need to read the Home Learning handout: </a:t>
            </a:r>
            <a:r>
              <a:rPr i="1" lang="en">
                <a:solidFill>
                  <a:schemeClr val="dk1"/>
                </a:solidFill>
                <a:latin typeface="Cabin"/>
                <a:ea typeface="Cabin"/>
                <a:cs typeface="Cabin"/>
                <a:sym typeface="Cabin"/>
              </a:rPr>
              <a:t>Engineering Faster Reaction Times</a:t>
            </a:r>
            <a:r>
              <a:rPr lang="en">
                <a:solidFill>
                  <a:schemeClr val="dk1"/>
                </a:solidFill>
                <a:latin typeface="Cabin"/>
                <a:ea typeface="Cabin"/>
                <a:cs typeface="Cabin"/>
                <a:sym typeface="Cabin"/>
              </a:rPr>
              <a:t>. Point out that as part of this assignment, they are expected to ask a family, friend or community member: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AutoNum type="arabicPeriod"/>
            </a:pPr>
            <a:r>
              <a:rPr lang="en">
                <a:solidFill>
                  <a:schemeClr val="dk1"/>
                </a:solidFill>
                <a:latin typeface="Cabin"/>
                <a:ea typeface="Cabin"/>
                <a:cs typeface="Cabin"/>
                <a:sym typeface="Cabin"/>
              </a:rPr>
              <a:t>What are the speed limits in different parts of our community?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AutoNum type="arabicPeriod"/>
            </a:pPr>
            <a:r>
              <a:rPr lang="en">
                <a:solidFill>
                  <a:schemeClr val="dk1"/>
                </a:solidFill>
                <a:latin typeface="Cabin"/>
                <a:ea typeface="Cabin"/>
                <a:cs typeface="Cabin"/>
                <a:sym typeface="Cabin"/>
              </a:rPr>
              <a:t>Have they changed? How? Why do you think they were changed?</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AutoNum type="arabicPeriod"/>
            </a:pPr>
            <a:r>
              <a:rPr lang="en">
                <a:solidFill>
                  <a:schemeClr val="dk1"/>
                </a:solidFill>
                <a:latin typeface="Cabin"/>
                <a:ea typeface="Cabin"/>
                <a:cs typeface="Cabin"/>
                <a:sym typeface="Cabin"/>
              </a:rPr>
              <a:t>Should they be changed? Why or why not? If so, how?</a:t>
            </a:r>
            <a:endParaRPr>
              <a:solidFill>
                <a:schemeClr val="dk1"/>
              </a:solidFill>
              <a:latin typeface="Cabin"/>
              <a:ea typeface="Cabin"/>
              <a:cs typeface="Cabin"/>
              <a:sym typeface="Cabin"/>
            </a:endParaRPr>
          </a:p>
        </p:txBody>
      </p:sp>
      <p:sp>
        <p:nvSpPr>
          <p:cNvPr id="156" name="Google Shape;156;p7: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Navigation and Exit Ticket.</a:t>
            </a:r>
            <a:r>
              <a:rPr lang="en">
                <a:solidFill>
                  <a:schemeClr val="dk1"/>
                </a:solidFill>
                <a:latin typeface="Cabin"/>
                <a:ea typeface="Cabin"/>
                <a:cs typeface="Cabin"/>
                <a:sym typeface="Cabin"/>
              </a:rPr>
              <a:t> Ask students to respond to the prompt on</a:t>
            </a:r>
            <a:r>
              <a:rPr b="1" lang="en">
                <a:solidFill>
                  <a:schemeClr val="dk1"/>
                </a:solidFill>
                <a:latin typeface="Cabin"/>
                <a:ea typeface="Cabin"/>
                <a:cs typeface="Cabin"/>
                <a:sym typeface="Cabin"/>
              </a:rPr>
              <a:t> slide H</a:t>
            </a:r>
            <a:r>
              <a:rPr lang="en">
                <a:solidFill>
                  <a:schemeClr val="dk1"/>
                </a:solidFill>
                <a:latin typeface="Cabin"/>
                <a:ea typeface="Cabin"/>
                <a:cs typeface="Cabin"/>
                <a:sym typeface="Cabin"/>
              </a:rPr>
              <a:t> as an exit ticket: </a:t>
            </a:r>
            <a:r>
              <a:rPr i="1" lang="en">
                <a:solidFill>
                  <a:schemeClr val="dk1"/>
                </a:solidFill>
                <a:latin typeface="Cabin"/>
                <a:ea typeface="Cabin"/>
                <a:cs typeface="Cabin"/>
                <a:sym typeface="Cabin"/>
              </a:rPr>
              <a:t>How do you think the speed of your vehicle at the moment of a collision might affect the outcome of the collision?</a:t>
            </a:r>
            <a:endParaRPr b="1">
              <a:solidFill>
                <a:schemeClr val="dk1"/>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8" name="Shape 8"/>
        <p:cNvGrpSpPr/>
        <p:nvPr/>
      </p:nvGrpSpPr>
      <p:grpSpPr>
        <a:xfrm>
          <a:off x="0" y="0"/>
          <a:ext cx="0" cy="0"/>
          <a:chOff x="0" y="0"/>
          <a:chExt cx="0" cy="0"/>
        </a:xfrm>
      </p:grpSpPr>
      <p:sp>
        <p:nvSpPr>
          <p:cNvPr id="9" name="Google Shape;9;p3"/>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0" name="Google Shape;10;p3"/>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3"/>
          <p:cNvSpPr txBox="1"/>
          <p:nvPr>
            <p:ph idx="2"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2" name="Google Shape;12;p3"/>
          <p:cNvSpPr txBox="1"/>
          <p:nvPr>
            <p:ph idx="3" type="subTitle"/>
          </p:nvPr>
        </p:nvSpPr>
        <p:spPr>
          <a:xfrm>
            <a:off x="457200" y="106750"/>
            <a:ext cx="4073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solidFill>
                  <a:srgbClr val="304852"/>
                </a:solidFill>
              </a:defRPr>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 name="Google Shape;13;p3"/>
          <p:cNvSpPr txBox="1"/>
          <p:nvPr>
            <p:ph idx="4" type="subTitle"/>
          </p:nvPr>
        </p:nvSpPr>
        <p:spPr>
          <a:xfrm>
            <a:off x="5114300" y="106750"/>
            <a:ext cx="3572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solidFill>
                  <a:srgbClr val="304852"/>
                </a:solidFill>
              </a:defRPr>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Cabin"/>
              <a:buChar char="●"/>
              <a:defRPr b="0" i="0" sz="3600" u="none" cap="none" strike="noStrike">
                <a:solidFill>
                  <a:srgbClr val="304852"/>
                </a:solidFill>
                <a:latin typeface="Cabin"/>
                <a:ea typeface="Cabin"/>
                <a:cs typeface="Cabin"/>
                <a:sym typeface="Cabin"/>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16" name="Google Shape;16;p4"/>
          <p:cNvSpPr txBox="1"/>
          <p:nvPr>
            <p:ph idx="2"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7" name="Google Shape;17;p4"/>
          <p:cNvSpPr txBox="1"/>
          <p:nvPr>
            <p:ph idx="1" type="subTitle"/>
          </p:nvPr>
        </p:nvSpPr>
        <p:spPr>
          <a:xfrm>
            <a:off x="457200" y="106750"/>
            <a:ext cx="436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3" type="subTitle"/>
          </p:nvPr>
        </p:nvSpPr>
        <p:spPr>
          <a:xfrm>
            <a:off x="4678375" y="106750"/>
            <a:ext cx="4008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5"/>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1" name="Google Shape;21;p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2" name="Google Shape;22;p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3" name="Google Shape;23;p5"/>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b="0"/>
            </a:lvl2pPr>
            <a:lvl3pPr lvl="2" algn="r">
              <a:lnSpc>
                <a:spcPct val="115000"/>
              </a:lnSpc>
              <a:spcBef>
                <a:spcPts val="1600"/>
              </a:spcBef>
              <a:spcAft>
                <a:spcPts val="0"/>
              </a:spcAft>
              <a:buSzPts val="2400"/>
              <a:buNone/>
              <a:defRPr b="0"/>
            </a:lvl3pPr>
            <a:lvl4pPr lvl="3" algn="r">
              <a:lnSpc>
                <a:spcPct val="115000"/>
              </a:lnSpc>
              <a:spcBef>
                <a:spcPts val="1600"/>
              </a:spcBef>
              <a:spcAft>
                <a:spcPts val="0"/>
              </a:spcAft>
              <a:buSzPts val="2400"/>
              <a:buNone/>
              <a:defRPr b="0"/>
            </a:lvl4pPr>
            <a:lvl5pPr lvl="4" algn="r">
              <a:lnSpc>
                <a:spcPct val="115000"/>
              </a:lnSpc>
              <a:spcBef>
                <a:spcPts val="1600"/>
              </a:spcBef>
              <a:spcAft>
                <a:spcPts val="0"/>
              </a:spcAft>
              <a:buSzPts val="1800"/>
              <a:buNone/>
              <a:defRPr b="0"/>
            </a:lvl5pPr>
            <a:lvl6pPr lvl="5" algn="r">
              <a:lnSpc>
                <a:spcPct val="115000"/>
              </a:lnSpc>
              <a:spcBef>
                <a:spcPts val="1600"/>
              </a:spcBef>
              <a:spcAft>
                <a:spcPts val="0"/>
              </a:spcAft>
              <a:buSzPts val="1400"/>
              <a:buNone/>
              <a:defRPr b="0"/>
            </a:lvl6pPr>
            <a:lvl7pPr lvl="6" algn="r">
              <a:lnSpc>
                <a:spcPct val="115000"/>
              </a:lnSpc>
              <a:spcBef>
                <a:spcPts val="1600"/>
              </a:spcBef>
              <a:spcAft>
                <a:spcPts val="0"/>
              </a:spcAft>
              <a:buSzPts val="1400"/>
              <a:buNone/>
              <a:defRPr b="0"/>
            </a:lvl7pPr>
            <a:lvl8pPr lvl="7" algn="r">
              <a:lnSpc>
                <a:spcPct val="115000"/>
              </a:lnSpc>
              <a:spcBef>
                <a:spcPts val="1600"/>
              </a:spcBef>
              <a:spcAft>
                <a:spcPts val="0"/>
              </a:spcAft>
              <a:buSzPts val="1400"/>
              <a:buNone/>
              <a:defRPr b="0"/>
            </a:lvl8pPr>
            <a:lvl9pPr lvl="8" algn="r">
              <a:lnSpc>
                <a:spcPct val="115000"/>
              </a:lnSpc>
              <a:spcBef>
                <a:spcPts val="1600"/>
              </a:spcBef>
              <a:spcAft>
                <a:spcPts val="1600"/>
              </a:spcAft>
              <a:buSzPts val="1400"/>
              <a:buNone/>
              <a:defRPr b="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26" name="Google Shape;26;p6"/>
          <p:cNvSpPr txBox="1"/>
          <p:nvPr>
            <p:ph idx="1" type="subTitle"/>
          </p:nvPr>
        </p:nvSpPr>
        <p:spPr>
          <a:xfrm>
            <a:off x="457200" y="106750"/>
            <a:ext cx="4377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7" name="Google Shape;27;p6"/>
          <p:cNvSpPr txBox="1"/>
          <p:nvPr>
            <p:ph idx="2" type="subTitle"/>
          </p:nvPr>
        </p:nvSpPr>
        <p:spPr>
          <a:xfrm>
            <a:off x="4876900" y="106750"/>
            <a:ext cx="3810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sz="1500"/>
            </a:lvl2pPr>
            <a:lvl3pPr lvl="2" algn="r">
              <a:lnSpc>
                <a:spcPct val="115000"/>
              </a:lnSpc>
              <a:spcBef>
                <a:spcPts val="1600"/>
              </a:spcBef>
              <a:spcAft>
                <a:spcPts val="0"/>
              </a:spcAft>
              <a:buSzPts val="2400"/>
              <a:buNone/>
              <a:defRPr sz="1500"/>
            </a:lvl3pPr>
            <a:lvl4pPr lvl="3" algn="r">
              <a:lnSpc>
                <a:spcPct val="115000"/>
              </a:lnSpc>
              <a:spcBef>
                <a:spcPts val="1600"/>
              </a:spcBef>
              <a:spcAft>
                <a:spcPts val="0"/>
              </a:spcAft>
              <a:buSzPts val="2400"/>
              <a:buNone/>
              <a:defRPr sz="1500"/>
            </a:lvl4pPr>
            <a:lvl5pPr lvl="4" algn="r">
              <a:lnSpc>
                <a:spcPct val="115000"/>
              </a:lnSpc>
              <a:spcBef>
                <a:spcPts val="1600"/>
              </a:spcBef>
              <a:spcAft>
                <a:spcPts val="0"/>
              </a:spcAft>
              <a:buSzPts val="1800"/>
              <a:buNone/>
              <a:defRPr sz="1500"/>
            </a:lvl5pPr>
            <a:lvl6pPr lvl="5" algn="r">
              <a:lnSpc>
                <a:spcPct val="115000"/>
              </a:lnSpc>
              <a:spcBef>
                <a:spcPts val="1600"/>
              </a:spcBef>
              <a:spcAft>
                <a:spcPts val="0"/>
              </a:spcAft>
              <a:buSzPts val="1400"/>
              <a:buNone/>
              <a:defRPr sz="1500"/>
            </a:lvl6pPr>
            <a:lvl7pPr lvl="6" algn="r">
              <a:lnSpc>
                <a:spcPct val="115000"/>
              </a:lnSpc>
              <a:spcBef>
                <a:spcPts val="1600"/>
              </a:spcBef>
              <a:spcAft>
                <a:spcPts val="0"/>
              </a:spcAft>
              <a:buSzPts val="1400"/>
              <a:buNone/>
              <a:defRPr sz="1500"/>
            </a:lvl7pPr>
            <a:lvl8pPr lvl="7" algn="r">
              <a:lnSpc>
                <a:spcPct val="115000"/>
              </a:lnSpc>
              <a:spcBef>
                <a:spcPts val="1600"/>
              </a:spcBef>
              <a:spcAft>
                <a:spcPts val="0"/>
              </a:spcAft>
              <a:buSzPts val="1400"/>
              <a:buNone/>
              <a:defRPr sz="1500"/>
            </a:lvl8pPr>
            <a:lvl9pPr lvl="8" algn="r">
              <a:lnSpc>
                <a:spcPct val="115000"/>
              </a:lnSpc>
              <a:spcBef>
                <a:spcPts val="1600"/>
              </a:spcBef>
              <a:spcAft>
                <a:spcPts val="1600"/>
              </a:spcAft>
              <a:buSzPts val="1400"/>
              <a:buNone/>
              <a:defRPr sz="1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 name="Shape 28"/>
        <p:cNvGrpSpPr/>
        <p:nvPr/>
      </p:nvGrpSpPr>
      <p:grpSpPr>
        <a:xfrm>
          <a:off x="0" y="0"/>
          <a:ext cx="0" cy="0"/>
          <a:chOff x="0" y="0"/>
          <a:chExt cx="0" cy="0"/>
        </a:xfrm>
      </p:grpSpPr>
      <p:sp>
        <p:nvSpPr>
          <p:cNvPr id="29" name="Google Shape;29;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0" name="Google Shape;30;p7"/>
          <p:cNvSpPr txBox="1"/>
          <p:nvPr>
            <p:ph idx="1" type="subTitle"/>
          </p:nvPr>
        </p:nvSpPr>
        <p:spPr>
          <a:xfrm>
            <a:off x="45727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Cabin"/>
              <a:buNone/>
              <a:defRPr sz="1800">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 name="Google Shape;31;p7"/>
          <p:cNvSpPr txBox="1"/>
          <p:nvPr>
            <p:ph idx="2"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2" name="Google Shape;32;p7"/>
          <p:cNvSpPr txBox="1"/>
          <p:nvPr>
            <p:ph idx="3" type="subTitle"/>
          </p:nvPr>
        </p:nvSpPr>
        <p:spPr>
          <a:xfrm>
            <a:off x="457200" y="106750"/>
            <a:ext cx="4233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3" name="Google Shape;33;p7"/>
          <p:cNvSpPr txBox="1"/>
          <p:nvPr>
            <p:ph idx="4" type="subTitle"/>
          </p:nvPr>
        </p:nvSpPr>
        <p:spPr>
          <a:xfrm>
            <a:off x="4690500" y="106750"/>
            <a:ext cx="3996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34" name="Google Shape;34;p7"/>
          <p:cNvSpPr txBox="1"/>
          <p:nvPr>
            <p:ph idx="5" type="body"/>
          </p:nvPr>
        </p:nvSpPr>
        <p:spPr>
          <a:xfrm>
            <a:off x="4561900" y="1574475"/>
            <a:ext cx="4125000" cy="4662900"/>
          </a:xfrm>
          <a:prstGeom prst="rect">
            <a:avLst/>
          </a:prstGeom>
          <a:solidFill>
            <a:srgbClr val="EBF0F2"/>
          </a:solidFill>
          <a:ln cap="flat" cmpd="sng" w="9525">
            <a:solidFill>
              <a:srgbClr val="304852"/>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5" name="Shape 35"/>
        <p:cNvGrpSpPr/>
        <p:nvPr/>
      </p:nvGrpSpPr>
      <p:grpSpPr>
        <a:xfrm>
          <a:off x="0" y="0"/>
          <a:ext cx="0" cy="0"/>
          <a:chOff x="0" y="0"/>
          <a:chExt cx="0" cy="0"/>
        </a:xfrm>
      </p:grpSpPr>
      <p:sp>
        <p:nvSpPr>
          <p:cNvPr id="36" name="Google Shape;36;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a:buChar char="●"/>
              <a:defRPr b="0" i="0" sz="2400" u="none" cap="none" strike="noStrike">
                <a:solidFill>
                  <a:srgbClr val="304852"/>
                </a:solidFill>
                <a:latin typeface="Cabin"/>
                <a:ea typeface="Cabin"/>
                <a:cs typeface="Cabin"/>
                <a:sym typeface="Cabin"/>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7" name="Google Shape;37;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Cabin"/>
              <a:buNone/>
              <a:defRPr sz="1800">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8"/>
          <p:cNvSpPr txBox="1"/>
          <p:nvPr>
            <p:ph idx="2"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39" name="Google Shape;39;p8"/>
          <p:cNvSpPr txBox="1"/>
          <p:nvPr>
            <p:ph idx="3" type="subTitle"/>
          </p:nvPr>
        </p:nvSpPr>
        <p:spPr>
          <a:xfrm>
            <a:off x="457200" y="106750"/>
            <a:ext cx="3886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0" name="Google Shape;40;p8"/>
          <p:cNvSpPr txBox="1"/>
          <p:nvPr>
            <p:ph idx="4" type="subTitle"/>
          </p:nvPr>
        </p:nvSpPr>
        <p:spPr>
          <a:xfrm>
            <a:off x="4622900" y="106750"/>
            <a:ext cx="40638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Font typeface="Cabin"/>
              <a:buNone/>
              <a:defRPr sz="1800">
                <a:latin typeface="Cabin"/>
                <a:ea typeface="Cabin"/>
                <a:cs typeface="Cabin"/>
                <a:sym typeface="Cabin"/>
              </a:defRPr>
            </a:lvl1pPr>
          </a:lstStyle>
          <a:p/>
        </p:txBody>
      </p:sp>
      <p:sp>
        <p:nvSpPr>
          <p:cNvPr id="43" name="Google Shape;43;p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9"/>
          <p:cNvSpPr txBox="1"/>
          <p:nvPr>
            <p:ph idx="2" type="subTitle"/>
          </p:nvPr>
        </p:nvSpPr>
        <p:spPr>
          <a:xfrm>
            <a:off x="457200" y="106750"/>
            <a:ext cx="3513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5" name="Google Shape;45;p9"/>
          <p:cNvSpPr txBox="1"/>
          <p:nvPr>
            <p:ph idx="3" type="subTitle"/>
          </p:nvPr>
        </p:nvSpPr>
        <p:spPr>
          <a:xfrm>
            <a:off x="4639825" y="106750"/>
            <a:ext cx="4047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47" name="Shape 4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50" name="Shape 50"/>
        <p:cNvGrpSpPr/>
        <p:nvPr/>
      </p:nvGrpSpPr>
      <p:grpSpPr>
        <a:xfrm>
          <a:off x="0" y="0"/>
          <a:ext cx="0" cy="0"/>
          <a:chOff x="0" y="0"/>
          <a:chExt cx="0" cy="0"/>
        </a:xfrm>
      </p:grpSpPr>
      <p:sp>
        <p:nvSpPr>
          <p:cNvPr id="51" name="Google Shape;51;p13"/>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2" name="Google Shape;52;p1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3" name="Google Shape;53;p1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4" name="Google Shape;54;p13"/>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55" name="Shape 55"/>
        <p:cNvGrpSpPr/>
        <p:nvPr/>
      </p:nvGrpSpPr>
      <p:grpSpPr>
        <a:xfrm>
          <a:off x="0" y="0"/>
          <a:ext cx="0" cy="0"/>
          <a:chOff x="0" y="0"/>
          <a:chExt cx="0" cy="0"/>
        </a:xfrm>
      </p:grpSpPr>
      <p:sp>
        <p:nvSpPr>
          <p:cNvPr id="56" name="Google Shape;56;p14"/>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57" name="Google Shape;57;p14"/>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8" name="Google Shape;58;p14"/>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9" name="Google Shape;59;p14"/>
          <p:cNvSpPr txBox="1"/>
          <p:nvPr>
            <p:ph idx="3" type="subTitle"/>
          </p:nvPr>
        </p:nvSpPr>
        <p:spPr>
          <a:xfrm>
            <a:off x="457200" y="106750"/>
            <a:ext cx="4073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solidFill>
                  <a:srgbClr val="304852"/>
                </a:solidFill>
              </a:defRPr>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0" name="Google Shape;60;p14"/>
          <p:cNvSpPr txBox="1"/>
          <p:nvPr>
            <p:ph idx="4" type="subTitle"/>
          </p:nvPr>
        </p:nvSpPr>
        <p:spPr>
          <a:xfrm>
            <a:off x="5114300" y="106750"/>
            <a:ext cx="3572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solidFill>
                  <a:srgbClr val="304852"/>
                </a:solidFill>
              </a:defRPr>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15"/>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0"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63" name="Google Shape;63;p15"/>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4" name="Google Shape;64;p15"/>
          <p:cNvSpPr txBox="1"/>
          <p:nvPr>
            <p:ph idx="1" type="subTitle"/>
          </p:nvPr>
        </p:nvSpPr>
        <p:spPr>
          <a:xfrm>
            <a:off x="457200" y="106750"/>
            <a:ext cx="436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5" name="Google Shape;65;p15"/>
          <p:cNvSpPr txBox="1"/>
          <p:nvPr>
            <p:ph idx="3" type="subTitle"/>
          </p:nvPr>
        </p:nvSpPr>
        <p:spPr>
          <a:xfrm>
            <a:off x="4678375" y="106750"/>
            <a:ext cx="4008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6"/>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16"/>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9" name="Google Shape;69;p16"/>
          <p:cNvSpPr txBox="1"/>
          <p:nvPr>
            <p:ph idx="2" type="subTitle"/>
          </p:nvPr>
        </p:nvSpPr>
        <p:spPr>
          <a:xfrm>
            <a:off x="457200" y="106750"/>
            <a:ext cx="38235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0" name="Google Shape;70;p16"/>
          <p:cNvSpPr txBox="1"/>
          <p:nvPr>
            <p:ph idx="3" type="subTitle"/>
          </p:nvPr>
        </p:nvSpPr>
        <p:spPr>
          <a:xfrm>
            <a:off x="5370875" y="106750"/>
            <a:ext cx="3315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7"/>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73" name="Google Shape;73;p17"/>
          <p:cNvSpPr txBox="1"/>
          <p:nvPr>
            <p:ph idx="1" type="subTitle"/>
          </p:nvPr>
        </p:nvSpPr>
        <p:spPr>
          <a:xfrm>
            <a:off x="457200" y="106750"/>
            <a:ext cx="4377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4" name="Google Shape;74;p17"/>
          <p:cNvSpPr txBox="1"/>
          <p:nvPr>
            <p:ph idx="2" type="subTitle"/>
          </p:nvPr>
        </p:nvSpPr>
        <p:spPr>
          <a:xfrm>
            <a:off x="4876900" y="106750"/>
            <a:ext cx="3810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 name="Shape 75"/>
        <p:cNvGrpSpPr/>
        <p:nvPr/>
      </p:nvGrpSpPr>
      <p:grpSpPr>
        <a:xfrm>
          <a:off x="0" y="0"/>
          <a:ext cx="0" cy="0"/>
          <a:chOff x="0" y="0"/>
          <a:chExt cx="0" cy="0"/>
        </a:xfrm>
      </p:grpSpPr>
      <p:sp>
        <p:nvSpPr>
          <p:cNvPr id="76" name="Google Shape;76;p18"/>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77" name="Google Shape;77;p18"/>
          <p:cNvSpPr txBox="1"/>
          <p:nvPr>
            <p:ph idx="1" type="subTitle"/>
          </p:nvPr>
        </p:nvSpPr>
        <p:spPr>
          <a:xfrm>
            <a:off x="45727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8" name="Google Shape;78;p18"/>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79" name="Google Shape;79;p18"/>
          <p:cNvSpPr txBox="1"/>
          <p:nvPr>
            <p:ph idx="3" type="subTitle"/>
          </p:nvPr>
        </p:nvSpPr>
        <p:spPr>
          <a:xfrm>
            <a:off x="457200" y="106750"/>
            <a:ext cx="4233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80" name="Google Shape;80;p18"/>
          <p:cNvSpPr txBox="1"/>
          <p:nvPr>
            <p:ph idx="4" type="subTitle"/>
          </p:nvPr>
        </p:nvSpPr>
        <p:spPr>
          <a:xfrm>
            <a:off x="4690500" y="106750"/>
            <a:ext cx="3996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81" name="Google Shape;81;p18"/>
          <p:cNvSpPr txBox="1"/>
          <p:nvPr>
            <p:ph idx="5" type="body"/>
          </p:nvPr>
        </p:nvSpPr>
        <p:spPr>
          <a:xfrm>
            <a:off x="4561900" y="1574475"/>
            <a:ext cx="4125000" cy="4662900"/>
          </a:xfrm>
          <a:prstGeom prst="rect">
            <a:avLst/>
          </a:prstGeom>
          <a:solidFill>
            <a:srgbClr val="EBF0F2"/>
          </a:solidFill>
          <a:ln cap="flat" cmpd="sng" w="9525">
            <a:solidFill>
              <a:srgbClr val="304852"/>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82" name="Shape 82"/>
        <p:cNvGrpSpPr/>
        <p:nvPr/>
      </p:nvGrpSpPr>
      <p:grpSpPr>
        <a:xfrm>
          <a:off x="0" y="0"/>
          <a:ext cx="0" cy="0"/>
          <a:chOff x="0" y="0"/>
          <a:chExt cx="0" cy="0"/>
        </a:xfrm>
      </p:grpSpPr>
      <p:sp>
        <p:nvSpPr>
          <p:cNvPr id="83" name="Google Shape;83;p19"/>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84" name="Google Shape;84;p19"/>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5" name="Google Shape;85;p19"/>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86" name="Google Shape;86;p19"/>
          <p:cNvSpPr txBox="1"/>
          <p:nvPr>
            <p:ph idx="3" type="subTitle"/>
          </p:nvPr>
        </p:nvSpPr>
        <p:spPr>
          <a:xfrm>
            <a:off x="457200" y="106750"/>
            <a:ext cx="3886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87" name="Google Shape;87;p19"/>
          <p:cNvSpPr txBox="1"/>
          <p:nvPr>
            <p:ph idx="4" type="subTitle"/>
          </p:nvPr>
        </p:nvSpPr>
        <p:spPr>
          <a:xfrm>
            <a:off x="4622900" y="106750"/>
            <a:ext cx="40638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0"/>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90" name="Google Shape;90;p20"/>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91" name="Google Shape;91;p20"/>
          <p:cNvSpPr txBox="1"/>
          <p:nvPr>
            <p:ph idx="2" type="subTitle"/>
          </p:nvPr>
        </p:nvSpPr>
        <p:spPr>
          <a:xfrm>
            <a:off x="457200" y="106750"/>
            <a:ext cx="3513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92" name="Google Shape;92;p20"/>
          <p:cNvSpPr txBox="1"/>
          <p:nvPr>
            <p:ph idx="3" type="subTitle"/>
          </p:nvPr>
        </p:nvSpPr>
        <p:spPr>
          <a:xfrm>
            <a:off x="4639825" y="106750"/>
            <a:ext cx="4047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94" name="Shape 9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95" name="Shape 95"/>
        <p:cNvGrpSpPr/>
        <p:nvPr/>
      </p:nvGrpSpPr>
      <p:grpSpPr>
        <a:xfrm>
          <a:off x="0" y="0"/>
          <a:ext cx="0" cy="0"/>
          <a:chOff x="0" y="0"/>
          <a:chExt cx="0" cy="0"/>
        </a:xfrm>
      </p:grpSpPr>
      <p:sp>
        <p:nvSpPr>
          <p:cNvPr id="96" name="Google Shape;96;p23"/>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1.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33325" y="1536625"/>
            <a:ext cx="83991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304852"/>
              </a:buClr>
              <a:buSzPts val="3600"/>
              <a:buFont typeface="Cabin"/>
              <a:buChar char="●"/>
              <a:defRPr b="1" i="0" sz="3600" u="none" cap="none" strike="noStrike">
                <a:solidFill>
                  <a:srgbClr val="304852"/>
                </a:solidFill>
                <a:latin typeface="Cabin"/>
                <a:ea typeface="Cabin"/>
                <a:cs typeface="Cabin"/>
                <a:sym typeface="Cabin"/>
              </a:defRPr>
            </a:lvl1pPr>
            <a:lvl2pPr indent="-431800" lvl="1" marL="914400" marR="0" rtl="0" algn="l">
              <a:lnSpc>
                <a:spcPct val="115000"/>
              </a:lnSpc>
              <a:spcBef>
                <a:spcPts val="1600"/>
              </a:spcBef>
              <a:spcAft>
                <a:spcPts val="0"/>
              </a:spcAft>
              <a:buClr>
                <a:srgbClr val="304852"/>
              </a:buClr>
              <a:buSzPts val="3200"/>
              <a:buFont typeface="Cabin"/>
              <a:buChar char="○"/>
              <a:defRPr b="1" i="0" sz="3200" u="none" cap="none" strike="noStrike">
                <a:solidFill>
                  <a:srgbClr val="304852"/>
                </a:solidFill>
                <a:latin typeface="Cabin"/>
                <a:ea typeface="Cabin"/>
                <a:cs typeface="Cabin"/>
                <a:sym typeface="Cabin"/>
              </a:defRPr>
            </a:lvl2pPr>
            <a:lvl3pPr indent="-381000" lvl="2" marL="1371600" marR="0" rtl="0" algn="l">
              <a:lnSpc>
                <a:spcPct val="115000"/>
              </a:lnSpc>
              <a:spcBef>
                <a:spcPts val="1600"/>
              </a:spcBef>
              <a:spcAft>
                <a:spcPts val="0"/>
              </a:spcAft>
              <a:buClr>
                <a:srgbClr val="304852"/>
              </a:buClr>
              <a:buSzPts val="2400"/>
              <a:buFont typeface="Cabin"/>
              <a:buChar char="■"/>
              <a:defRPr b="1" i="0" sz="2400" u="none" cap="none" strike="noStrike">
                <a:solidFill>
                  <a:srgbClr val="304852"/>
                </a:solidFill>
                <a:latin typeface="Cabin"/>
                <a:ea typeface="Cabin"/>
                <a:cs typeface="Cabin"/>
                <a:sym typeface="Cabin"/>
              </a:defRPr>
            </a:lvl3pPr>
            <a:lvl4pPr indent="-381000" lvl="3" marL="1828800" marR="0" rtl="0" algn="l">
              <a:lnSpc>
                <a:spcPct val="115000"/>
              </a:lnSpc>
              <a:spcBef>
                <a:spcPts val="1600"/>
              </a:spcBef>
              <a:spcAft>
                <a:spcPts val="0"/>
              </a:spcAft>
              <a:buClr>
                <a:srgbClr val="304852"/>
              </a:buClr>
              <a:buSzPts val="2400"/>
              <a:buFont typeface="Cabin"/>
              <a:buChar char="●"/>
              <a:defRPr b="0" i="0" sz="2400" u="none" cap="none" strike="noStrike">
                <a:solidFill>
                  <a:srgbClr val="304852"/>
                </a:solidFill>
                <a:latin typeface="Cabin"/>
                <a:ea typeface="Cabin"/>
                <a:cs typeface="Cabin"/>
                <a:sym typeface="Cabin"/>
              </a:defRPr>
            </a:lvl4pPr>
            <a:lvl5pPr indent="-342900" lvl="4" marL="2286000" marR="0" rtl="0" algn="l">
              <a:lnSpc>
                <a:spcPct val="115000"/>
              </a:lnSpc>
              <a:spcBef>
                <a:spcPts val="1600"/>
              </a:spcBef>
              <a:spcAft>
                <a:spcPts val="0"/>
              </a:spcAft>
              <a:buClr>
                <a:srgbClr val="304852"/>
              </a:buClr>
              <a:buSzPts val="1800"/>
              <a:buFont typeface="Cabin"/>
              <a:buChar char="○"/>
              <a:defRPr b="0" i="0" sz="1800" u="none" cap="none" strike="noStrike">
                <a:solidFill>
                  <a:srgbClr val="304852"/>
                </a:solidFill>
                <a:latin typeface="Cabin"/>
                <a:ea typeface="Cabin"/>
                <a:cs typeface="Cabin"/>
                <a:sym typeface="Cabin"/>
              </a:defRPr>
            </a:lvl5pPr>
            <a:lvl6pPr indent="-317500" lvl="5" marL="27432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6pPr>
            <a:lvl7pPr indent="-317500" lvl="6" marL="32004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7pPr>
            <a:lvl8pPr indent="-317500" lvl="7" marL="36576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8pPr>
            <a:lvl9pPr indent="-317500" lvl="8" marL="4114800" marR="0" rtl="0" algn="l">
              <a:lnSpc>
                <a:spcPct val="115000"/>
              </a:lnSpc>
              <a:spcBef>
                <a:spcPts val="1600"/>
              </a:spcBef>
              <a:spcAft>
                <a:spcPts val="1600"/>
              </a:spcAft>
              <a:buClr>
                <a:srgbClr val="304852"/>
              </a:buClr>
              <a:buSzPts val="1400"/>
              <a:buFont typeface="Cabin"/>
              <a:buChar char="■"/>
              <a:defRPr b="0" i="0" sz="1400" u="none" cap="none" strike="noStrike">
                <a:solidFill>
                  <a:srgbClr val="304852"/>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48" name="Shape 48"/>
        <p:cNvGrpSpPr/>
        <p:nvPr/>
      </p:nvGrpSpPr>
      <p:grpSpPr>
        <a:xfrm>
          <a:off x="0" y="0"/>
          <a:ext cx="0" cy="0"/>
          <a:chOff x="0" y="0"/>
          <a:chExt cx="0" cy="0"/>
        </a:xfrm>
      </p:grpSpPr>
      <p:sp>
        <p:nvSpPr>
          <p:cNvPr id="49" name="Google Shape;49;p12"/>
          <p:cNvSpPr txBox="1"/>
          <p:nvPr>
            <p:ph idx="1" type="body"/>
          </p:nvPr>
        </p:nvSpPr>
        <p:spPr>
          <a:xfrm>
            <a:off x="433325" y="1536625"/>
            <a:ext cx="83991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indent="-431800" lvl="1" marL="914400" marR="0" rtl="0" algn="l">
              <a:lnSpc>
                <a:spcPct val="115000"/>
              </a:lnSpc>
              <a:spcBef>
                <a:spcPts val="1600"/>
              </a:spcBef>
              <a:spcAft>
                <a:spcPts val="0"/>
              </a:spcAft>
              <a:buClr>
                <a:srgbClr val="304852"/>
              </a:buClr>
              <a:buSzPts val="3200"/>
              <a:buFont typeface="Open Sans"/>
              <a:buChar char="○"/>
              <a:defRPr b="1" i="0" sz="3200" u="none" cap="none" strike="noStrike">
                <a:solidFill>
                  <a:srgbClr val="304852"/>
                </a:solidFill>
                <a:latin typeface="Open Sans"/>
                <a:ea typeface="Open Sans"/>
                <a:cs typeface="Open Sans"/>
                <a:sym typeface="Open Sans"/>
              </a:defRPr>
            </a:lvl2pPr>
            <a:lvl3pPr indent="-381000" lvl="2" marL="1371600" marR="0" rtl="0" algn="l">
              <a:lnSpc>
                <a:spcPct val="115000"/>
              </a:lnSpc>
              <a:spcBef>
                <a:spcPts val="1600"/>
              </a:spcBef>
              <a:spcAft>
                <a:spcPts val="0"/>
              </a:spcAft>
              <a:buClr>
                <a:srgbClr val="304852"/>
              </a:buClr>
              <a:buSzPts val="2400"/>
              <a:buFont typeface="Cabin"/>
              <a:buChar char="■"/>
              <a:defRPr b="1" i="0" sz="2400" u="none" cap="none" strike="noStrike">
                <a:solidFill>
                  <a:srgbClr val="304852"/>
                </a:solidFill>
                <a:latin typeface="Cabin"/>
                <a:ea typeface="Cabin"/>
                <a:cs typeface="Cabin"/>
                <a:sym typeface="Cabin"/>
              </a:defRPr>
            </a:lvl3pPr>
            <a:lvl4pPr indent="-381000" lvl="3" marL="1828800" marR="0" rtl="0" algn="l">
              <a:lnSpc>
                <a:spcPct val="115000"/>
              </a:lnSpc>
              <a:spcBef>
                <a:spcPts val="160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304852"/>
              </a:buClr>
              <a:buSzPts val="1800"/>
              <a:buFont typeface="Cabin Condensed"/>
              <a:buChar char="○"/>
              <a:defRPr b="0" i="0" sz="1800" u="none" cap="none" strike="noStrike">
                <a:solidFill>
                  <a:srgbClr val="304852"/>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Cabin"/>
              <a:buChar char="○"/>
              <a:defRPr b="0" i="0" sz="1400" u="none" cap="none" strike="noStrike">
                <a:solidFill>
                  <a:schemeClr val="dk2"/>
                </a:solidFill>
                <a:latin typeface="Cabin"/>
                <a:ea typeface="Cabin"/>
                <a:cs typeface="Cabin"/>
                <a:sym typeface="Cabin"/>
              </a:defRPr>
            </a:lvl8pPr>
            <a:lvl9pPr indent="-317500" lvl="8" marL="4114800" marR="0" rtl="0" algn="l">
              <a:lnSpc>
                <a:spcPct val="115000"/>
              </a:lnSpc>
              <a:spcBef>
                <a:spcPts val="1600"/>
              </a:spcBef>
              <a:spcAft>
                <a:spcPts val="1600"/>
              </a:spcAft>
              <a:buClr>
                <a:schemeClr val="dk2"/>
              </a:buClr>
              <a:buSzPts val="1400"/>
              <a:buFont typeface="Cabin"/>
              <a:buChar char="■"/>
              <a:defRPr b="0" i="0" sz="1400" u="none" cap="none" strike="noStrike">
                <a:solidFill>
                  <a:schemeClr val="dk2"/>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0" name="Shape 100"/>
        <p:cNvGrpSpPr/>
        <p:nvPr/>
      </p:nvGrpSpPr>
      <p:grpSpPr>
        <a:xfrm>
          <a:off x="0" y="0"/>
          <a:ext cx="0" cy="0"/>
          <a:chOff x="0" y="0"/>
          <a:chExt cx="0" cy="0"/>
        </a:xfrm>
      </p:grpSpPr>
      <p:sp>
        <p:nvSpPr>
          <p:cNvPr id="101" name="Google Shape;101;p24"/>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Navigate: Speed</a:t>
            </a:r>
            <a:endParaRPr b="1" i="0" sz="2800" u="none" cap="none" strike="noStrike">
              <a:solidFill>
                <a:srgbClr val="FFFFFF"/>
              </a:solidFill>
              <a:latin typeface="Open Sans"/>
              <a:ea typeface="Open Sans"/>
              <a:cs typeface="Open Sans"/>
              <a:sym typeface="Open Sans"/>
            </a:endParaRPr>
          </a:p>
        </p:txBody>
      </p:sp>
      <p:sp>
        <p:nvSpPr>
          <p:cNvPr id="102" name="Google Shape;102;p2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A</a:t>
            </a:r>
            <a:endParaRPr b="0" i="0" sz="1800" u="none" cap="none" strike="noStrike">
              <a:solidFill>
                <a:srgbClr val="256C8D"/>
              </a:solidFill>
              <a:latin typeface="Boogaloo"/>
              <a:ea typeface="Boogaloo"/>
              <a:cs typeface="Boogaloo"/>
              <a:sym typeface="Boogaloo"/>
            </a:endParaRPr>
          </a:p>
        </p:txBody>
      </p:sp>
      <p:sp>
        <p:nvSpPr>
          <p:cNvPr id="103" name="Google Shape;103;p24"/>
          <p:cNvSpPr/>
          <p:nvPr/>
        </p:nvSpPr>
        <p:spPr>
          <a:xfrm>
            <a:off x="457200" y="1600200"/>
            <a:ext cx="8229600" cy="4726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4"/>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How would the speed that the driver is going affect the position and time of the car?</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05" name="Google Shape;105;p24"/>
          <p:cNvPicPr preferRelativeResize="0"/>
          <p:nvPr/>
        </p:nvPicPr>
        <p:blipFill rotWithShape="1">
          <a:blip r:embed="rId3">
            <a:alphaModFix/>
          </a:blip>
          <a:srcRect b="0" l="0" r="0" t="0"/>
          <a:stretch/>
        </p:blipFill>
        <p:spPr>
          <a:xfrm>
            <a:off x="626438" y="1813500"/>
            <a:ext cx="1457325" cy="1485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9" name="Shape 109"/>
        <p:cNvGrpSpPr/>
        <p:nvPr/>
      </p:nvGrpSpPr>
      <p:grpSpPr>
        <a:xfrm>
          <a:off x="0" y="0"/>
          <a:ext cx="0" cy="0"/>
          <a:chOff x="0" y="0"/>
          <a:chExt cx="0" cy="0"/>
        </a:xfrm>
      </p:grpSpPr>
      <p:sp>
        <p:nvSpPr>
          <p:cNvPr id="110" name="Google Shape;110;p25"/>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Navigate: Speed</a:t>
            </a:r>
            <a:endParaRPr b="1" i="0" sz="2800" u="none" cap="none" strike="noStrike">
              <a:solidFill>
                <a:srgbClr val="FFFFFF"/>
              </a:solidFill>
              <a:latin typeface="Open Sans"/>
              <a:ea typeface="Open Sans"/>
              <a:cs typeface="Open Sans"/>
              <a:sym typeface="Open Sans"/>
            </a:endParaRPr>
          </a:p>
        </p:txBody>
      </p:sp>
      <p:sp>
        <p:nvSpPr>
          <p:cNvPr id="111" name="Google Shape;111;p25"/>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B</a:t>
            </a:r>
            <a:endParaRPr b="0" i="0" sz="1800" u="none" cap="none" strike="noStrike">
              <a:solidFill>
                <a:srgbClr val="256C8D"/>
              </a:solidFill>
              <a:latin typeface="Boogaloo"/>
              <a:ea typeface="Boogaloo"/>
              <a:cs typeface="Boogaloo"/>
              <a:sym typeface="Boogaloo"/>
            </a:endParaRPr>
          </a:p>
        </p:txBody>
      </p:sp>
      <p:sp>
        <p:nvSpPr>
          <p:cNvPr id="112" name="Google Shape;112;p25"/>
          <p:cNvSpPr/>
          <p:nvPr/>
        </p:nvSpPr>
        <p:spPr>
          <a:xfrm>
            <a:off x="457200" y="1600200"/>
            <a:ext cx="8229600" cy="4726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5"/>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could we do to keep track of how the vehicles’ speeds changes over time?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14" name="Google Shape;114;p25"/>
          <p:cNvPicPr preferRelativeResize="0"/>
          <p:nvPr/>
        </p:nvPicPr>
        <p:blipFill rotWithShape="1">
          <a:blip r:embed="rId3">
            <a:alphaModFix/>
          </a:blip>
          <a:srcRect b="0" l="0" r="0" t="0"/>
          <a:stretch/>
        </p:blipFill>
        <p:spPr>
          <a:xfrm>
            <a:off x="626438" y="1813500"/>
            <a:ext cx="1457325" cy="1485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8" name="Shape 118"/>
        <p:cNvGrpSpPr/>
        <p:nvPr/>
      </p:nvGrpSpPr>
      <p:grpSpPr>
        <a:xfrm>
          <a:off x="0" y="0"/>
          <a:ext cx="0" cy="0"/>
          <a:chOff x="0" y="0"/>
          <a:chExt cx="0" cy="0"/>
        </a:xfrm>
      </p:grpSpPr>
      <p:sp>
        <p:nvSpPr>
          <p:cNvPr id="119" name="Google Shape;119;p26"/>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Speed</a:t>
            </a:r>
            <a:endParaRPr b="1" i="0" sz="2800" u="none" cap="none" strike="noStrike">
              <a:solidFill>
                <a:srgbClr val="FFFFFF"/>
              </a:solidFill>
              <a:latin typeface="Open Sans"/>
              <a:ea typeface="Open Sans"/>
              <a:cs typeface="Open Sans"/>
              <a:sym typeface="Open Sans"/>
            </a:endParaRPr>
          </a:p>
        </p:txBody>
      </p:sp>
      <p:sp>
        <p:nvSpPr>
          <p:cNvPr id="120" name="Google Shape;120;p2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C</a:t>
            </a:r>
            <a:endParaRPr b="0" i="0" sz="1800" u="none" cap="none" strike="noStrike">
              <a:solidFill>
                <a:srgbClr val="256C8D"/>
              </a:solidFill>
              <a:latin typeface="Boogaloo"/>
              <a:ea typeface="Boogaloo"/>
              <a:cs typeface="Boogaloo"/>
              <a:sym typeface="Boogaloo"/>
            </a:endParaRPr>
          </a:p>
        </p:txBody>
      </p:sp>
      <p:sp>
        <p:nvSpPr>
          <p:cNvPr id="121" name="Google Shape;121;p26"/>
          <p:cNvSpPr/>
          <p:nvPr/>
        </p:nvSpPr>
        <p:spPr>
          <a:xfrm>
            <a:off x="457200" y="1600200"/>
            <a:ext cx="8229600" cy="2704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6"/>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group</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Plot speed over time for the un-distracted driver and the distracted driver on the same plot.</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23" name="Google Shape;123;p26"/>
          <p:cNvPicPr preferRelativeResize="0"/>
          <p:nvPr/>
        </p:nvPicPr>
        <p:blipFill rotWithShape="1">
          <a:blip r:embed="rId3">
            <a:alphaModFix/>
          </a:blip>
          <a:srcRect b="0" l="0" r="0" t="0"/>
          <a:stretch/>
        </p:blipFill>
        <p:spPr>
          <a:xfrm>
            <a:off x="547975" y="1874270"/>
            <a:ext cx="1696050" cy="1060025"/>
          </a:xfrm>
          <a:prstGeom prst="rect">
            <a:avLst/>
          </a:prstGeom>
          <a:noFill/>
          <a:ln>
            <a:noFill/>
          </a:ln>
        </p:spPr>
      </p:pic>
      <p:sp>
        <p:nvSpPr>
          <p:cNvPr id="124" name="Google Shape;124;p26"/>
          <p:cNvSpPr txBox="1"/>
          <p:nvPr/>
        </p:nvSpPr>
        <p:spPr>
          <a:xfrm rot="-126714">
            <a:off x="5000656" y="3671302"/>
            <a:ext cx="3663388" cy="129029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 and create a public record of our ideas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8" name="Shape 128"/>
        <p:cNvGrpSpPr/>
        <p:nvPr/>
      </p:nvGrpSpPr>
      <p:grpSpPr>
        <a:xfrm>
          <a:off x="0" y="0"/>
          <a:ext cx="0" cy="0"/>
          <a:chOff x="0" y="0"/>
          <a:chExt cx="0" cy="0"/>
        </a:xfrm>
      </p:grpSpPr>
      <p:sp>
        <p:nvSpPr>
          <p:cNvPr id="129" name="Google Shape;129;p27"/>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Speed</a:t>
            </a:r>
            <a:endParaRPr b="1" i="0" sz="2800" u="none" cap="none" strike="noStrike">
              <a:solidFill>
                <a:srgbClr val="FFFFFF"/>
              </a:solidFill>
              <a:latin typeface="Open Sans"/>
              <a:ea typeface="Open Sans"/>
              <a:cs typeface="Open Sans"/>
              <a:sym typeface="Open Sans"/>
            </a:endParaRPr>
          </a:p>
        </p:txBody>
      </p:sp>
      <p:sp>
        <p:nvSpPr>
          <p:cNvPr id="130" name="Google Shape;130;p2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D</a:t>
            </a:r>
            <a:endParaRPr b="0" i="0" sz="1800" u="none" cap="none" strike="noStrike">
              <a:solidFill>
                <a:srgbClr val="256C8D"/>
              </a:solidFill>
              <a:latin typeface="Boogaloo"/>
              <a:ea typeface="Boogaloo"/>
              <a:cs typeface="Boogaloo"/>
              <a:sym typeface="Boogaloo"/>
            </a:endParaRPr>
          </a:p>
        </p:txBody>
      </p:sp>
      <p:sp>
        <p:nvSpPr>
          <p:cNvPr id="131" name="Google Shape;131;p27"/>
          <p:cNvSpPr/>
          <p:nvPr/>
        </p:nvSpPr>
        <p:spPr>
          <a:xfrm>
            <a:off x="457200" y="1600200"/>
            <a:ext cx="8229600" cy="2704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7"/>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group</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Use the handout to calculate the impact of speed on reaction distance.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33" name="Google Shape;133;p27"/>
          <p:cNvPicPr preferRelativeResize="0"/>
          <p:nvPr/>
        </p:nvPicPr>
        <p:blipFill rotWithShape="1">
          <a:blip r:embed="rId3">
            <a:alphaModFix/>
          </a:blip>
          <a:srcRect b="0" l="0" r="0" t="0"/>
          <a:stretch/>
        </p:blipFill>
        <p:spPr>
          <a:xfrm>
            <a:off x="547975" y="1874270"/>
            <a:ext cx="1696050" cy="1060025"/>
          </a:xfrm>
          <a:prstGeom prst="rect">
            <a:avLst/>
          </a:prstGeom>
          <a:noFill/>
          <a:ln>
            <a:noFill/>
          </a:ln>
        </p:spPr>
      </p:pic>
      <p:sp>
        <p:nvSpPr>
          <p:cNvPr id="134" name="Google Shape;134;p27"/>
          <p:cNvSpPr txBox="1"/>
          <p:nvPr/>
        </p:nvSpPr>
        <p:spPr>
          <a:xfrm rot="-126566">
            <a:off x="4701669" y="3708483"/>
            <a:ext cx="4148511" cy="609726"/>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8" name="Shape 138"/>
        <p:cNvGrpSpPr/>
        <p:nvPr/>
      </p:nvGrpSpPr>
      <p:grpSpPr>
        <a:xfrm>
          <a:off x="0" y="0"/>
          <a:ext cx="0" cy="0"/>
          <a:chOff x="0" y="0"/>
          <a:chExt cx="0" cy="0"/>
        </a:xfrm>
      </p:grpSpPr>
      <p:sp>
        <p:nvSpPr>
          <p:cNvPr id="139" name="Google Shape;139;p28"/>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Speed</a:t>
            </a:r>
            <a:endParaRPr b="1" i="0" sz="2800" u="none" cap="none" strike="noStrike">
              <a:solidFill>
                <a:srgbClr val="FFFFFF"/>
              </a:solidFill>
              <a:latin typeface="Open Sans"/>
              <a:ea typeface="Open Sans"/>
              <a:cs typeface="Open Sans"/>
              <a:sym typeface="Open Sans"/>
            </a:endParaRPr>
          </a:p>
        </p:txBody>
      </p:sp>
      <p:sp>
        <p:nvSpPr>
          <p:cNvPr id="140" name="Google Shape;140;p2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E</a:t>
            </a:r>
            <a:endParaRPr b="0" i="0" sz="1800" u="none" cap="none" strike="noStrike">
              <a:solidFill>
                <a:srgbClr val="256C8D"/>
              </a:solidFill>
              <a:latin typeface="Boogaloo"/>
              <a:ea typeface="Boogaloo"/>
              <a:cs typeface="Boogaloo"/>
              <a:sym typeface="Boogaloo"/>
            </a:endParaRPr>
          </a:p>
        </p:txBody>
      </p:sp>
      <p:sp>
        <p:nvSpPr>
          <p:cNvPr id="141" name="Google Shape;141;p28"/>
          <p:cNvSpPr/>
          <p:nvPr/>
        </p:nvSpPr>
        <p:spPr>
          <a:xfrm>
            <a:off x="457200" y="1600200"/>
            <a:ext cx="8229600" cy="2704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8"/>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did the data say about the impact of speed on </a:t>
            </a:r>
            <a:r>
              <a:rPr lang="en" sz="2600">
                <a:solidFill>
                  <a:srgbClr val="304852"/>
                </a:solidFill>
                <a:latin typeface="Cabin"/>
                <a:ea typeface="Cabin"/>
                <a:cs typeface="Cabin"/>
                <a:sym typeface="Cabin"/>
              </a:rPr>
              <a:t>reaction </a:t>
            </a:r>
            <a:r>
              <a:rPr b="0" i="0" lang="en" sz="2600" u="none" cap="none" strike="noStrike">
                <a:solidFill>
                  <a:srgbClr val="304852"/>
                </a:solidFill>
                <a:latin typeface="Cabin"/>
                <a:ea typeface="Cabin"/>
                <a:cs typeface="Cabin"/>
                <a:sym typeface="Cabin"/>
              </a:rPr>
              <a:t>distance given a fixed reaction time?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43" name="Google Shape;143;p28"/>
          <p:cNvPicPr preferRelativeResize="0"/>
          <p:nvPr/>
        </p:nvPicPr>
        <p:blipFill rotWithShape="1">
          <a:blip r:embed="rId3">
            <a:alphaModFix/>
          </a:blip>
          <a:srcRect b="0" l="0" r="0" t="0"/>
          <a:stretch/>
        </p:blipFill>
        <p:spPr>
          <a:xfrm>
            <a:off x="701950" y="1915425"/>
            <a:ext cx="1457325" cy="1485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7" name="Shape 147"/>
        <p:cNvGrpSpPr/>
        <p:nvPr/>
      </p:nvGrpSpPr>
      <p:grpSpPr>
        <a:xfrm>
          <a:off x="0" y="0"/>
          <a:ext cx="0" cy="0"/>
          <a:chOff x="0" y="0"/>
          <a:chExt cx="0" cy="0"/>
        </a:xfrm>
      </p:grpSpPr>
      <p:sp>
        <p:nvSpPr>
          <p:cNvPr id="148" name="Google Shape;148;p29"/>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Speed</a:t>
            </a:r>
            <a:endParaRPr b="1" i="0" sz="2800" u="none" cap="none" strike="noStrike">
              <a:solidFill>
                <a:srgbClr val="FFFFFF"/>
              </a:solidFill>
              <a:latin typeface="Open Sans"/>
              <a:ea typeface="Open Sans"/>
              <a:cs typeface="Open Sans"/>
              <a:sym typeface="Open Sans"/>
            </a:endParaRPr>
          </a:p>
        </p:txBody>
      </p:sp>
      <p:sp>
        <p:nvSpPr>
          <p:cNvPr id="149" name="Google Shape;149;p29"/>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F</a:t>
            </a:r>
            <a:endParaRPr b="0" i="0" sz="1800" u="none" cap="none" strike="noStrike">
              <a:solidFill>
                <a:srgbClr val="256C8D"/>
              </a:solidFill>
              <a:latin typeface="Boogaloo"/>
              <a:ea typeface="Boogaloo"/>
              <a:cs typeface="Boogaloo"/>
              <a:sym typeface="Boogaloo"/>
            </a:endParaRPr>
          </a:p>
        </p:txBody>
      </p:sp>
      <p:sp>
        <p:nvSpPr>
          <p:cNvPr id="150" name="Google Shape;150;p29"/>
          <p:cNvSpPr/>
          <p:nvPr/>
        </p:nvSpPr>
        <p:spPr>
          <a:xfrm>
            <a:off x="457200" y="1600200"/>
            <a:ext cx="8229600" cy="2704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9"/>
          <p:cNvSpPr txBox="1"/>
          <p:nvPr/>
        </p:nvSpPr>
        <p:spPr>
          <a:xfrm>
            <a:off x="2330100" y="1813500"/>
            <a:ext cx="59139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With your class</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can we do to limit people’s speeds?</a:t>
            </a:r>
            <a:r>
              <a:rPr b="0" i="0" lang="en" sz="1400" u="none" cap="none" strike="noStrike">
                <a:solidFill>
                  <a:srgbClr val="304852"/>
                </a:solidFill>
                <a:latin typeface="Open Sans"/>
                <a:ea typeface="Open Sans"/>
                <a:cs typeface="Open Sans"/>
                <a:sym typeface="Open Sans"/>
              </a:rPr>
              <a:t> </a:t>
            </a:r>
            <a:r>
              <a:rPr b="0" i="0" lang="en" sz="2600" u="none" cap="none" strike="noStrike">
                <a:solidFill>
                  <a:srgbClr val="304852"/>
                </a:solidFill>
                <a:latin typeface="Cabin"/>
                <a:ea typeface="Cabin"/>
                <a:cs typeface="Cabin"/>
                <a:sym typeface="Cabin"/>
              </a:rPr>
              <a:t>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52" name="Google Shape;152;p29"/>
          <p:cNvPicPr preferRelativeResize="0"/>
          <p:nvPr/>
        </p:nvPicPr>
        <p:blipFill rotWithShape="1">
          <a:blip r:embed="rId3">
            <a:alphaModFix/>
          </a:blip>
          <a:srcRect b="0" l="0" r="0" t="0"/>
          <a:stretch/>
        </p:blipFill>
        <p:spPr>
          <a:xfrm>
            <a:off x="701950" y="1915425"/>
            <a:ext cx="1457325" cy="1485900"/>
          </a:xfrm>
          <a:prstGeom prst="rect">
            <a:avLst/>
          </a:prstGeom>
          <a:noFill/>
          <a:ln>
            <a:noFill/>
          </a:ln>
        </p:spPr>
      </p:pic>
      <p:sp>
        <p:nvSpPr>
          <p:cNvPr id="153" name="Google Shape;153;p29"/>
          <p:cNvSpPr txBox="1"/>
          <p:nvPr/>
        </p:nvSpPr>
        <p:spPr>
          <a:xfrm rot="-126566">
            <a:off x="4712469" y="3708288"/>
            <a:ext cx="4148511" cy="1192427"/>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Let’s keep track of our ideas about possible engineering design solutions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7" name="Shape 157"/>
        <p:cNvGrpSpPr/>
        <p:nvPr/>
      </p:nvGrpSpPr>
      <p:grpSpPr>
        <a:xfrm>
          <a:off x="0" y="0"/>
          <a:ext cx="0" cy="0"/>
          <a:chOff x="0" y="0"/>
          <a:chExt cx="0" cy="0"/>
        </a:xfrm>
      </p:grpSpPr>
      <p:sp>
        <p:nvSpPr>
          <p:cNvPr id="158" name="Google Shape;158;p30"/>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Home Learning</a:t>
            </a:r>
            <a:endParaRPr b="1" i="0" sz="2800" u="none" cap="none" strike="noStrike">
              <a:solidFill>
                <a:srgbClr val="FFFFFF"/>
              </a:solidFill>
              <a:latin typeface="Open Sans"/>
              <a:ea typeface="Open Sans"/>
              <a:cs typeface="Open Sans"/>
              <a:sym typeface="Open Sans"/>
            </a:endParaRPr>
          </a:p>
        </p:txBody>
      </p:sp>
      <p:sp>
        <p:nvSpPr>
          <p:cNvPr id="159" name="Google Shape;159;p3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G</a:t>
            </a:r>
            <a:endParaRPr b="0" i="0" sz="1800" u="none" cap="none" strike="noStrike">
              <a:solidFill>
                <a:srgbClr val="256C8D"/>
              </a:solidFill>
              <a:latin typeface="Boogaloo"/>
              <a:ea typeface="Boogaloo"/>
              <a:cs typeface="Boogaloo"/>
              <a:sym typeface="Boogaloo"/>
            </a:endParaRPr>
          </a:p>
        </p:txBody>
      </p:sp>
      <p:sp>
        <p:nvSpPr>
          <p:cNvPr id="160" name="Google Shape;160;p30"/>
          <p:cNvSpPr/>
          <p:nvPr/>
        </p:nvSpPr>
        <p:spPr>
          <a:xfrm>
            <a:off x="457200" y="1600200"/>
            <a:ext cx="8229600" cy="4726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0"/>
          <p:cNvSpPr txBox="1"/>
          <p:nvPr/>
        </p:nvSpPr>
        <p:spPr>
          <a:xfrm>
            <a:off x="2330100" y="1813500"/>
            <a:ext cx="6277800" cy="23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On your own</a:t>
            </a:r>
            <a:endParaRPr b="1"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Read the Home Learning handout: </a:t>
            </a:r>
            <a:r>
              <a:rPr b="0" i="1" lang="en" sz="2600" u="none" cap="none" strike="noStrike">
                <a:solidFill>
                  <a:srgbClr val="304852"/>
                </a:solidFill>
                <a:latin typeface="Cabin"/>
                <a:ea typeface="Cabin"/>
                <a:cs typeface="Cabin"/>
                <a:sym typeface="Cabin"/>
              </a:rPr>
              <a:t>Engineering Faster Reaction Times</a:t>
            </a:r>
            <a:r>
              <a:rPr b="0" i="0" lang="en" sz="2600" u="none" cap="none" strike="noStrike">
                <a:solidFill>
                  <a:srgbClr val="304852"/>
                </a:solidFill>
                <a:latin typeface="Cabin"/>
                <a:ea typeface="Cabin"/>
                <a:cs typeface="Cabin"/>
                <a:sym typeface="Cabin"/>
              </a:rPr>
              <a:t>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1700"/>
              <a:buFont typeface="Arial"/>
              <a:buNone/>
            </a:pPr>
            <a:r>
              <a:t/>
            </a:r>
            <a:endParaRPr b="0" i="0" sz="17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rPr b="1" i="0" lang="en" sz="2600" u="none" cap="none" strike="noStrike">
                <a:solidFill>
                  <a:srgbClr val="304852"/>
                </a:solidFill>
                <a:latin typeface="Cabin"/>
                <a:ea typeface="Cabin"/>
                <a:cs typeface="Cabin"/>
                <a:sym typeface="Cabin"/>
              </a:rPr>
              <a:t>Ask a family, friend or community member: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 What are the speed limits in different parts of our community?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 Have they changed? How?</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 Should they be changed? How, and why?</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62" name="Google Shape;162;p30"/>
          <p:cNvPicPr preferRelativeResize="0"/>
          <p:nvPr/>
        </p:nvPicPr>
        <p:blipFill rotWithShape="1">
          <a:blip r:embed="rId3">
            <a:alphaModFix/>
          </a:blip>
          <a:srcRect b="0" l="0" r="0" t="0"/>
          <a:stretch/>
        </p:blipFill>
        <p:spPr>
          <a:xfrm>
            <a:off x="584650" y="1886450"/>
            <a:ext cx="1660100" cy="1364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p:nvPr/>
        </p:nvSpPr>
        <p:spPr>
          <a:xfrm>
            <a:off x="457200" y="2679625"/>
            <a:ext cx="8229600" cy="3661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68" name="Google Shape;168;p31"/>
          <p:cNvSpPr txBox="1"/>
          <p:nvPr>
            <p:ph idx="1" type="body"/>
          </p:nvPr>
        </p:nvSpPr>
        <p:spPr>
          <a:xfrm>
            <a:off x="587250" y="2679625"/>
            <a:ext cx="8099700" cy="34719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3600"/>
              <a:buNone/>
            </a:pPr>
            <a:r>
              <a:t/>
            </a:r>
            <a:endParaRPr b="0" sz="2400">
              <a:latin typeface="Cabin"/>
              <a:ea typeface="Cabin"/>
              <a:cs typeface="Cabin"/>
              <a:sym typeface="Cabin"/>
            </a:endParaRPr>
          </a:p>
          <a:p>
            <a:pPr indent="0" lvl="0" marL="0" rtl="0" algn="l">
              <a:lnSpc>
                <a:spcPct val="115000"/>
              </a:lnSpc>
              <a:spcBef>
                <a:spcPts val="0"/>
              </a:spcBef>
              <a:spcAft>
                <a:spcPts val="0"/>
              </a:spcAft>
              <a:buSzPts val="3600"/>
              <a:buNone/>
            </a:pPr>
            <a:r>
              <a:t/>
            </a:r>
            <a:endParaRPr b="0" sz="2400">
              <a:latin typeface="Cabin"/>
              <a:ea typeface="Cabin"/>
              <a:cs typeface="Cabin"/>
              <a:sym typeface="Cabin"/>
            </a:endParaRPr>
          </a:p>
          <a:p>
            <a:pPr indent="0" lvl="0" marL="0" rtl="0" algn="l">
              <a:lnSpc>
                <a:spcPct val="115000"/>
              </a:lnSpc>
              <a:spcBef>
                <a:spcPts val="0"/>
              </a:spcBef>
              <a:spcAft>
                <a:spcPts val="0"/>
              </a:spcAft>
              <a:buSzPts val="3600"/>
              <a:buNone/>
            </a:pPr>
            <a:r>
              <a:t/>
            </a:r>
            <a:endParaRPr b="0" sz="2400">
              <a:latin typeface="Cabin"/>
              <a:ea typeface="Cabin"/>
              <a:cs typeface="Cabin"/>
              <a:sym typeface="Cabin"/>
            </a:endParaRPr>
          </a:p>
        </p:txBody>
      </p:sp>
      <p:sp>
        <p:nvSpPr>
          <p:cNvPr id="169" name="Google Shape;169;p3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Navigate</a:t>
            </a:r>
            <a:endParaRPr/>
          </a:p>
        </p:txBody>
      </p:sp>
      <p:sp>
        <p:nvSpPr>
          <p:cNvPr id="170" name="Google Shape;170;p3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a:t>Slide H</a:t>
            </a:r>
            <a:endParaRPr b="0"/>
          </a:p>
        </p:txBody>
      </p:sp>
      <p:sp>
        <p:nvSpPr>
          <p:cNvPr id="171" name="Google Shape;171;p31"/>
          <p:cNvSpPr txBox="1"/>
          <p:nvPr/>
        </p:nvSpPr>
        <p:spPr>
          <a:xfrm>
            <a:off x="2769900" y="2886725"/>
            <a:ext cx="5700300" cy="322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100"/>
              <a:buFont typeface="Arial"/>
              <a:buNone/>
            </a:pPr>
            <a:r>
              <a:rPr b="1" i="0" lang="en" sz="3100" u="none" cap="none" strike="noStrike">
                <a:solidFill>
                  <a:srgbClr val="304852"/>
                </a:solidFill>
                <a:latin typeface="Cabin"/>
                <a:ea typeface="Cabin"/>
                <a:cs typeface="Cabin"/>
                <a:sym typeface="Cabin"/>
              </a:rPr>
              <a:t>Exit Ticket</a:t>
            </a:r>
            <a:endParaRPr b="1" i="0" sz="31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Imagine that you are unable to stop in time before colliding with the obstacle.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How do you think the speed of your vehicle </a:t>
            </a:r>
            <a:r>
              <a:rPr b="1" i="0" lang="en" sz="2400" u="none" cap="none" strike="noStrike">
                <a:solidFill>
                  <a:srgbClr val="304852"/>
                </a:solidFill>
                <a:latin typeface="Cabin"/>
                <a:ea typeface="Cabin"/>
                <a:cs typeface="Cabin"/>
                <a:sym typeface="Cabin"/>
              </a:rPr>
              <a:t>at the moment of a collision</a:t>
            </a:r>
            <a:r>
              <a:rPr b="0" i="0" lang="en" sz="2400" u="none" cap="none" strike="noStrike">
                <a:solidFill>
                  <a:srgbClr val="304852"/>
                </a:solidFill>
                <a:latin typeface="Cabin"/>
                <a:ea typeface="Cabin"/>
                <a:cs typeface="Cabin"/>
                <a:sym typeface="Cabin"/>
              </a:rPr>
              <a:t> might affect the outcome of the collision?</a:t>
            </a:r>
            <a:endParaRPr b="0" i="0" sz="2400" u="none" cap="none" strike="noStrike">
              <a:solidFill>
                <a:srgbClr val="304852"/>
              </a:solidFill>
              <a:latin typeface="Cabin"/>
              <a:ea typeface="Cabin"/>
              <a:cs typeface="Cabin"/>
              <a:sym typeface="Cabin"/>
            </a:endParaRPr>
          </a:p>
        </p:txBody>
      </p:sp>
      <p:sp>
        <p:nvSpPr>
          <p:cNvPr id="172" name="Google Shape;172;p31"/>
          <p:cNvSpPr txBox="1"/>
          <p:nvPr/>
        </p:nvSpPr>
        <p:spPr>
          <a:xfrm>
            <a:off x="457200" y="1439225"/>
            <a:ext cx="8229600" cy="978900"/>
          </a:xfrm>
          <a:prstGeom prst="rect">
            <a:avLst/>
          </a:prstGeom>
          <a:noFill/>
          <a:ln>
            <a:noFill/>
          </a:ln>
        </p:spPr>
        <p:txBody>
          <a:bodyPr anchorCtr="0" anchor="t" bIns="91425" lIns="91425" spcFirstLastPara="1" rIns="91425" wrap="square" tIns="91425">
            <a:spAutoFit/>
          </a:bodyPr>
          <a:lstStyle/>
          <a:p>
            <a:pPr indent="0" lvl="0" marL="17145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Even when you can’t prevent a collision, braking early can slow your car down before it collides with another car.  </a:t>
            </a:r>
            <a:endParaRPr b="0" i="0" sz="1400" u="none" cap="none" strike="noStrike">
              <a:solidFill>
                <a:srgbClr val="000000"/>
              </a:solidFill>
              <a:latin typeface="Arial"/>
              <a:ea typeface="Arial"/>
              <a:cs typeface="Arial"/>
              <a:sym typeface="Arial"/>
            </a:endParaRPr>
          </a:p>
        </p:txBody>
      </p:sp>
      <p:pic>
        <p:nvPicPr>
          <p:cNvPr id="173" name="Google Shape;173;p31"/>
          <p:cNvPicPr preferRelativeResize="0"/>
          <p:nvPr/>
        </p:nvPicPr>
        <p:blipFill rotWithShape="1">
          <a:blip r:embed="rId3">
            <a:alphaModFix/>
          </a:blip>
          <a:srcRect b="0" l="0" r="0" t="0"/>
          <a:stretch/>
        </p:blipFill>
        <p:spPr>
          <a:xfrm>
            <a:off x="919475" y="3141750"/>
            <a:ext cx="1600200" cy="1190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High_School_Chemistry_OpenSciEd_Slide_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igh_School_Physics_OpenSciEd_Slide_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